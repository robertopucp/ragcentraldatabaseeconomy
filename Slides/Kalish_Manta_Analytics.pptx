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9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87" r:id="rId12"/>
    <p:sldId id="288" r:id="rId13"/>
    <p:sldId id="265" r:id="rId14"/>
    <p:sldId id="266" r:id="rId15"/>
    <p:sldId id="267" r:id="rId16"/>
    <p:sldId id="269" r:id="rId17"/>
    <p:sldId id="270" r:id="rId18"/>
    <p:sldId id="271" r:id="rId19"/>
    <p:sldId id="272" r:id="rId20"/>
    <p:sldId id="274" r:id="rId21"/>
    <p:sldId id="289" r:id="rId22"/>
    <p:sldId id="282" r:id="rId23"/>
    <p:sldId id="28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2" y="3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16052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Apertura. Presentarse como Roberto, creador del proyecto.</a:t>
            </a:r>
          </a:p>
          <a:p>
            <a:r>
              <a:t>Mensaje central: Kalish Manta Analytics es un chatbot con IA generativa que ayuda a investigadores, sobre todo estudiantes, a encontrar y usar bases de datos de economía y ciencias sociales del Perú.</a:t>
            </a:r>
          </a:p>
          <a:p>
            <a:r>
              <a:t>Todo el sistema corre en una laptop, con modelos abiertos y sin pagar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18292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Recorrido de la presentación: primero el porqué (propósito y problema), luego el qué (los datos), después el cómo (tecnología y arquitectura), cómo aseguramos la calidad de las respuestas y, al final, la demo, el repositorio y los próximos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chatbot está entrenado con información detallada de bases de datos económicas y de ciencias sociales. Su objetivo es entregar esa información de forma efectiva a investigadores de cualquier nivel de seniority, con foco principal en estudiantes, que son quienes más dificultades tienen para encontrar datos.</a:t>
            </a:r>
          </a:p>
          <a:p>
            <a:r>
              <a:t>Puntos a resaltar: no reemplaza al investigador; lo orienta (qué base usar, qué variables trae, periodo, limitaciones) y le entrega el acceso directo a los archivos.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 problema central de la investigación en ciencias sociales en el Perú es la limitada fuente de datos: existen datos públicos, pero están dispersos en distintas instituciones, en formatos heterogéneos, sin documentación clara y requieren mucho tiempo de limpieza antes de poder usarse.</a:t>
            </a:r>
          </a:p>
          <a:p>
            <a:r>
              <a:t>La solución: un chat que entiende la pregunta de investigación y entrega acceso a bases ya procesadas y documentadas.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Flujo desde el punto de vista del usuario.</a:t>
            </a:r>
          </a:p>
          <a:p>
            <a:r>
              <a:t>1) Escribe el abstract, la hipótesis o el objetivo de su trabajo.</a:t>
            </a:r>
          </a:p>
          <a:p>
            <a:r>
              <a:t>2) El asistente responde con la base o bases relevantes: qué contienen, periodo, nivel geográfico, variables y advertencias.</a:t>
            </a:r>
          </a:p>
          <a:p>
            <a:r>
              <a:t>3) Debajo de la respuesta aparece el link de acceso a la carpeta de Dropbox con los datos y la ficha en PDF.</a:t>
            </a:r>
          </a:p>
          <a:p>
            <a:r>
              <a:t>Si el mensaje es un saludo o una pregunta fuera de alcance, el asistente responde sin links y pide el contexto de la investigación.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Transición a los datos: qué bases tiene el catálogo y por qué la ficha en PDF es la pieza clave del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mayoría de bases provienen de fuentes públicas oficiales: INEI, MINEDU (Censo Escolar, SíseVe), MININTER (SIDPOL), Ministerio Público (RENADESPLE), SENAMHI, MTC, RAISG, Proética/Ipsos y Google Earth Engine.</a:t>
            </a:r>
          </a:p>
          <a:p>
            <a:r>
              <a:t>El valor agregado es el procesamiento: paneles construidos, variables renombradas, archivos en Stata, SPSS, Excel, CSV o shapefile, listos para análisis.</a:t>
            </a:r>
          </a:p>
          <a:p>
            <a:r>
              <a:t>Punto clave para el RAG: cada base tiene un PDF que la describe con todo detalle.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Recorrer el catálogo por tema. Ejemplos de preguntas que habilita: deserción escolar y pobreza distrital, productividad de empresas ante El Niño, criminalidad y georreferenciación, actividad económica con luces nocturnas, corrupción y economías ilícitas.</a:t>
            </a:r>
          </a:p>
          <a:p>
            <a:r>
              <a:t>El catálogo completo está en la pestaña Catálogo de la web y también va dentro del system prompt, para que el modelo nunca invente nombres de 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base de datos tiene un PDF de descripción con estructura uniforme: nombre, resumen, ficha rápida (tema, unidad, cobertura, periodo, formato, tamaño, llave para unir), palabras clave, preguntas que responde, archivos, variables, notas de uso y, al final, fuente y link de Dropbox.</a:t>
            </a:r>
          </a:p>
          <a:p>
            <a:r>
              <a:t>En el RAG: el texto se indexa en FAISS; la línea Nombre de base de datos se usa como título en el catálogo y en los links; el link de Dropbox se extrae de los hipervínculos del PDF y va a la metadata, nunca lo escribe el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Transición al cómo: las piezas tecnológicas y por qué se eligió cada 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Vista general por capas.</a:t>
            </a:r>
          </a:p>
          <a:p>
            <a:r>
              <a:t>Interfaz: Streamlit (app.py) y FastAPI opcional (src/main.py); acceso público con Tailscale Funnel.</a:t>
            </a:r>
          </a:p>
          <a:p>
            <a:r>
              <a:t>Orquestación: LangChain (Document, RecursiveCharacterTextSplitter, FAISS, interfaz Embeddings).</a:t>
            </a:r>
          </a:p>
          <a:p>
            <a:r>
              <a:t>Vector database: FAISS en disco (data/vectorstore/faiss_index).</a:t>
            </a:r>
          </a:p>
          <a:p>
            <a:r>
              <a:t>Embeddings: qwen3-embedding:4b descargado con Ollama.</a:t>
            </a:r>
          </a:p>
          <a:p>
            <a:r>
              <a:t>LLM: Qwen3.5-4B ajustado con QLoRA usando Unsloth, cargado en 4 bits con transformers y bitsandbytes.</a:t>
            </a:r>
          </a:p>
          <a:p>
            <a:r>
              <a:t>Infraestructura: laptop con GPU NVIDIA RTX 5050 de 8 GB, CUDA 13 y PyTorch 2.14.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Qué hace LangChain en los scripts (src/rag_service.py y src/pdf_reader.py):</a:t>
            </a:r>
          </a:p>
          <a:p>
            <a:r>
              <a:t>1) PDFReader (pypdf) extrae el texto de cada ficha conservando tildes, mayúsculas y puntuación; quita la sección de fuente y URLs; extrae el título y el link de Dropbox.</a:t>
            </a:r>
          </a:p>
          <a:p>
            <a:r>
              <a:t>2) Cada ficha se convierte en un Document de LangChain con metadata.</a:t>
            </a:r>
          </a:p>
          <a:p>
            <a:r>
              <a:t>3) RecursiveCharacterTextSplitter divide en chunks de 900 caracteres con 100 de solape, cortando primero por párrafo, luego línea, oración y palabra. Resultado: 75 chunks.</a:t>
            </a:r>
          </a:p>
          <a:p>
            <a:r>
              <a:t>4) A cada chunk se le asigna chunk_id (posición en su PDF).</a:t>
            </a:r>
          </a:p>
          <a:p>
            <a:r>
              <a:t>5) FAISS.from_documents calcula los embeddings con la clase QWEN3Embeddings (implementa la interfaz Embeddings de LangChain) y guarda el índice con save_local.</a:t>
            </a:r>
          </a:p>
          <a:p>
            <a:r>
              <a:t>6) En cada consulta: load_local, similarity_search_with_score y armado del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FAISS (IndexFlatL2) devuelve la distancia euclidiana al cuadrado entre el vector de la consulta y cada chunk. Con vectores de norma 1, d² = 2 − 2·cos, por eso la similitud coseno es 1 − d²/2 (rag_service.search).</a:t>
            </a:r>
          </a:p>
          <a:p>
            <a:r>
              <a:t>Reglas de selección:</a:t>
            </a:r>
          </a:p>
          <a:p>
            <a:r>
              <a:t>1) Se ordenan todos los chunks del índice.</a:t>
            </a:r>
          </a:p>
          <a:p>
            <a:r>
              <a:t>2) Umbral mínimo 0.53: medido con el índice actual, las consultas válidas dan 0.60 o más y los saludos o temas ajenos 0.47 o menos.</a:t>
            </a:r>
          </a:p>
          <a:p>
            <a:r>
              <a:t>3) Margen 0.10: solo entran chunks a menos de 0.10 del mejor, para no traer bases poco relacionadas.</a:t>
            </a:r>
          </a:p>
          <a:p>
            <a:r>
              <a:t>4) Máximo 3 bases distintas; de cada una, su ficha rápida (chunk 0) más su chunk más parecido, sin repetir texto.</a:t>
            </a:r>
          </a:p>
          <a:p>
            <a:r>
              <a:t>Si nada supera el umbral, no hay contexto ni links: el asistente pide más detalle o declina.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Qwen3.5-4B (versión de Unsloth en Hugging Face) tiene 4.54 mil millones de parámetros y una arquitectura híbrida: de sus 32 capas, 8 usan atención completa (proyecciones q, k, v, o) y 24 usan atención lineal (in_proj_qkv, in_proj_z, out_proj); todas tienen MLP (gate, up, down).</a:t>
            </a:r>
          </a:p>
          <a:p>
            <a:r>
              <a:t>En producción se carga con transformers en 4 bits NF4 (bitsandbytes), unos 3.5 GB de VRAM.</a:t>
            </a:r>
          </a:p>
          <a:p>
            <a:r>
              <a:t>Modo no thinking: la plantilla de chat guardada se modificó para que nunca genere bloques &lt;think&gt;.</a:t>
            </a:r>
          </a:p>
          <a:p>
            <a:r>
              <a:t>Generación: temperatura 0.2, top-p 0.9, hasta 1024 tokens nuevos; una sola generación a la vez en la GPU (lock) para atender a varios usuarios.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QLoRA: el modelo base queda congelado y cuantizado a 4 bits; solo se entrenan adaptadores LoRA, dos matrices pequeñas A y B por capa adaptada. La salida de cada capa es W·x + (alpha/r)·B·A·x.</a:t>
            </a:r>
          </a:p>
          <a:p>
            <a:r>
              <a:t>Unsloth acelera el entrenamiento y reduce memoria: kernels optimizados, gradient checkpointing propio (recalcula activaciones en el backward), cross-entropy por partes (UNSLOTH_CE_LOSS_TARGET_GB=0.2) y descarga inteligente de gradientes.</a:t>
            </a:r>
          </a:p>
          <a:p>
            <a:r>
              <a:t>Detalles del notebook 2: SFTTrainer de TRL, train_on_responses_only (el loss solo cuenta las respuestas del asistente), AdamW de 8 bits, scheduler lineal, batch 1 con acumulación de gradientes, bf16, semilla 3407, split 80/10/10 y largo máximo 2560 tokens.</a:t>
            </a:r>
          </a:p>
          <a:p>
            <a:r>
              <a:t>Al final se fusionan los adaptadores con el modelo en 16 bits (save_pretrained_merged) y se fija la plantilla sin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Ronda A (hiperparámetros, LoRA solo en atención): 3 épocas con batch efectivo 8, alpha 16, warmup 10, weight decay 0.01, frente a 6 épocas con batch efectivo 16, alpha 32, warmup 20 y weight decay 0.1. Con batch 16, las 6 épocas dan el mismo número de pasos de optimización que las 3 épocas con batch 8.</a:t>
            </a:r>
          </a:p>
          <a:p>
            <a:r>
              <a:t>Ronda B (capas): con los hiperparámetros ganadores, LoRA solo en atención (3.1 millones de parámetros) frente a todas las capas lineales (30.5 millones), como recomienda el paper de QLoRA.</a:t>
            </a:r>
          </a:p>
          <a:p>
            <a:r>
              <a:t>Una sola carga: en 8 GB no cabe una copia nueva por experimento. Los adaptadores se insertan una vez en todas las capas; antes de cada experimento se restauran los pesos iniciales, se activan solo las capas de esa configuración y se fija alpha/r. Verificado en la GPU: los adaptadores congelados no cambian.</a:t>
            </a:r>
          </a:p>
          <a:p>
            <a:r>
              <a:t>Se elige por menor validation loss y el ganador se evalúa en test. Completar aquí los resultados de la corrida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Recorrido de una consulta (franja superior, pasos 1 a 9):</a:t>
            </a:r>
          </a:p>
          <a:p>
            <a:r>
              <a:t>1) El usuario escribe su abstract, hipótesis u objetivo en la web.</a:t>
            </a:r>
          </a:p>
          <a:p>
            <a:r>
              <a:t>2) La web en Streamlit (app.py) recibe el mensaje; el link público lo da Tailscale Funnel.</a:t>
            </a:r>
          </a:p>
          <a:p>
            <a:r>
              <a:t>3) ChatbotService (llm_service.py) recupera la memoria de la sesión y registrará la interacción en JSONL.</a:t>
            </a:r>
          </a:p>
          <a:p>
            <a:r>
              <a:t>4) El mensaje se convierte en un vector con qwen3-embedding:4b en Ollama (CPU), con instrucción de búsqueda.</a:t>
            </a:r>
          </a:p>
          <a:p>
            <a:r>
              <a:t>5) FAISS compara ese vector con los 75 chunks: similitud coseno, umbral 0.53 y margen 0.10.</a:t>
            </a:r>
          </a:p>
          <a:p>
            <a:r>
              <a:t>6) Augmentation: por cada base (máx. 3) se toma su ficha rápida y su chunk más parecido, sin repetir texto.</a:t>
            </a:r>
          </a:p>
          <a:p>
            <a:r>
              <a:t>7) Se arma el system prompt: rol, catálogo completo, reglas y fichas, más el historial.</a:t>
            </a:r>
          </a:p>
          <a:p>
            <a:r>
              <a:t>8) Qwen3.5-4B fine-tuned genera la respuesta en modo no thinking.</a:t>
            </a:r>
          </a:p>
          <a:p>
            <a:r>
              <a:t>9) Debajo de la respuesta se agregan los links de Dropbox desde la metadata.</a:t>
            </a:r>
          </a:p>
          <a:p>
            <a:r>
              <a:t>Franjas inferiores: indexación offline (notebook 1) y fine-tuning offline (notebook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Transición a la demostración en vivo o con capturas de la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y preguntas. Invitar a probar la web y a revisar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9.png"/><Relationship Id="rId4" Type="http://schemas.openxmlformats.org/officeDocument/2006/relationships/image" Target="../media/image11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4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laptop-bb3a7uht.tail80d628.ts.net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o_port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5EEAD4"/>
                </a:solidFill>
                <a:latin typeface="Segoe UI Semibold"/>
              </a:rPr>
              <a:t>IA GENERATIVA AL SERVICIO DE LA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0" i="0">
                <a:solidFill>
                  <a:srgbClr val="FFFFFF"/>
                </a:solidFill>
                <a:latin typeface="Segoe UI Semibold"/>
              </a:rPr>
              <a:t>Kalish Manta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60350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CBD5E1"/>
                </a:solidFill>
                <a:latin typeface="Segoe UI"/>
              </a:rPr>
              <a:t>Un </a:t>
            </a:r>
            <a:r>
              <a:rPr lang="es-ES" sz="2000" b="0" i="0" dirty="0" err="1">
                <a:solidFill>
                  <a:srgbClr val="CBD5E1"/>
                </a:solidFill>
                <a:latin typeface="Segoe UI"/>
              </a:rPr>
              <a:t>Chatbot</a:t>
            </a:r>
            <a:r>
              <a:rPr lang="es-ES" sz="20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asistente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que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conecta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a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cada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investigador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con la base de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datos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lang="es-ES" sz="2000" b="0" i="0" dirty="0">
                <a:solidFill>
                  <a:srgbClr val="CBD5E1"/>
                </a:solidFill>
                <a:latin typeface="Segoe UI"/>
              </a:rPr>
              <a:t>económicos del Perú</a:t>
            </a:r>
            <a:endParaRPr sz="2000" b="0" i="0" dirty="0">
              <a:solidFill>
                <a:srgbClr val="CBD5E1"/>
              </a:solidFill>
              <a:latin typeface="Segoe U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3017520" cy="777240"/>
          </a:xfrm>
          <a:prstGeom prst="roundRect">
            <a:avLst>
              <a:gd name="adj" fmla="val 18000"/>
            </a:avLst>
          </a:prstGeom>
          <a:solidFill>
            <a:srgbClr val="1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49834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Presentado por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230368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Semibold"/>
              </a:rPr>
              <a:t>Roberto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itulo">
            <a:extLst>
              <a:ext uri="{FF2B5EF4-FFF2-40B4-BE49-F238E27FC236}">
                <a16:creationId xmlns:a16="http://schemas.microsoft.com/office/drawing/2014/main" id="{6C322FED-92D4-5C05-5F20-AAB81471CD73}"/>
              </a:ext>
            </a:extLst>
          </p:cNvPr>
          <p:cNvSpPr txBox="1"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Motivación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91C294-2CC2-DB80-A032-4ACC680B8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965" y="1414822"/>
            <a:ext cx="7704211" cy="429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412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59" y="205740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5" y="2170785"/>
            <a:ext cx="340156" cy="340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91840" y="2057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0" i="0">
                <a:solidFill>
                  <a:srgbClr val="F59E0B"/>
                </a:solidFill>
                <a:latin typeface="Segoe UI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432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B1F3A"/>
                </a:solidFill>
                <a:latin typeface="Segoe UI Semibold"/>
              </a:rPr>
              <a:t>Propósito y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089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Por qué existe el asistente y a quién ayuda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7830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1999" y="205740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lib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385" y="2170785"/>
            <a:ext cx="340156" cy="3401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79" y="2057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0" i="0">
                <a:solidFill>
                  <a:srgbClr val="F59E0B"/>
                </a:solidFill>
                <a:latin typeface="Segoe UI Semi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27432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B1F3A"/>
                </a:solidFill>
                <a:latin typeface="Segoe UI Semibold"/>
              </a:rPr>
              <a:t>Fuente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31089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Bases públicas procesadas y su ficha en PDF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7830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21040" y="205740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ch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4425" y="2170785"/>
            <a:ext cx="340156" cy="3401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789919" y="2057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0" i="0">
                <a:solidFill>
                  <a:srgbClr val="F59E0B"/>
                </a:solidFill>
                <a:latin typeface="Segoe UI Semi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7432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B1F3A"/>
                </a:solidFill>
                <a:latin typeface="Segoe UI Semibold"/>
              </a:rPr>
              <a:t>Stack tecnológico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1089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LangChain, FAISS, Qwen3 Embedding y Qwen3.5 con QLoRA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7763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2959" y="4251959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proces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" y="4365345"/>
            <a:ext cx="340156" cy="3401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91840" y="4251959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0" i="0">
                <a:solidFill>
                  <a:srgbClr val="F59E0B"/>
                </a:solidFill>
                <a:latin typeface="Segoe UI Semibol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937759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B1F3A"/>
                </a:solidFill>
                <a:latin typeface="Segoe UI Semibold"/>
              </a:rPr>
              <a:t>Arquitectura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30352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Del mensaje del usuario a la respuesta con acceso a los datos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79" y="397763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571999" y="4251959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escud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5385" y="4365345"/>
            <a:ext cx="340156" cy="3401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040879" y="4251959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0" i="0">
                <a:solidFill>
                  <a:srgbClr val="F59E0B"/>
                </a:solidFill>
                <a:latin typeface="Segoe UI Semibold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1999" y="4937759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B1F3A"/>
                </a:solidFill>
                <a:latin typeface="Segoe UI Semibold"/>
              </a:rPr>
              <a:t>Calidad del modelo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1999" y="530352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Cómo evitamos que memorice y que invente datos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397763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321040" y="4251959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monit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4425" y="4365345"/>
            <a:ext cx="340156" cy="34015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789919" y="4251959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000" b="0" i="0">
                <a:solidFill>
                  <a:srgbClr val="F59E0B"/>
                </a:solidFill>
                <a:latin typeface="Segoe UI Semibold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937759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0B1F3A"/>
                </a:solidFill>
                <a:latin typeface="Segoe UI Semibold"/>
              </a:rPr>
              <a:t>Demo y </a:t>
            </a:r>
            <a:r>
              <a:rPr sz="1800" b="0" i="0" dirty="0" err="1">
                <a:solidFill>
                  <a:srgbClr val="0B1F3A"/>
                </a:solidFill>
                <a:latin typeface="Segoe UI Semibold"/>
              </a:rPr>
              <a:t>próximos</a:t>
            </a:r>
            <a:r>
              <a:rPr sz="1800" b="0" i="0" dirty="0">
                <a:solidFill>
                  <a:srgbClr val="0B1F3A"/>
                </a:solidFill>
                <a:latin typeface="Segoe UI Semibold"/>
              </a:rPr>
              <a:t> pasos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30352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La web, el repositorio y la hoja de ruta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01 · PROPÓSITO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 dirty="0">
                <a:solidFill>
                  <a:srgbClr val="0B1F3A"/>
                </a:solidFill>
                <a:latin typeface="Segoe UI Semibold"/>
              </a:rPr>
              <a:t>Un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asistente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entrenado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para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guiar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la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búsqueda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de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datos</a:t>
            </a:r>
            <a:endParaRPr sz="3000" b="0" i="0" dirty="0">
              <a:solidFill>
                <a:srgbClr val="0B1F3A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49377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dirty="0">
                <a:solidFill>
                  <a:srgbClr val="1E293B"/>
                </a:solidFill>
                <a:latin typeface="Segoe UI"/>
              </a:rPr>
              <a:t>El chatbot </a:t>
            </a:r>
            <a:r>
              <a:rPr sz="1800" b="0" i="0" dirty="0" err="1">
                <a:solidFill>
                  <a:srgbClr val="1E293B"/>
                </a:solidFill>
                <a:latin typeface="Segoe UI"/>
              </a:rPr>
              <a:t>conoce</a:t>
            </a:r>
            <a:r>
              <a:rPr sz="18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1E293B"/>
                </a:solidFill>
                <a:latin typeface="Segoe UI"/>
              </a:rPr>
              <a:t>en</a:t>
            </a:r>
            <a:r>
              <a:rPr sz="18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1E293B"/>
                </a:solidFill>
                <a:latin typeface="Segoe UI"/>
              </a:rPr>
              <a:t>detalle</a:t>
            </a:r>
            <a:r>
              <a:rPr sz="18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1E293B"/>
                </a:solidFill>
                <a:latin typeface="Segoe UI"/>
              </a:rPr>
              <a:t>cada</a:t>
            </a:r>
            <a:r>
              <a:rPr sz="1800" b="0" i="0" dirty="0">
                <a:solidFill>
                  <a:srgbClr val="1E293B"/>
                </a:solidFill>
                <a:latin typeface="Segoe UI"/>
              </a:rPr>
              <a:t> base de </a:t>
            </a:r>
            <a:r>
              <a:rPr sz="1800" b="0" i="0" dirty="0" err="1">
                <a:solidFill>
                  <a:srgbClr val="1E293B"/>
                </a:solidFill>
                <a:latin typeface="Segoe UI"/>
              </a:rPr>
              <a:t>datos</a:t>
            </a:r>
            <a:r>
              <a:rPr sz="1800" b="0" i="0" dirty="0">
                <a:solidFill>
                  <a:srgbClr val="1E293B"/>
                </a:solidFill>
                <a:latin typeface="Segoe UI"/>
              </a:rPr>
              <a:t> del </a:t>
            </a:r>
            <a:r>
              <a:rPr sz="1800" b="0" i="0" dirty="0" err="1">
                <a:solidFill>
                  <a:srgbClr val="1E293B"/>
                </a:solidFill>
                <a:latin typeface="Segoe UI"/>
              </a:rPr>
              <a:t>catálogo</a:t>
            </a:r>
            <a:r>
              <a:rPr sz="18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800" b="1" i="0" dirty="0">
                <a:solidFill>
                  <a:srgbClr val="1E293B"/>
                </a:solidFill>
                <a:latin typeface="Segoe UI"/>
              </a:rPr>
              <a:t>y la </a:t>
            </a:r>
            <a:r>
              <a:rPr sz="1800" b="1" i="0" dirty="0" err="1">
                <a:solidFill>
                  <a:srgbClr val="1E293B"/>
                </a:solidFill>
                <a:latin typeface="Segoe UI"/>
              </a:rPr>
              <a:t>explica</a:t>
            </a:r>
            <a:r>
              <a:rPr sz="1800" b="1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800" b="1" i="0" dirty="0" err="1">
                <a:solidFill>
                  <a:srgbClr val="1E293B"/>
                </a:solidFill>
                <a:latin typeface="Segoe UI"/>
              </a:rPr>
              <a:t>en</a:t>
            </a:r>
            <a:r>
              <a:rPr sz="1800" b="1" i="0" dirty="0">
                <a:solidFill>
                  <a:srgbClr val="1E293B"/>
                </a:solidFill>
                <a:latin typeface="Segoe UI"/>
              </a:rPr>
              <a:t> el </a:t>
            </a:r>
            <a:r>
              <a:rPr sz="1800" b="1" i="0" dirty="0" err="1">
                <a:solidFill>
                  <a:srgbClr val="1E293B"/>
                </a:solidFill>
                <a:latin typeface="Segoe UI"/>
              </a:rPr>
              <a:t>lenguaje</a:t>
            </a:r>
            <a:r>
              <a:rPr sz="1800" b="1" i="0" dirty="0">
                <a:solidFill>
                  <a:srgbClr val="1E293B"/>
                </a:solidFill>
                <a:latin typeface="Segoe UI"/>
              </a:rPr>
              <a:t> del </a:t>
            </a:r>
            <a:r>
              <a:rPr sz="1800" b="1" i="0" dirty="0" err="1">
                <a:solidFill>
                  <a:srgbClr val="1E293B"/>
                </a:solidFill>
                <a:latin typeface="Segoe UI"/>
              </a:rPr>
              <a:t>investigador</a:t>
            </a:r>
            <a:r>
              <a:rPr sz="1800" b="1" i="0" dirty="0">
                <a:solidFill>
                  <a:srgbClr val="1E293B"/>
                </a:solidFill>
                <a:latin typeface="Segoe UI"/>
              </a:rPr>
              <a:t>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40479"/>
            <a:ext cx="4937760" cy="17830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EEAD4"/>
                </a:solidFill>
                <a:latin typeface="Segoe UI Semibold"/>
              </a:rPr>
              <a:t>FOCO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438912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 dirty="0" err="1">
                <a:solidFill>
                  <a:srgbClr val="FFFFFF"/>
                </a:solidFill>
                <a:latin typeface="Segoe UI"/>
              </a:rPr>
              <a:t>Estudiantes</a:t>
            </a:r>
            <a:r>
              <a:rPr sz="1700" b="0" i="0" dirty="0">
                <a:solidFill>
                  <a:srgbClr val="FFFFFF"/>
                </a:solidFill>
                <a:latin typeface="Segoe UI"/>
              </a:rPr>
              <a:t> de </a:t>
            </a:r>
            <a:r>
              <a:rPr sz="1700" b="0" i="0" dirty="0" err="1">
                <a:solidFill>
                  <a:srgbClr val="FFFFFF"/>
                </a:solidFill>
                <a:latin typeface="Segoe UI"/>
              </a:rPr>
              <a:t>pregrado</a:t>
            </a:r>
            <a:r>
              <a:rPr lang="es-ES" sz="170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700" b="0" i="0" dirty="0" err="1">
                <a:solidFill>
                  <a:srgbClr val="FFFFFF"/>
                </a:solidFill>
                <a:latin typeface="Segoe UI"/>
              </a:rPr>
              <a:t>posgrado</a:t>
            </a:r>
            <a:r>
              <a:rPr lang="es-ES" sz="1700" dirty="0">
                <a:solidFill>
                  <a:srgbClr val="FFFFFF"/>
                </a:solidFill>
                <a:latin typeface="Segoe UI"/>
              </a:rPr>
              <a:t>, y consultore.</a:t>
            </a:r>
            <a:endParaRPr sz="1700" b="0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0" y="1691640"/>
            <a:ext cx="566928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72200" y="199339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educ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585" y="2106777"/>
            <a:ext cx="340156" cy="3401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49440" y="18745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Estudiantes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24028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475569"/>
                </a:solidFill>
                <a:latin typeface="Segoe UI"/>
              </a:rPr>
              <a:t>Tesis,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trabajos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de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curso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y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primeras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investigaciones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.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Reciben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orientación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paso a paso y la base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adecuada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para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su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pregunta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063240"/>
            <a:ext cx="566928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72200" y="336499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person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585" y="3478377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49440" y="32461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Investigadores junior y senior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61188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475569"/>
                </a:solidFill>
                <a:latin typeface="Segoe UI"/>
              </a:rPr>
              <a:t>Respuestas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directas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con variables,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periodos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llaves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de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unión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y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advertencias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técnicas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de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cada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base.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4434840"/>
            <a:ext cx="566928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72200" y="473659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grafi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585" y="4849977"/>
            <a:ext cx="340156" cy="3401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49440" y="46177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Profesionales y consultores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983479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Informes, evaluaciones de políticas y análisis para el sector público y privado.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01 · PROBLEMA A RESOLVER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El problema: investigar empieza por encontrar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glo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" y="1843430"/>
            <a:ext cx="318211" cy="3182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6916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Fuentes dispersas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4754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475569"/>
                </a:solidFill>
                <a:latin typeface="Segoe UI"/>
              </a:rPr>
              <a:t>Cada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dato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vive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en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una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institución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distinta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: INEI,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ministerios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observatorios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catálogos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satelitales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8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aler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" y="2958998"/>
            <a:ext cx="318211" cy="3182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0160" y="280720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Poca documentación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72968"/>
            <a:ext cx="4754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475569"/>
                </a:solidFill>
                <a:latin typeface="Segoe UI"/>
              </a:rPr>
              <a:t>Variables sin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descripción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cambios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de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codificación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y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advertencias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que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solo se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descubren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 al </a:t>
            </a:r>
            <a:r>
              <a:rPr sz="1300" b="0" i="0" dirty="0" err="1">
                <a:solidFill>
                  <a:srgbClr val="475569"/>
                </a:solidFill>
                <a:latin typeface="Segoe UI"/>
              </a:rPr>
              <a:t>analizar</a:t>
            </a:r>
            <a:r>
              <a:rPr sz="1300" b="0" i="0" dirty="0">
                <a:solidFill>
                  <a:srgbClr val="475569"/>
                </a:solidFill>
                <a:latin typeface="Segoe U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6849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engranaj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" y="4074566"/>
            <a:ext cx="318211" cy="3182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0160" y="392277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Procesamiento costoso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88536"/>
            <a:ext cx="4754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Descargar, limpiar, unir y validar consume semanas antes de empezar a investigar.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840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person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" y="5190134"/>
            <a:ext cx="318211" cy="3182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5038344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Barrera para estudiantes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404104"/>
            <a:ext cx="4754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Sin experiencia previa, elegir la base correcta para una pregunta es el primer gran obstáculo.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1691640"/>
            <a:ext cx="5120640" cy="44348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12280" y="196596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cha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5665" y="2079345"/>
            <a:ext cx="340156" cy="3401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89520" y="20116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Semibold"/>
              </a:rPr>
              <a:t>La solución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743200"/>
            <a:ext cx="45720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 dirty="0">
                <a:solidFill>
                  <a:srgbClr val="FFFFFF"/>
                </a:solidFill>
                <a:latin typeface="Segoe UI"/>
              </a:rPr>
              <a:t>Un chat </a:t>
            </a:r>
            <a:r>
              <a:rPr sz="1700" b="0" i="0" dirty="0" err="1">
                <a:solidFill>
                  <a:srgbClr val="FFFFFF"/>
                </a:solidFill>
                <a:latin typeface="Segoe UI"/>
              </a:rPr>
              <a:t>que</a:t>
            </a:r>
            <a:r>
              <a:rPr sz="1700" b="0" i="0" dirty="0">
                <a:solidFill>
                  <a:srgbClr val="FFFFFF"/>
                </a:solidFill>
                <a:latin typeface="Segoe UI"/>
              </a:rPr>
              <a:t> da </a:t>
            </a:r>
            <a:r>
              <a:rPr sz="1700" b="0" i="0" dirty="0" err="1">
                <a:solidFill>
                  <a:srgbClr val="FFFFFF"/>
                </a:solidFill>
                <a:latin typeface="Segoe UI"/>
              </a:rPr>
              <a:t>acceso</a:t>
            </a:r>
            <a:r>
              <a:rPr sz="1700" b="0" i="0" dirty="0">
                <a:solidFill>
                  <a:srgbClr val="FFFFFF"/>
                </a:solidFill>
                <a:latin typeface="Segoe UI"/>
              </a:rPr>
              <a:t> a bases de </a:t>
            </a:r>
            <a:r>
              <a:rPr sz="1700" b="0" i="0" dirty="0" err="1">
                <a:solidFill>
                  <a:srgbClr val="FFFFFF"/>
                </a:solidFill>
                <a:latin typeface="Segoe UI"/>
              </a:rPr>
              <a:t>datos</a:t>
            </a:r>
            <a:r>
              <a:rPr sz="17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lang="es-ES" sz="1700" b="0" i="0" dirty="0">
                <a:solidFill>
                  <a:srgbClr val="FFFFFF"/>
                </a:solidFill>
                <a:latin typeface="Segoe UI"/>
              </a:rPr>
              <a:t>procesados</a:t>
            </a:r>
            <a:r>
              <a:rPr lang="es-ES" sz="1700" dirty="0">
                <a:solidFill>
                  <a:srgbClr val="FFFFFF"/>
                </a:solidFill>
                <a:latin typeface="Segoe UI"/>
              </a:rPr>
              <a:t> y</a:t>
            </a:r>
            <a:r>
              <a:rPr sz="17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Segoe UI"/>
              </a:rPr>
              <a:t>documentadas</a:t>
            </a:r>
            <a:r>
              <a:rPr sz="1700" b="0" i="0" dirty="0">
                <a:solidFill>
                  <a:srgbClr val="FFFFFF"/>
                </a:solidFill>
                <a:latin typeface="Segoe UI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840480"/>
            <a:ext cx="4572000" cy="1308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 dirty="0">
                <a:solidFill>
                  <a:srgbClr val="F59E0B"/>
                </a:solidFill>
                <a:latin typeface="Segoe UI"/>
              </a:rPr>
              <a:t>•  </a:t>
            </a:r>
            <a:r>
              <a:rPr sz="1400" b="1" dirty="0" err="1">
                <a:solidFill>
                  <a:srgbClr val="FFFFFF"/>
                </a:solidFill>
                <a:latin typeface="Segoe UI"/>
              </a:rPr>
              <a:t>Entiende</a:t>
            </a:r>
            <a:r>
              <a:rPr sz="14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la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pregunta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de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investigación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del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usuario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F59E0B"/>
                </a:solidFill>
                <a:latin typeface="Segoe UI"/>
              </a:rPr>
              <a:t>•  </a:t>
            </a:r>
            <a:r>
              <a:rPr sz="1400" b="1" dirty="0" err="1">
                <a:solidFill>
                  <a:srgbClr val="FFFFFF"/>
                </a:solidFill>
                <a:latin typeface="Segoe UI"/>
              </a:rPr>
              <a:t>Recomienda</a:t>
            </a:r>
            <a:r>
              <a:rPr sz="14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la base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adecuada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y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explica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su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contenido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F59E0B"/>
                </a:solidFill>
                <a:latin typeface="Segoe UI"/>
              </a:rPr>
              <a:t>•  </a:t>
            </a:r>
            <a:r>
              <a:rPr sz="1400" b="1" dirty="0" err="1">
                <a:solidFill>
                  <a:srgbClr val="FFFFFF"/>
                </a:solidFill>
                <a:latin typeface="Segoe UI"/>
              </a:rPr>
              <a:t>Advierte</a:t>
            </a:r>
            <a:r>
              <a:rPr sz="14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limitaciones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y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cómo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unirla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con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otras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fuentes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F59E0B"/>
                </a:solidFill>
                <a:latin typeface="Segoe UI"/>
              </a:rPr>
              <a:t>•  </a:t>
            </a:r>
            <a:r>
              <a:rPr sz="1400" b="1" dirty="0">
                <a:solidFill>
                  <a:srgbClr val="FFFFFF"/>
                </a:solidFill>
                <a:latin typeface="Segoe UI"/>
              </a:rPr>
              <a:t>Entrega 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el link de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acceso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a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los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datos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</a:t>
            </a:r>
            <a:r>
              <a:rPr lang="es-ES" sz="1400" dirty="0">
                <a:solidFill>
                  <a:srgbClr val="FFFFFF"/>
                </a:solidFill>
                <a:latin typeface="Segoe UI"/>
              </a:rPr>
              <a:t>(Dropbox) 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y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su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Segoe UI"/>
              </a:rPr>
              <a:t>ficha</a:t>
            </a:r>
            <a:r>
              <a:rPr sz="1400" dirty="0">
                <a:solidFill>
                  <a:srgbClr val="FFFFFF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01 · EXPERIENCIA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Así lo vive el usuario: tres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474720" cy="31089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59" y="210312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07568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lis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785" y="2189073"/>
            <a:ext cx="340156" cy="3401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59" y="29260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0B1F3A"/>
                </a:solidFill>
                <a:latin typeface="Segoe UI Semibold"/>
              </a:rPr>
              <a:t>Describe tu investigación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2900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475569"/>
                </a:solidFill>
                <a:latin typeface="Segoe UI"/>
              </a:rPr>
              <a:t>Resume el abstract, la </a:t>
            </a:r>
            <a:r>
              <a:rPr sz="1400" b="0" i="0" dirty="0" err="1">
                <a:solidFill>
                  <a:srgbClr val="475569"/>
                </a:solidFill>
                <a:latin typeface="Segoe UI"/>
              </a:rPr>
              <a:t>hipótesis</a:t>
            </a:r>
            <a:r>
              <a:rPr sz="1400" b="0" i="0" dirty="0">
                <a:solidFill>
                  <a:srgbClr val="475569"/>
                </a:solidFill>
                <a:latin typeface="Segoe UI"/>
              </a:rPr>
              <a:t> o el </a:t>
            </a:r>
            <a:r>
              <a:rPr sz="1400" b="0" i="0" dirty="0" err="1">
                <a:solidFill>
                  <a:srgbClr val="475569"/>
                </a:solidFill>
                <a:latin typeface="Segoe UI"/>
              </a:rPr>
              <a:t>objetivo</a:t>
            </a:r>
            <a:r>
              <a:rPr sz="1400" b="0" i="0" dirty="0">
                <a:solidFill>
                  <a:srgbClr val="475569"/>
                </a:solidFill>
                <a:latin typeface="Segoe UI"/>
              </a:rPr>
              <a:t> del </a:t>
            </a:r>
            <a:r>
              <a:rPr sz="1400" b="0" i="0" dirty="0" err="1">
                <a:solidFill>
                  <a:srgbClr val="475569"/>
                </a:solidFill>
                <a:latin typeface="Segoe UI"/>
              </a:rPr>
              <a:t>trabajo</a:t>
            </a:r>
            <a:r>
              <a:rPr sz="1400" b="0" i="0" dirty="0">
                <a:solidFill>
                  <a:srgbClr val="475569"/>
                </a:solidFill>
                <a:latin typeface="Segoe UI"/>
              </a:rPr>
              <a:t> o </a:t>
            </a:r>
            <a:r>
              <a:rPr sz="1400" b="0" i="0" dirty="0" err="1">
                <a:solidFill>
                  <a:srgbClr val="475569"/>
                </a:solidFill>
                <a:latin typeface="Segoe UI"/>
              </a:rPr>
              <a:t>análisis</a:t>
            </a:r>
            <a:r>
              <a:rPr sz="140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475569"/>
                </a:solidFill>
                <a:latin typeface="Segoe UI"/>
              </a:rPr>
              <a:t>económico</a:t>
            </a:r>
            <a:r>
              <a:rPr sz="1400" b="0" i="0" dirty="0">
                <a:solidFill>
                  <a:srgbClr val="475569"/>
                </a:solidFill>
                <a:latin typeface="Segoe UI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9080" y="3383280"/>
            <a:ext cx="274320" cy="0"/>
          </a:xfrm>
          <a:prstGeom prst="line">
            <a:avLst/>
          </a:prstGeom>
          <a:ln w="28575">
            <a:solidFill>
              <a:srgbClr val="0E9F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9120" y="1828800"/>
            <a:ext cx="3474720" cy="31089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4663440" y="210312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79" y="207568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4265" y="2189073"/>
            <a:ext cx="340156" cy="3401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63440" y="29260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0B1F3A"/>
                </a:solidFill>
                <a:latin typeface="Segoe UI Semibold"/>
              </a:rPr>
              <a:t>Recibe la recomendación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2900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Segoe UI"/>
              </a:rPr>
              <a:t>El asistente explica qué base usar, qué contiene, su periodo, variables clave y limitaciones.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9560" y="3383280"/>
            <a:ext cx="274319" cy="0"/>
          </a:xfrm>
          <a:prstGeom prst="line">
            <a:avLst/>
          </a:prstGeom>
          <a:ln w="28575">
            <a:solidFill>
              <a:srgbClr val="0E9F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29600" y="1828800"/>
            <a:ext cx="3474720" cy="31089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03920" y="210312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81360" y="207568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4745" y="2189073"/>
            <a:ext cx="340156" cy="3401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03920" y="29260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0B1F3A"/>
                </a:solidFill>
                <a:latin typeface="Segoe UI Semibold"/>
              </a:rPr>
              <a:t>Accede a los datos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42900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Segoe UI"/>
              </a:rPr>
              <a:t>Debajo de la respuesta aparece el link a la carpeta con los datos y la ficha técnica en PDF.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476696"/>
            <a:ext cx="106070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dirty="0" err="1">
                <a:solidFill>
                  <a:srgbClr val="0E9F8E"/>
                </a:solidFill>
                <a:latin typeface="Segoe UI"/>
              </a:rPr>
              <a:t>Ejemplo</a:t>
            </a:r>
            <a:r>
              <a:rPr sz="1400" b="1" i="0" dirty="0">
                <a:solidFill>
                  <a:srgbClr val="0E9F8E"/>
                </a:solidFill>
                <a:latin typeface="Segoe UI"/>
              </a:rPr>
              <a:t>: 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“Mi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tesis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evalúa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si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la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pobreza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distrital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bajó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entre 2013 y 2018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en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la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sierra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sur”  →  el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asistente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recomienda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la Tasa de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pobreza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monetaria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a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nivel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distrito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2013 y 2018 y </a:t>
            </a:r>
            <a:r>
              <a:rPr sz="1400" b="0" i="0" dirty="0" err="1">
                <a:solidFill>
                  <a:srgbClr val="1E293B"/>
                </a:solidFill>
                <a:latin typeface="Segoe UI"/>
              </a:rPr>
              <a:t>entrega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 link</a:t>
            </a:r>
            <a:r>
              <a:rPr lang="es-ES" sz="1400" b="0" i="0" dirty="0">
                <a:solidFill>
                  <a:srgbClr val="1E293B"/>
                </a:solidFill>
                <a:latin typeface="Segoe UI"/>
              </a:rPr>
              <a:t> de </a:t>
            </a:r>
            <a:r>
              <a:rPr lang="es-ES" sz="1400" b="0" i="0" dirty="0" err="1">
                <a:solidFill>
                  <a:srgbClr val="1E293B"/>
                </a:solidFill>
                <a:latin typeface="Segoe UI"/>
              </a:rPr>
              <a:t>DropBox</a:t>
            </a:r>
            <a:r>
              <a:rPr sz="1400" b="0" i="0" dirty="0">
                <a:solidFill>
                  <a:srgbClr val="1E293B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o_port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14884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>
                <a:solidFill>
                  <a:srgbClr val="F59E0B"/>
                </a:solidFill>
                <a:latin typeface="Segoe UI Semibol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Segoe UI Semibold"/>
              </a:rPr>
              <a:t>Fuente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512064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CBD5E1"/>
                </a:solidFill>
                <a:latin typeface="Segoe UI"/>
              </a:rPr>
              <a:t>Bases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públicas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procesadas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cada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una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con </a:t>
            </a:r>
            <a:r>
              <a:rPr lang="es-ES" dirty="0">
                <a:solidFill>
                  <a:srgbClr val="CBD5E1"/>
                </a:solidFill>
                <a:latin typeface="Segoe UI"/>
              </a:rPr>
              <a:t>una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ficha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técnica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en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02 · FUENTE DE DATOS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Bases públicas, procesadas y listas para investigar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920240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0" i="0">
                <a:solidFill>
                  <a:srgbClr val="0E9F8E"/>
                </a:solidFill>
                <a:latin typeface="Segoe UI Semibol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889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bases de 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1546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en el catálogo actual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783080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0" i="0">
                <a:solidFill>
                  <a:srgbClr val="0E9F8E"/>
                </a:solidFill>
                <a:latin typeface="Segoe UI Semibold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7889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temas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1546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de economía y ciencias sociales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783080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55664" y="1920240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0" i="0">
                <a:solidFill>
                  <a:srgbClr val="0E9F8E"/>
                </a:solidFill>
                <a:latin typeface="Segoe UI Semibold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7889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fichas 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1546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una por base, con todo detalle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7696" y="1783080"/>
            <a:ext cx="2606040" cy="19659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72016" y="1920240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 i="0">
                <a:solidFill>
                  <a:srgbClr val="0E9F8E"/>
                </a:solidFill>
                <a:latin typeface="Segoe UI Semibold"/>
              </a:rPr>
              <a:t>1995–2025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27889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cobertura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31546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según la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Fuentes oficiales y académicas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Segoe UI"/>
              </a:rPr>
              <a:t>•  </a:t>
            </a:r>
            <a:r>
              <a:rPr sz="1400">
                <a:solidFill>
                  <a:srgbClr val="1E293B"/>
                </a:solidFill>
                <a:latin typeface="Segoe UI"/>
              </a:rPr>
              <a:t>INEI · MINEDU · MININTER · Ministerio Público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Segoe UI"/>
              </a:rPr>
              <a:t>•  </a:t>
            </a:r>
            <a:r>
              <a:rPr sz="1400">
                <a:solidFill>
                  <a:srgbClr val="1E293B"/>
                </a:solidFill>
                <a:latin typeface="Segoe UI"/>
              </a:rPr>
              <a:t>SENAMHI · MTC · RAISG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Segoe UI"/>
              </a:rPr>
              <a:t>•  </a:t>
            </a:r>
            <a:r>
              <a:rPr sz="1400">
                <a:solidFill>
                  <a:srgbClr val="1E293B"/>
                </a:solidFill>
                <a:latin typeface="Segoe UI"/>
              </a:rPr>
              <a:t>Proética / Ipsos · Google Earth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6908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B1F3A"/>
                </a:solidFill>
                <a:latin typeface="Segoe UI Semibold"/>
              </a:rPr>
              <a:t>Procesadas y listas para usar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526280"/>
            <a:ext cx="53035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Segoe UI"/>
              </a:rPr>
              <a:t>•  </a:t>
            </a:r>
            <a:r>
              <a:rPr sz="1400">
                <a:solidFill>
                  <a:srgbClr val="1E293B"/>
                </a:solidFill>
                <a:latin typeface="Segoe UI"/>
              </a:rPr>
              <a:t>Paneles construidos y variables documentadas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Segoe UI"/>
              </a:rPr>
              <a:t>•  </a:t>
            </a:r>
            <a:r>
              <a:rPr sz="1400">
                <a:solidFill>
                  <a:srgbClr val="1E293B"/>
                </a:solidFill>
                <a:latin typeface="Segoe UI"/>
              </a:rPr>
              <a:t>Stata, SPSS, Excel, CSV y shapefiles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9F8E"/>
                </a:solidFill>
                <a:latin typeface="Segoe UI"/>
              </a:rPr>
              <a:t>•  </a:t>
            </a:r>
            <a:r>
              <a:rPr sz="1400">
                <a:solidFill>
                  <a:srgbClr val="1E293B"/>
                </a:solidFill>
                <a:latin typeface="Segoe UI"/>
              </a:rPr>
              <a:t>Carpeta en Dropbox con datos y ficha en PDF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02 · CATÁLOGO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Catálogo: 15 bases en 8 temas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educ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066543"/>
            <a:ext cx="301752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603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Educación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Segoe UI"/>
              </a:rPr>
              <a:t>Censo Escolar 2006-2023 · SISEVE 2014-2023 (bullying y violencia escolar)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737360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93592" y="1965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grafi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066543"/>
            <a:ext cx="301752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93592" y="260603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Empresas y productividad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999232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Segoe UI"/>
              </a:rPr>
              <a:t>Panel de empresas de la Encuesta Económica Anual (EEA) 2012-2020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737360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9944" y="1965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p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2066543"/>
            <a:ext cx="301752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9944" y="260603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Pobreza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999232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Segoe UI"/>
              </a:rPr>
              <a:t>Tasa de pobreza monetaria a nivel distrito 2013 y 2018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7696" y="1737360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escu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2066543"/>
            <a:ext cx="301752" cy="3017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26296" y="260603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Seguridad ciudadana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999232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 dirty="0" err="1">
                <a:solidFill>
                  <a:srgbClr val="475569"/>
                </a:solidFill>
                <a:latin typeface="Segoe UI"/>
              </a:rPr>
              <a:t>Denuncias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SIDPOL hasta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marzo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de 2025 · RENADESPLE: personas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detenidas</a:t>
            </a:r>
            <a:endParaRPr sz="1150" b="0" i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48640" y="4069079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77240" y="4297679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persona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398264"/>
            <a:ext cx="301752" cy="3017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" y="493775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Política y corrupción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330951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475569"/>
                </a:solidFill>
                <a:latin typeface="Segoe UI"/>
              </a:rPr>
              <a:t>Encuesta Nacional sobre Corrupción de Proética 2025 (XIII edición)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64992" y="4069079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593592" y="4297679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glob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4176" y="4398264"/>
            <a:ext cx="301752" cy="3017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593592" y="493775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Teledetección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93592" y="5330951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 dirty="0">
                <a:solidFill>
                  <a:srgbClr val="475569"/>
                </a:solidFill>
                <a:latin typeface="Segoe UI"/>
              </a:rPr>
              <a:t>Luces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nocturnas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por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distrito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1995-2013 ·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Elevación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precipitación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pendiente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y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temperatura</a:t>
            </a:r>
            <a:endParaRPr sz="1150" b="0" i="0" dirty="0">
              <a:solidFill>
                <a:srgbClr val="475569"/>
              </a:solidFill>
              <a:latin typeface="Segoe UI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181344" y="4069079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409944" y="4297679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aler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4398264"/>
            <a:ext cx="301752" cy="3017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409944" y="493775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Economías ilícitas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5330951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 dirty="0">
                <a:solidFill>
                  <a:srgbClr val="475569"/>
                </a:solidFill>
                <a:latin typeface="Segoe UI"/>
              </a:rPr>
              <a:t>Shapefile de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minería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ilegal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en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la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Amazonía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(RAISG)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97696" y="4069079"/>
            <a:ext cx="2633472" cy="2148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9226296" y="4297679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Picture 42" descr="p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4398264"/>
            <a:ext cx="301752" cy="30175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226296" y="4937759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Cartografía y vías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26296" y="5330951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 dirty="0" err="1">
                <a:solidFill>
                  <a:srgbClr val="475569"/>
                </a:solidFill>
                <a:latin typeface="Segoe UI"/>
              </a:rPr>
              <a:t>Unidades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administrativas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2007 y 2017 ·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Límite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del Perú · Red vial 2018 · </a:t>
            </a:r>
            <a:r>
              <a:rPr sz="1150" b="0" i="0" dirty="0" err="1">
                <a:solidFill>
                  <a:srgbClr val="475569"/>
                </a:solidFill>
                <a:latin typeface="Segoe UI"/>
              </a:rPr>
              <a:t>Fenómeno</a:t>
            </a:r>
            <a:r>
              <a:rPr sz="1150" b="0" i="0" dirty="0">
                <a:solidFill>
                  <a:srgbClr val="475569"/>
                </a:solidFill>
                <a:latin typeface="Segoe UI"/>
              </a:rPr>
              <a:t> El Niño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02 · DOCUMENTACIÓN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 dirty="0">
                <a:solidFill>
                  <a:srgbClr val="0B1F3A"/>
                </a:solidFill>
                <a:latin typeface="Segoe UI Semibold"/>
              </a:rPr>
              <a:t>La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ficha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PDF: el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corazón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del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2062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pag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2020824"/>
            <a:ext cx="301752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96596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Estructura de cada ficha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3749039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Nombre de la base de datos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Resumen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Ficha rápida: tema, unidad, cobertura, periodo, formato, tamaño y llave para unir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Palabras clave y sinónimos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Preguntas que ayuda a responder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Archivos y variables principales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Notas y advertencias de uso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E9F8E"/>
                </a:solidFill>
                <a:latin typeface="Segoe UI"/>
              </a:rPr>
              <a:t>•  </a:t>
            </a:r>
            <a:r>
              <a:rPr sz="1250">
                <a:solidFill>
                  <a:srgbClr val="1E293B"/>
                </a:solidFill>
                <a:latin typeface="Segoe UI"/>
              </a:rPr>
              <a:t>Fuente y link de Dropbox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76479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documen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4" y="1865376"/>
            <a:ext cx="301752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52160" y="169164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Texto completo indexado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075688"/>
            <a:ext cx="5760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Se divide en chunks y se vectoriza: es lo que el asistente lee para responder.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290779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estrel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4" y="3008376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283464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Título oficial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218688"/>
            <a:ext cx="5760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La línea “Nombre de base de datos” se usa en el catálogo, en el prompt y en los links.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4050791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1224" y="4151376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52160" y="3977639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Link de Dropbox a la metadata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361688"/>
            <a:ext cx="5760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Se extrae del hipervínculo del PDF y se agrega al final de la respuesta: el LLM nunca lo escribe.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519379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busc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1224" y="5294376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52160" y="512064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Palabras clave y preguntas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5504688"/>
            <a:ext cx="5760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Sinónimos y preguntas típicas mejoran la búsqueda semántica.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DB86686-F2F3-FE57-FEA7-A89257B83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50" y="601134"/>
            <a:ext cx="5739063" cy="542713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9567510-CDC0-B98E-7D22-68E7813E6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1" y="601134"/>
            <a:ext cx="6087532" cy="530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874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182FD2B-EE5E-D9B6-B59B-93A49085D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181" y="1638125"/>
            <a:ext cx="7094835" cy="4038950"/>
          </a:xfrm>
          <a:prstGeom prst="rect">
            <a:avLst/>
          </a:prstGeom>
        </p:spPr>
      </p:pic>
      <p:sp>
        <p:nvSpPr>
          <p:cNvPr id="6" name="Titulo">
            <a:extLst>
              <a:ext uri="{FF2B5EF4-FFF2-40B4-BE49-F238E27FC236}">
                <a16:creationId xmlns:a16="http://schemas.microsoft.com/office/drawing/2014/main" id="{F98711B9-8210-2ADC-9B4A-E4C574734804}"/>
              </a:ext>
            </a:extLst>
          </p:cNvPr>
          <p:cNvSpPr txBox="1"/>
          <p:nvPr/>
        </p:nvSpPr>
        <p:spPr>
          <a:xfrm>
            <a:off x="379306" y="658368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000" dirty="0">
                <a:solidFill>
                  <a:srgbClr val="0B1F3A"/>
                </a:solidFill>
                <a:latin typeface="Segoe UI Semibold"/>
              </a:rPr>
              <a:t>Link de Acceso al final de cada documento</a:t>
            </a:r>
            <a:endParaRPr sz="3000" b="0" i="0" dirty="0">
              <a:solidFill>
                <a:srgbClr val="0B1F3A"/>
              </a:solidFill>
              <a:latin typeface="Segoe UI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294588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o_port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14884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>
                <a:solidFill>
                  <a:srgbClr val="F59E0B"/>
                </a:solidFill>
                <a:latin typeface="Segoe UI Semibol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Segoe UI Semibold"/>
              </a:rPr>
              <a:t>Stack tecnológico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512064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dirty="0">
                <a:solidFill>
                  <a:srgbClr val="CBD5E1"/>
                </a:solidFill>
                <a:latin typeface="Segoe UI"/>
              </a:rPr>
              <a:t>Open </a:t>
            </a:r>
            <a:r>
              <a:rPr lang="es-ES" dirty="0" err="1">
                <a:solidFill>
                  <a:srgbClr val="CBD5E1"/>
                </a:solidFill>
                <a:latin typeface="Segoe UI"/>
              </a:rPr>
              <a:t>Models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orquestación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con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LangChain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lang="es-ES" dirty="0">
                <a:solidFill>
                  <a:srgbClr val="CBD5E1"/>
                </a:solidFill>
                <a:latin typeface="Segoe UI"/>
              </a:rPr>
              <a:t>e implementación en Local</a:t>
            </a:r>
            <a:endParaRPr sz="1800" b="0" i="0" dirty="0">
              <a:solidFill>
                <a:srgbClr val="CBD5E1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03 · STACK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Stack tecnológico de punta a punta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59" y="2011679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5" y="2125065"/>
            <a:ext cx="340156" cy="340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201167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9F8E"/>
                </a:solidFill>
                <a:latin typeface="Segoe UI Semibold"/>
              </a:rPr>
              <a:t>INTERFAZ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6771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Streamlit · FastAPI (opcional)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92608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 dirty="0">
                <a:solidFill>
                  <a:srgbClr val="475569"/>
                </a:solidFill>
                <a:latin typeface="Segoe UI"/>
              </a:rPr>
              <a:t>Chat, sliders de </a:t>
            </a:r>
            <a:r>
              <a:rPr sz="1250" b="0" i="0" dirty="0" err="1">
                <a:solidFill>
                  <a:srgbClr val="475569"/>
                </a:solidFill>
                <a:latin typeface="Segoe UI"/>
              </a:rPr>
              <a:t>búsqueda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, </a:t>
            </a:r>
            <a:r>
              <a:rPr sz="1250" b="0" i="0" dirty="0" err="1">
                <a:solidFill>
                  <a:srgbClr val="475569"/>
                </a:solidFill>
                <a:latin typeface="Segoe UI"/>
              </a:rPr>
              <a:t>catálogo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 y link </a:t>
            </a:r>
            <a:r>
              <a:rPr sz="1250" b="0" i="0" dirty="0" err="1">
                <a:solidFill>
                  <a:srgbClr val="475569"/>
                </a:solidFill>
                <a:latin typeface="Segoe UI"/>
              </a:rPr>
              <a:t>público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 con </a:t>
            </a:r>
            <a:r>
              <a:rPr sz="1250" b="0" i="0" dirty="0" err="1">
                <a:solidFill>
                  <a:srgbClr val="475569"/>
                </a:solidFill>
                <a:latin typeface="Segoe UI"/>
              </a:rPr>
              <a:t>Tailscale</a:t>
            </a:r>
            <a:r>
              <a:rPr sz="1250" b="0" i="0" dirty="0">
                <a:solidFill>
                  <a:srgbClr val="475569"/>
                </a:solidFill>
                <a:latin typeface="Segoe UI"/>
              </a:rPr>
              <a:t> Funnel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7373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1999" y="2011679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proces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385" y="2125065"/>
            <a:ext cx="340156" cy="3401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03519" y="201167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9F8E"/>
                </a:solidFill>
                <a:latin typeface="Segoe UI Semibold"/>
              </a:rPr>
              <a:t>ORQUESTACIÓN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19" y="226771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LangChain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292608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Carga de documentos, chunks, vector store y búsqueda con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7373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21040" y="2011679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lib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4425" y="2125065"/>
            <a:ext cx="340156" cy="3401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052559" y="201167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9F8E"/>
                </a:solidFill>
                <a:latin typeface="Segoe UI Semibold"/>
              </a:rPr>
              <a:t>VECTOR 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26771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FAISS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92608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Índice de 75 chunks con metadata: título, tema, posición y link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233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2959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ray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" y="4411065"/>
            <a:ext cx="340156" cy="3401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54480" y="42976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9F8E"/>
                </a:solidFill>
                <a:latin typeface="Segoe UI Semibold"/>
              </a:rPr>
              <a:t>EMBEDDINGS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55371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Qwen3-Embedding 4B · Ollama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21208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Vectores de 2560 dimensiones, en CPU, con instrucción en la consulta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79" y="40233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571999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rob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5385" y="4411065"/>
            <a:ext cx="340156" cy="3401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303519" y="42976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9F8E"/>
                </a:solidFill>
                <a:latin typeface="Segoe UI Semibold"/>
              </a:rPr>
              <a:t>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19" y="455371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Qwen3.5-4B + QLoRA (Unsloth)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1999" y="521208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Fine-tuned para el rol del asistente y para usar solo las fichas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40233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321040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chi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4425" y="4411065"/>
            <a:ext cx="340156" cy="34015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052559" y="42976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9F8E"/>
                </a:solidFill>
                <a:latin typeface="Segoe UI Semibold"/>
              </a:rPr>
              <a:t>INFRAESTRUCTURA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59" y="455371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GPU RTX 5050 8 GB · CUDA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03 · ORQUESTACIÓN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LangChain orquesta el sistema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17830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pag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6" y="1911095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5603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0B1F3A"/>
                </a:solidFill>
                <a:latin typeface="Segoe UI Semibold"/>
              </a:rPr>
              <a:t>Lectura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1920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 i="0">
                <a:solidFill>
                  <a:srgbClr val="475569"/>
                </a:solidFill>
                <a:latin typeface="Segoe UI"/>
              </a:rPr>
              <a:t>PDFReader con pypdf: texto con tildes y puntuación, título y link de Dropbox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" y="2103120"/>
            <a:ext cx="1353312" cy="0"/>
          </a:xfrm>
          <a:prstGeom prst="line">
            <a:avLst/>
          </a:prstGeom>
          <a:ln w="28575">
            <a:solidFill>
              <a:srgbClr val="0E9F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02152" y="17830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documen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911095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16352" y="25603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0B1F3A"/>
                </a:solidFill>
                <a:latin typeface="Segoe UI Semibold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2971800"/>
            <a:ext cx="1920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 i="0">
                <a:solidFill>
                  <a:srgbClr val="475569"/>
                </a:solidFill>
                <a:latin typeface="Segoe UI"/>
              </a:rPr>
              <a:t>Cada ficha pasa a un Document de LangChain con su metadata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9392" y="2103120"/>
            <a:ext cx="1353312" cy="0"/>
          </a:xfrm>
          <a:prstGeom prst="line">
            <a:avLst/>
          </a:prstGeom>
          <a:ln w="28575">
            <a:solidFill>
              <a:srgbClr val="0E9F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69864" y="17830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filt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879" y="1911095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84064" y="25603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0B1F3A"/>
                </a:solidFill>
                <a:latin typeface="Segoe UI Semibold"/>
              </a:rPr>
              <a:t>Chunks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3" y="2971800"/>
            <a:ext cx="1920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 i="0">
                <a:solidFill>
                  <a:srgbClr val="475569"/>
                </a:solidFill>
                <a:latin typeface="Segoe UI"/>
              </a:rPr>
              <a:t>Splitter recursivo: 900 caracteres, 100 de solape, 75 chunks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47104" y="2103120"/>
            <a:ext cx="1353312" cy="0"/>
          </a:xfrm>
          <a:prstGeom prst="line">
            <a:avLst/>
          </a:prstGeom>
          <a:ln w="28575">
            <a:solidFill>
              <a:srgbClr val="0E9F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037575" y="17830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libr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5592" y="1911095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51775" y="25603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0B1F3A"/>
                </a:solidFill>
                <a:latin typeface="Segoe UI Semibold"/>
              </a:rPr>
              <a:t>Vector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7496" y="2971800"/>
            <a:ext cx="1920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 i="0">
                <a:solidFill>
                  <a:srgbClr val="475569"/>
                </a:solidFill>
                <a:latin typeface="Segoe UI"/>
              </a:rPr>
              <a:t>FAISS con embeddings de Qwen3, guardado en disco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14815" y="2103120"/>
            <a:ext cx="1353313" cy="0"/>
          </a:xfrm>
          <a:prstGeom prst="line">
            <a:avLst/>
          </a:prstGeom>
          <a:ln w="28575">
            <a:solidFill>
              <a:srgbClr val="0E9F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305288" y="17830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7" name="Picture 26" descr="busc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3304" y="1911095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19488" y="25603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0B1F3A"/>
                </a:solidFill>
                <a:latin typeface="Segoe UI Semibold"/>
              </a:rPr>
              <a:t>Búsqueda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5208" y="2971800"/>
            <a:ext cx="1920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 i="0">
                <a:solidFill>
                  <a:srgbClr val="475569"/>
                </a:solidFill>
                <a:latin typeface="Segoe UI"/>
              </a:rPr>
              <a:t>Búsqueda con score sobre todos los chunks del índice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343400"/>
            <a:ext cx="11064240" cy="17830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45262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 Semibold"/>
              </a:rPr>
              <a:t>Metadata de cada chunk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93776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5EEAD4"/>
                </a:solidFill>
                <a:latin typeface="Consolas"/>
              </a:rPr>
              <a:t>source  ·  dataset  ·  title  ·  category  ·  dropbox_link  ·  chunk_id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BD5E1"/>
                </a:solidFill>
                <a:latin typeface="Segoe UI"/>
              </a:rPr>
              <a:t>El chunk_id permite agregar la ficha rápida (chunk 0) de cada base recuperada y evitar repetir texto.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03 · SCORE DE SIMILITUD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Búsqueda por similitud: cómo se elige 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120640" cy="1874519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EEAD4"/>
                </a:solidFill>
                <a:latin typeface="Segoe UI Semibold"/>
              </a:rPr>
              <a:t>SIMILITUD COSENO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  <a:latin typeface="Segoe UI Semibold"/>
              </a:rPr>
              <a:t>similitud = 1 − d² /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8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CBD5E1"/>
                </a:solidFill>
                <a:latin typeface="Segoe UI"/>
              </a:rPr>
              <a:t>d² es la distancia L2 al cuadrado que devuelve FAISS; con vectores de norma 1 equivale al coseno.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373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fil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1837944"/>
            <a:ext cx="301752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20840" y="16916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Umbral 0.53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39112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Mínimo para usar una ficha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7373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5" name="Picture 14" descr="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3" y="1837944"/>
            <a:ext cx="301752" cy="30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55480" y="16916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Margen 0.10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039112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Respecto a la mejor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269748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lib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798064"/>
            <a:ext cx="301752" cy="3017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20840" y="2651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Máx. 3 bases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999232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Distintas, sin repetir texto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269748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document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0263" y="2798064"/>
            <a:ext cx="301752" cy="3017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55480" y="26517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B1F3A"/>
                </a:solidFill>
                <a:latin typeface="Segoe UI Semibold"/>
              </a:rPr>
              <a:t>Ficha + chunk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999232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Segoe UI"/>
              </a:rPr>
              <a:t>Ficha rápida y fragmento más parecido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Scores medidos sobre el índice actual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17720"/>
            <a:ext cx="11064240" cy="384048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338942" y="4617720"/>
            <a:ext cx="3477332" cy="384048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871062" y="4617720"/>
            <a:ext cx="4267635" cy="384048"/>
          </a:xfrm>
          <a:prstGeom prst="roundRect">
            <a:avLst>
              <a:gd name="adj" fmla="val 5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746350" y="4434840"/>
            <a:ext cx="36576" cy="7498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38942" y="5138928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B1F3A"/>
                </a:solidFill>
                <a:latin typeface="Segoe UI"/>
              </a:rPr>
              <a:t>Saludos y temas ajenos</a:t>
            </a:r>
          </a:p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0.25 a 0.47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1678" y="5138928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 i="0">
                <a:solidFill>
                  <a:srgbClr val="F59E0B"/>
                </a:solidFill>
                <a:latin typeface="Segoe UI"/>
              </a:rPr>
              <a:t>Umbral</a:t>
            </a:r>
          </a:p>
          <a:p>
            <a:pPr algn="ctr"/>
            <a:r>
              <a:rPr sz="1250" b="0" i="0">
                <a:solidFill>
                  <a:srgbClr val="475569"/>
                </a:solidFill>
                <a:latin typeface="Segoe UI"/>
              </a:rPr>
              <a:t>0.53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1062" y="5138928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B1F3A"/>
                </a:solidFill>
                <a:latin typeface="Segoe UI"/>
              </a:rPr>
              <a:t>Consultas de investigación</a:t>
            </a:r>
          </a:p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0.60 a 0.87 (mediana 0.73)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3434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Segoe UI"/>
              </a:rPr>
              <a:t>0.2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43434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475569"/>
                </a:solidFill>
                <a:latin typeface="Segoe UI"/>
              </a:rPr>
              <a:t>0.9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03 · MODELO DE LENGUAJE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LLM: Qwen3.5-4B, un modelo híbrido y eficiente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06040" cy="16459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847088"/>
            <a:ext cx="21945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0" i="0">
                <a:solidFill>
                  <a:srgbClr val="0E9F8E"/>
                </a:solidFill>
                <a:latin typeface="Segoe UI Semibold"/>
              </a:rPr>
              <a:t>4.54B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parámetros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737360"/>
            <a:ext cx="2606040" cy="16459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1945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0" i="0">
                <a:solidFill>
                  <a:srgbClr val="0E9F8E"/>
                </a:solidFill>
                <a:latin typeface="Segoe UI Semibold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5176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capas: 8 de atención completa y 24 lineales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606040" cy="16459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1847088"/>
            <a:ext cx="21945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0" i="0">
                <a:solidFill>
                  <a:srgbClr val="0E9F8E"/>
                </a:solidFill>
                <a:latin typeface="Segoe UI Semibold"/>
              </a:rPr>
              <a:t>~3.5 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5176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de VRAM en 4 bits NF4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737360"/>
            <a:ext cx="2606040" cy="16459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72016" y="1847088"/>
            <a:ext cx="21945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0" i="0">
                <a:solidFill>
                  <a:srgbClr val="0E9F8E"/>
                </a:solidFill>
                <a:latin typeface="Segoe UI Semibold"/>
              </a:rPr>
              <a:t>0.2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2016" y="265176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temperatura: respuestas consistentes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03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Arquitectura híbrida: una capa de atención completa cada cuatro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4283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239926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585569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931212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276856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622499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968142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13785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659428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005072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350715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696358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042001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387644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733288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078931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24574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770217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115860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461504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807147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152790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498433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844076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9189719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9535363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9881006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10226649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10572292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0917936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E6F6F4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11263579" y="4206240"/>
            <a:ext cx="292608" cy="68580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507492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9E0B"/>
                </a:solidFill>
                <a:latin typeface="Segoe UI"/>
              </a:rPr>
              <a:t>■ </a:t>
            </a:r>
            <a:r>
              <a:rPr sz="1300" b="0" i="0">
                <a:solidFill>
                  <a:srgbClr val="1E293B"/>
                </a:solidFill>
                <a:latin typeface="Segoe UI"/>
              </a:rPr>
              <a:t>Atención completa (8): q, k, v, 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0" y="5074920"/>
            <a:ext cx="5943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E9F8E"/>
                </a:solidFill>
                <a:latin typeface="Segoe UI"/>
              </a:rPr>
              <a:t>■ </a:t>
            </a:r>
            <a:r>
              <a:rPr sz="1300" b="0" i="0">
                <a:solidFill>
                  <a:srgbClr val="1E293B"/>
                </a:solidFill>
                <a:latin typeface="Segoe UI"/>
              </a:rPr>
              <a:t>Atención lineal (24): in_proj_qkv, in_proj_z, out_proj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03 · FINE-TUNING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B1F3A"/>
                </a:solidFill>
                <a:latin typeface="Segoe UI Semibold"/>
              </a:rPr>
              <a:t>Fine-tuning con QLoRA y Unsloth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4846320" cy="44348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4297680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 b="1" dirty="0">
                <a:solidFill>
                  <a:srgbClr val="F59E0B"/>
                </a:solidFill>
                <a:latin typeface="Segoe UI"/>
              </a:rPr>
              <a:t>•  </a:t>
            </a:r>
            <a:r>
              <a:rPr sz="1350" b="1" dirty="0">
                <a:solidFill>
                  <a:srgbClr val="FFFFFF"/>
                </a:solidFill>
                <a:latin typeface="Segoe UI"/>
              </a:rPr>
              <a:t>W 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pesos del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modelo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 base: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congelados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en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 4 bits NF4</a:t>
            </a:r>
            <a:endParaRPr lang="es-ES" sz="1350" dirty="0">
              <a:solidFill>
                <a:srgbClr val="FFFFFF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endParaRPr sz="1350" dirty="0">
              <a:solidFill>
                <a:srgbClr val="FFFFFF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r>
              <a:rPr sz="1350" b="1" dirty="0">
                <a:solidFill>
                  <a:srgbClr val="F59E0B"/>
                </a:solidFill>
                <a:latin typeface="Segoe UI"/>
              </a:rPr>
              <a:t>•  </a:t>
            </a:r>
            <a:r>
              <a:rPr sz="1350" b="1" dirty="0">
                <a:solidFill>
                  <a:srgbClr val="FFFFFF"/>
                </a:solidFill>
                <a:latin typeface="Segoe UI"/>
              </a:rPr>
              <a:t>A, B 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matrices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LoRA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 de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rango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 r = 16: lo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único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que</a:t>
            </a:r>
            <a:r>
              <a:rPr sz="1350" dirty="0">
                <a:solidFill>
                  <a:srgbClr val="FFFFFF"/>
                </a:solidFill>
                <a:latin typeface="Segoe UI"/>
              </a:rPr>
              <a:t> se </a:t>
            </a:r>
            <a:r>
              <a:rPr sz="1350" dirty="0" err="1">
                <a:solidFill>
                  <a:srgbClr val="FFFFFF"/>
                </a:solidFill>
                <a:latin typeface="Segoe UI"/>
              </a:rPr>
              <a:t>entrena</a:t>
            </a:r>
            <a:endParaRPr sz="1350" dirty="0">
              <a:solidFill>
                <a:srgbClr val="FFFFFF"/>
              </a:solidFill>
              <a:latin typeface="Segoe UI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157504"/>
              </p:ext>
            </p:extLst>
          </p:nvPr>
        </p:nvGraphicFramePr>
        <p:xfrm>
          <a:off x="5669280" y="1691640"/>
          <a:ext cx="5943600" cy="344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2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Rango LoRA (r)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Dropout LoRA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0.05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Learning rate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4e-4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Optimizador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AdamW 8 bits · scheduler lineal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Batch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1 por paso + acumulación de gradientes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Largo máximo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2560 tokens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Datos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E293B"/>
                          </a:solidFill>
                          <a:latin typeface="Segoe UI"/>
                        </a:rPr>
                        <a:t>split 80 / 10 / 10 · </a:t>
                      </a:r>
                      <a:r>
                        <a:rPr sz="1300" dirty="0" err="1">
                          <a:solidFill>
                            <a:srgbClr val="1E293B"/>
                          </a:solidFill>
                          <a:latin typeface="Segoe UI"/>
                        </a:rPr>
                        <a:t>semilla</a:t>
                      </a:r>
                      <a:r>
                        <a:rPr sz="1300" dirty="0">
                          <a:solidFill>
                            <a:srgbClr val="1E293B"/>
                          </a:solidFill>
                          <a:latin typeface="Segoe UI"/>
                        </a:rPr>
                        <a:t> 3407</a:t>
                      </a:r>
                    </a:p>
                  </a:txBody>
                  <a:tcPr marL="137160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0E9F8E"/>
                </a:solidFill>
                <a:latin typeface="Segoe UI Semibold"/>
              </a:rPr>
              <a:t>03 · EXPERIMENTOS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Diseño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experimental: dos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rondas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,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una</a:t>
            </a:r>
            <a:r>
              <a:rPr sz="3000" b="0" i="0" dirty="0">
                <a:solidFill>
                  <a:srgbClr val="0B1F3A"/>
                </a:solidFill>
                <a:latin typeface="Segoe UI Semibold"/>
              </a:rPr>
              <a:t> sola carga del </a:t>
            </a:r>
            <a:r>
              <a:rPr sz="3000" b="0" i="0" dirty="0" err="1">
                <a:solidFill>
                  <a:srgbClr val="0B1F3A"/>
                </a:solidFill>
                <a:latin typeface="Segoe UI Semibold"/>
              </a:rPr>
              <a:t>modelo</a:t>
            </a:r>
            <a:endParaRPr sz="3000" b="0" i="0" dirty="0">
              <a:solidFill>
                <a:srgbClr val="0B1F3A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475569"/>
                </a:solidFill>
                <a:latin typeface="Segoe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669280" cy="4434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RONDA A · HIPERPARÁMETROS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2331720"/>
          <a:ext cx="51206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Segoe UI Semibold"/>
                        </a:rPr>
                        <a:t>3 épocas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Segoe UI Semibold"/>
                        </a:rPr>
                        <a:t>6 épocas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Batch efectivo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lora_alpha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Warmup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10 pasos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20 pasos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Weight decay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0.1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B1F3A"/>
                          </a:solidFill>
                          <a:latin typeface="Segoe UI Semibold"/>
                        </a:rPr>
                        <a:t>Capas LoRA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atención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93B"/>
                          </a:solidFill>
                          <a:latin typeface="Segoe UI"/>
                        </a:rPr>
                        <a:t>atención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1691640"/>
            <a:ext cx="5120640" cy="4434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1874519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RONDA B · CAPAS CON 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37744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>
                <a:solidFill>
                  <a:srgbClr val="0E9F8E"/>
                </a:solidFill>
                <a:latin typeface="Segoe UI Semibold"/>
              </a:rPr>
              <a:t>3.1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957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Solo atención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761488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q, k, v, o en las 8 capas de atención completa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84048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>
                <a:solidFill>
                  <a:srgbClr val="F59E0B"/>
                </a:solidFill>
                <a:latin typeface="Segoe UI Semibold"/>
              </a:rPr>
              <a:t>30.5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85876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B1F3A"/>
                </a:solidFill>
                <a:latin typeface="Segoe UI Semibold"/>
              </a:rPr>
              <a:t>Todas las capas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224528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Segoe UI"/>
              </a:rPr>
              <a:t>+ atención lineal en 24 capas + MLP en las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9F8E"/>
                </a:solidFill>
                <a:latin typeface="Segoe UI Semibold"/>
              </a:rPr>
              <a:t>04 · ARQUITECTURA</a:t>
            </a:r>
          </a:p>
        </p:txBody>
      </p:sp>
      <p:sp>
        <p:nvSpPr>
          <p:cNvPr id="3" name="Titulo"/>
          <p:cNvSpPr txBox="1"/>
          <p:nvPr/>
        </p:nvSpPr>
        <p:spPr>
          <a:xfrm>
            <a:off x="548640" y="530352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0B1F3A"/>
                </a:solidFill>
                <a:latin typeface="Segoe UI Semibold"/>
              </a:rPr>
              <a:t>Del mensaje del usuario a la respuesta con acceso a los datos</a:t>
            </a:r>
          </a:p>
        </p:txBody>
      </p:sp>
      <p:pic>
        <p:nvPicPr>
          <p:cNvPr id="4" name="Picture 3" descr="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87" y="1051560"/>
            <a:ext cx="1007872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ulo">
            <a:extLst>
              <a:ext uri="{FF2B5EF4-FFF2-40B4-BE49-F238E27FC236}">
                <a16:creationId xmlns:a16="http://schemas.microsoft.com/office/drawing/2014/main" id="{98069699-DD21-1C83-866A-0A62A483EA3B}"/>
              </a:ext>
            </a:extLst>
          </p:cNvPr>
          <p:cNvSpPr txBox="1"/>
          <p:nvPr/>
        </p:nvSpPr>
        <p:spPr>
          <a:xfrm>
            <a:off x="699714" y="5490971"/>
            <a:ext cx="6962072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Prompt Aumentado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3BFE040-95CF-9019-422B-BD27B8F4D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" y="668069"/>
            <a:ext cx="11327549" cy="396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445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o_port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14884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>
                <a:solidFill>
                  <a:srgbClr val="F59E0B"/>
                </a:solidFill>
                <a:latin typeface="Segoe UI Semibold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Segoe UI Semibold"/>
              </a:rPr>
              <a:t>Demo</a:t>
            </a:r>
          </a:p>
        </p:txBody>
      </p:sp>
      <p:sp>
        <p:nvSpPr>
          <p:cNvPr id="5" name="TextBox 4">
            <a:hlinkClick r:id="rId4"/>
          </p:cNvPr>
          <p:cNvSpPr txBox="1"/>
          <p:nvPr/>
        </p:nvSpPr>
        <p:spPr>
          <a:xfrm>
            <a:off x="822960" y="3977639"/>
            <a:ext cx="512064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CBD5E1"/>
                </a:solidFill>
                <a:latin typeface="Segoe UI"/>
              </a:rPr>
              <a:t>El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asistente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en</a:t>
            </a:r>
            <a:r>
              <a:rPr sz="18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1800" b="0" i="0" dirty="0" err="1">
                <a:solidFill>
                  <a:srgbClr val="CBD5E1"/>
                </a:solidFill>
                <a:latin typeface="Segoe UI"/>
              </a:rPr>
              <a:t>acción</a:t>
            </a:r>
            <a:r>
              <a:rPr lang="es-ES" sz="1800" b="0" i="0" dirty="0">
                <a:solidFill>
                  <a:srgbClr val="CBD5E1"/>
                </a:solidFill>
                <a:latin typeface="Segoe UI"/>
              </a:rPr>
              <a:t>.</a:t>
            </a:r>
          </a:p>
          <a:p>
            <a:pPr algn="l"/>
            <a:endParaRPr lang="es-ES" dirty="0">
              <a:solidFill>
                <a:srgbClr val="CBD5E1"/>
              </a:solidFill>
              <a:latin typeface="Segoe UI"/>
            </a:endParaRPr>
          </a:p>
          <a:p>
            <a:pPr algn="l"/>
            <a:r>
              <a:rPr lang="es-ES" sz="1800" b="0" i="0" dirty="0">
                <a:solidFill>
                  <a:srgbClr val="CBD5E1"/>
                </a:solidFill>
                <a:latin typeface="Segoe UI"/>
              </a:rPr>
              <a:t>Link:</a:t>
            </a:r>
          </a:p>
          <a:p>
            <a:pPr algn="l"/>
            <a:endParaRPr lang="es-ES" dirty="0">
              <a:solidFill>
                <a:srgbClr val="CBD5E1"/>
              </a:solidFill>
              <a:latin typeface="Segoe UI"/>
            </a:endParaRPr>
          </a:p>
          <a:p>
            <a:r>
              <a:rPr lang="es-PE" dirty="0">
                <a:solidFill>
                  <a:srgbClr val="CBD5E1"/>
                </a:solidFill>
                <a:latin typeface="Segoe UI"/>
              </a:rPr>
              <a:t>https://laptop-bb3a7uht.tail80d628.ts.net/</a:t>
            </a:r>
            <a:endParaRPr sz="1800" b="0" i="0" dirty="0">
              <a:solidFill>
                <a:srgbClr val="CBD5E1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Segoe UI"/>
              </a:rPr>
              <a:t>Kalish Manta Analytics  ·  Roberto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CBD5E1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ondo_port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11716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0" i="0" dirty="0">
                <a:solidFill>
                  <a:srgbClr val="FFFFFF"/>
                </a:solidFill>
                <a:latin typeface="Segoe UI Semibold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493" y="2433320"/>
            <a:ext cx="6035040" cy="1785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CBD5E1"/>
                </a:solidFill>
                <a:latin typeface="Segoe UI"/>
              </a:rPr>
              <a:t>Kalish Manta Analytics: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datos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para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investigar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, a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una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conversación</a:t>
            </a:r>
            <a:r>
              <a:rPr sz="2000" b="0" i="0" dirty="0">
                <a:solidFill>
                  <a:srgbClr val="CBD5E1"/>
                </a:solidFill>
                <a:latin typeface="Segoe UI"/>
              </a:rPr>
              <a:t> de </a:t>
            </a:r>
            <a:r>
              <a:rPr sz="2000" b="0" i="0" dirty="0" err="1">
                <a:solidFill>
                  <a:srgbClr val="CBD5E1"/>
                </a:solidFill>
                <a:latin typeface="Segoe UI"/>
              </a:rPr>
              <a:t>distancia</a:t>
            </a:r>
            <a:r>
              <a:rPr lang="es-ES" sz="2000" b="0" i="0" dirty="0">
                <a:solidFill>
                  <a:srgbClr val="CBD5E1"/>
                </a:solidFill>
                <a:latin typeface="Segoe UI"/>
              </a:rPr>
              <a:t>.</a:t>
            </a:r>
          </a:p>
          <a:p>
            <a:pPr algn="l"/>
            <a:endParaRPr lang="es-ES" sz="2000" dirty="0">
              <a:solidFill>
                <a:srgbClr val="CBD5E1"/>
              </a:solidFill>
              <a:latin typeface="Segoe UI"/>
            </a:endParaRPr>
          </a:p>
          <a:p>
            <a:pPr algn="l"/>
            <a:r>
              <a:rPr lang="es-ES" sz="2000" b="0" i="0" dirty="0">
                <a:solidFill>
                  <a:srgbClr val="CBD5E1"/>
                </a:solidFill>
                <a:latin typeface="Segoe UI"/>
              </a:rPr>
              <a:t>Link de </a:t>
            </a:r>
            <a:r>
              <a:rPr lang="es-ES" sz="2000" dirty="0">
                <a:solidFill>
                  <a:srgbClr val="CBD5E1"/>
                </a:solidFill>
                <a:latin typeface="Segoe UI"/>
              </a:rPr>
              <a:t>G</a:t>
            </a:r>
            <a:r>
              <a:rPr lang="es-ES" sz="2000" b="0" i="0" dirty="0">
                <a:solidFill>
                  <a:srgbClr val="CBD5E1"/>
                </a:solidFill>
                <a:latin typeface="Segoe UI"/>
              </a:rPr>
              <a:t>itHub</a:t>
            </a:r>
          </a:p>
          <a:p>
            <a:pPr algn="l"/>
            <a:endParaRPr lang="es-ES" sz="2000" b="0" i="0" dirty="0">
              <a:solidFill>
                <a:srgbClr val="CBD5E1"/>
              </a:solidFill>
              <a:latin typeface="Segoe UI"/>
            </a:endParaRPr>
          </a:p>
          <a:p>
            <a:r>
              <a:rPr lang="es-PE" sz="1600" dirty="0">
                <a:solidFill>
                  <a:srgbClr val="CBD5E1"/>
                </a:solidFill>
                <a:latin typeface="Segoe UI"/>
              </a:rPr>
              <a:t>https://github.com/Robertopucp/RAGCentralDatabaseEconomy</a:t>
            </a:r>
            <a:endParaRPr sz="1600" b="0" i="0" dirty="0">
              <a:solidFill>
                <a:srgbClr val="CBD5E1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3360" y="5166789"/>
            <a:ext cx="4206240" cy="914400"/>
          </a:xfrm>
          <a:prstGeom prst="roundRect">
            <a:avLst>
              <a:gd name="adj" fmla="val 18000"/>
            </a:avLst>
          </a:prstGeom>
          <a:solidFill>
            <a:srgbClr val="1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9120" y="5441109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FFFFFF"/>
                </a:solidFill>
                <a:latin typeface="Segoe UI Semibold"/>
              </a:rPr>
              <a:t>Roberto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3475</Words>
  <Application>Microsoft Office PowerPoint</Application>
  <PresentationFormat>Panorámica</PresentationFormat>
  <Paragraphs>361</Paragraphs>
  <Slides>23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Segoe UI</vt:lpstr>
      <vt:lpstr>Segoe UI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roberto mendoza matos</cp:lastModifiedBy>
  <cp:revision>14</cp:revision>
  <dcterms:created xsi:type="dcterms:W3CDTF">2013-01-27T09:14:16Z</dcterms:created>
  <dcterms:modified xsi:type="dcterms:W3CDTF">2026-10-23T01:27:55Z</dcterms:modified>
  <cp:category/>
</cp:coreProperties>
</file>