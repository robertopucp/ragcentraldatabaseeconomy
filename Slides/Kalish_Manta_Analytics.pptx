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a:solidFill>
                  <a:srgbClr val="0B1F3A"/>
                </a:solidFill>
                <a:latin typeface="Segoe UI Semibold"/>
              </a:rPr>
              <a:t>300 conversaciones nuevas por tipo</a:t>
            </a:r>
          </a:p>
        </c:rich>
      </c:tx>
      <c:layout/>
      <c:overlay val="0"/>
    </c:title>
    <c:autoTitleDeleted val="0"/>
    <c:plotArea>
      <c:barChart>
        <c:barDir val="bar"/>
        <c:grouping val="clustered"/>
        <c:ser>
          <c:idx val="0"/>
          <c:order val="0"/>
          <c:tx>
            <c:strRef>
              <c:f>Sheet1!$B$1</c:f>
              <c:strCache>
                <c:ptCount val="1"/>
                <c:pt idx="0">
                  <c:v>Conversaciones</c:v>
                </c:pt>
              </c:strCache>
            </c:strRef>
          </c:tx>
          <c:spPr>
            <a:solidFill>
              <a:srgbClr val="0E9F8E"/>
            </a:solidFill>
          </c:spPr>
          <c:cat>
            <c:strRef>
              <c:f>Sheet1!$A$2:$A$10</c:f>
              <c:strCache>
                <c:ptCount val="9"/>
                <c:pt idx="0">
                  <c:v>Dos turnos</c:v>
                </c:pt>
                <c:pt idx="1">
                  <c:v>Despedida</c:v>
                </c:pt>
                <c:pt idx="2">
                  <c:v>Catálogo</c:v>
                </c:pt>
                <c:pt idx="3">
                  <c:v>Dos temas</c:v>
                </c:pt>
                <c:pt idx="4">
                  <c:v>Base no disponible</c:v>
                </c:pt>
                <c:pt idx="5">
                  <c:v>Falta información</c:v>
                </c:pt>
                <c:pt idx="6">
                  <c:v>Saludo</c:v>
                </c:pt>
                <c:pt idx="7">
                  <c:v>Fuera de alcance</c:v>
                </c:pt>
                <c:pt idx="8">
                  <c:v>Consulta por base</c:v>
                </c:pt>
              </c:strCache>
            </c:strRef>
          </c:cat>
          <c:val>
            <c:numRef>
              <c:f>Sheet1!$B$2:$B$10</c:f>
              <c:numCache>
                <c:formatCode>General</c:formatCode>
                <c:ptCount val="9"/>
                <c:pt idx="0">
                  <c:v>8</c:v>
                </c:pt>
                <c:pt idx="1">
                  <c:v>10</c:v>
                </c:pt>
                <c:pt idx="2">
                  <c:v>16</c:v>
                </c:pt>
                <c:pt idx="3">
                  <c:v>20</c:v>
                </c:pt>
                <c:pt idx="4">
                  <c:v>20</c:v>
                </c:pt>
                <c:pt idx="5">
                  <c:v>25</c:v>
                </c:pt>
                <c:pt idx="6">
                  <c:v>25</c:v>
                </c:pt>
                <c:pt idx="7">
                  <c:v>30</c:v>
                </c:pt>
                <c:pt idx="8">
                  <c:v>146</c:v>
                </c:pt>
              </c:numCache>
            </c:numRef>
          </c:val>
        </c:ser>
        <c:dLbls>
          <c:txPr>
            <a:bodyPr/>
            <a:lstStyle/>
            <a:p>
              <a:pPr>
                <a:defRPr sz="1200">
                  <a:solidFill>
                    <a:srgbClr val="1E293B"/>
                  </a:solidFill>
                  <a:latin typeface="Segoe U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solidFill>
                  <a:srgbClr val="1E293B"/>
                </a:solidFill>
                <a:latin typeface="Segoe UI"/>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Apertura. Presentarse como Roberto, creador del proyecto.</a:t>
            </a:r>
          </a:p>
          <a:p>
            <a:r>
              <a:t>Mensaje central: Kalish Manta Analytics es un chatbot con IA generativa que ayuda a investigadores, sobre todo estudiantes, a encontrar y usar bases de datos de economía y ciencias sociales del Perú.</a:t>
            </a:r>
          </a:p>
          <a:p>
            <a:r>
              <a:t>Todo el sistema corre en una laptop, con modelos abiertos y sin pagar APIs.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Recorrido de la presentación: primero el porqué (propósito y problema), luego el qué (los datos), después el cómo (tecnología y arquitectura), cómo aseguramos la calidad de las respuestas y, al final, la demo, el repositorio y los próximos pasos.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chatbot está entrenado con información detallada de bases de datos económicas y de ciencias sociales. Su objetivo es entregar esa información de forma efectiva a investigadores de cualquier nivel de seniority, con foco principal en estudiantes, que son quienes más dificultades tienen para encontrar datos.</a:t>
            </a:r>
          </a:p>
          <a:p>
            <a:r>
              <a:t>Puntos a resaltar: no reemplaza al investigador; lo orienta (qué base usar, qué variables trae, periodo, limitaciones) y le entrega el acceso directo a los archivos.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problema central de la investigación en ciencias sociales en el Perú es la limitada fuente de datos: existen datos públicos, pero están dispersos en distintas instituciones, en formatos heterogéneos, sin documentación clara y requieren mucho tiempo de limpieza antes de poder usarse.</a:t>
            </a:r>
          </a:p>
          <a:p>
            <a:r>
              <a:t>La solución: un chat que entiende la pregunta de investigación y entrega acceso a bases ya procesadas y documentadas.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Flujo desde el punto de vista del usuario.</a:t>
            </a:r>
          </a:p>
          <a:p>
            <a:r>
              <a:t>1) Escribe el abstract, la hipótesis o el objetivo de su trabajo.</a:t>
            </a:r>
          </a:p>
          <a:p>
            <a:r>
              <a:t>2) El asistente responde con la base o bases relevantes: qué contienen, periodo, nivel geográfico, variables y advertencias.</a:t>
            </a:r>
          </a:p>
          <a:p>
            <a:r>
              <a:t>3) Debajo de la respuesta aparece el link de acceso a la carpeta de Dropbox con los datos y la ficha en PDF.</a:t>
            </a:r>
          </a:p>
          <a:p>
            <a:r>
              <a:t>Si el mensaje es un saludo o una pregunta fuera de alcance, el asistente responde sin links y pide el contexto de la investigación.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Transición a los datos: qué bases tiene el catálogo y por qué la ficha en PDF es la pieza clave del RAG.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mayoría de bases provienen de fuentes públicas oficiales: INEI, MINEDU (Censo Escolar, SíseVe), MININTER (SIDPOL), Ministerio Público (RENADESPLE), SENAMHI, MTC, RAISG, Proética/Ipsos y Google Earth Engine.</a:t>
            </a:r>
          </a:p>
          <a:p>
            <a:r>
              <a:t>El valor agregado es el procesamiento: paneles construidos, variables renombradas, archivos en Stata, SPSS, Excel, CSV o shapefile, listos para análisis.</a:t>
            </a:r>
          </a:p>
          <a:p>
            <a:r>
              <a:t>Punto clave para el RAG: cada base tiene un PDF que la describe con todo detalle.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Recorrer el catálogo por tema. Ejemplos de preguntas que habilita: deserción escolar y pobreza distrital, productividad de empresas ante El Niño, criminalidad y georreferenciación, actividad económica con luces nocturnas, corrupción y economías ilícitas.</a:t>
            </a:r>
          </a:p>
          <a:p>
            <a:r>
              <a:t>El catálogo completo está en la pestaña Catálogo de la web y también va dentro del system prompt, para que el modelo nunca invente nombres de bases.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base de datos tiene un PDF de descripción con estructura uniforme: nombre, resumen, ficha rápida (tema, unidad, cobertura, periodo, formato, tamaño, llave para unir), palabras clave, preguntas que responde, archivos, variables, notas de uso y, al final, fuente y link de Dropbox.</a:t>
            </a:r>
          </a:p>
          <a:p>
            <a:r>
              <a:t>En el RAG: el texto se indexa en FAISS; la línea Nombre de base de datos se usa como título en el catálogo y en los links; el link de Dropbox se extrae de los hipervínculos del PDF y va a la metadata, nunca lo escribe el LLM.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Transición al cómo: las piezas tecnológicas y por qué se eligió cada una.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Vista general por capas.</a:t>
            </a:r>
          </a:p>
          <a:p>
            <a:r>
              <a:t>Interfaz: Streamlit (app.py) y FastAPI opcional (src/main.py); acceso público con Tailscale Funnel.</a:t>
            </a:r>
          </a:p>
          <a:p>
            <a:r>
              <a:t>Orquestación: LangChain (Document, RecursiveCharacterTextSplitter, FAISS, interfaz Embeddings).</a:t>
            </a:r>
          </a:p>
          <a:p>
            <a:r>
              <a:t>Vector database: FAISS en disco (data/vectorstore/faiss_index).</a:t>
            </a:r>
          </a:p>
          <a:p>
            <a:r>
              <a:t>Embeddings: qwen3-embedding:4b descargado con Ollama.</a:t>
            </a:r>
          </a:p>
          <a:p>
            <a:r>
              <a:t>LLM: Qwen3.5-4B ajustado con QLoRA usando Unsloth, cargado en 4 bits con transformers y bitsandbytes.</a:t>
            </a:r>
          </a:p>
          <a:p>
            <a:r>
              <a:t>Infraestructura: laptop con GPU NVIDIA RTX 5050 de 8 GB, CUDA 13 y PyTorch 2.14.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hace LangChain en los scripts (src/rag_service.py y src/pdf_reader.py):</a:t>
            </a:r>
          </a:p>
          <a:p>
            <a:r>
              <a:t>1) PDFReader (pypdf) extrae el texto de cada ficha conservando tildes, mayúsculas y puntuación; quita la sección de fuente y URLs; extrae el título y el link de Dropbox.</a:t>
            </a:r>
          </a:p>
          <a:p>
            <a:r>
              <a:t>2) Cada ficha se convierte en un Document de LangChain con metadata.</a:t>
            </a:r>
          </a:p>
          <a:p>
            <a:r>
              <a:t>3) RecursiveCharacterTextSplitter divide en chunks de 900 caracteres con 100 de solape, cortando primero por párrafo, luego línea, oración y palabra. Resultado: 75 chunks.</a:t>
            </a:r>
          </a:p>
          <a:p>
            <a:r>
              <a:t>4) A cada chunk se le asigna chunk_id (posición en su PDF).</a:t>
            </a:r>
          </a:p>
          <a:p>
            <a:r>
              <a:t>5) FAISS.from_documents calcula los embeddings con la clase QWEN3Embeddings (implementa la interfaz Embeddings de LangChain) y guarda el índice con save_local.</a:t>
            </a:r>
          </a:p>
          <a:p>
            <a:r>
              <a:t>6) En cada consulta: load_local, similarity_search_with_score y armado del contexto.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modelo de embeddings es qwen3-embedding:4b, descargado localmente con Ollama (ollama pull qwen3-embedding:4b) y llamado desde Python con ollama.embed.</a:t>
            </a:r>
          </a:p>
          <a:p>
            <a:r>
              <a:t>Produce vectores de 2560 dimensiones normalizados (norma 1, verificado con src/testinglib.py).</a:t>
            </a:r>
          </a:p>
          <a:p>
            <a:r>
              <a:t>Los chunks se vectorizan sin instrucción; las consultas llevan la instrucción “Dada la consulta de un investigador, recupera las fichas de bases de datos que contienen los datos que necesita”, como recomienda Qwen3-Embedding.</a:t>
            </a:r>
          </a:p>
          <a:p>
            <a:r>
              <a:t>Corre en CPU (EMBEDDING_NUM_GPU=0): 0.24 s por consulta y la GPU queda libre para el LLM. Antes, compartir la GPU volvía muy lenta la generación.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FAISS (IndexFlatL2) devuelve la distancia euclidiana al cuadrado entre el vector de la consulta y cada chunk. Con vectores de norma 1, d² = 2 − 2·cos, por eso la similitud coseno es 1 − d²/2 (rag_service.search).</a:t>
            </a:r>
          </a:p>
          <a:p>
            <a:r>
              <a:t>Reglas de selección:</a:t>
            </a:r>
          </a:p>
          <a:p>
            <a:r>
              <a:t>1) Se ordenan todos los chunks del índice.</a:t>
            </a:r>
          </a:p>
          <a:p>
            <a:r>
              <a:t>2) Umbral mínimo 0.53: medido con el índice actual, las consultas válidas dan 0.60 o más y los saludos o temas ajenos 0.47 o menos.</a:t>
            </a:r>
          </a:p>
          <a:p>
            <a:r>
              <a:t>3) Margen 0.10: solo entran chunks a menos de 0.10 del mejor, para no traer bases poco relacionadas.</a:t>
            </a:r>
          </a:p>
          <a:p>
            <a:r>
              <a:t>4) Máximo 3 bases distintas; de cada una, su ficha rápida (chunk 0) más su chunk más parecido, sin repetir texto.</a:t>
            </a:r>
          </a:p>
          <a:p>
            <a:r>
              <a:t>Si nada supera el umbral, no hay contexto ni links: el asistente pide más detalle o declina.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Qwen3.5-4B (versión de Unsloth en Hugging Face) tiene 4.54 mil millones de parámetros y una arquitectura híbrida: de sus 32 capas, 8 usan atención completa (proyecciones q, k, v, o) y 24 usan atención lineal (in_proj_qkv, in_proj_z, out_proj); todas tienen MLP (gate, up, down).</a:t>
            </a:r>
          </a:p>
          <a:p>
            <a:r>
              <a:t>En producción se carga con transformers en 4 bits NF4 (bitsandbytes), unos 3.5 GB de VRAM.</a:t>
            </a:r>
          </a:p>
          <a:p>
            <a:r>
              <a:t>Modo no thinking: la plantilla de chat guardada se modificó para que nunca genere bloques &lt;think&gt;.</a:t>
            </a:r>
          </a:p>
          <a:p>
            <a:r>
              <a:t>Generación: temperatura 0.2, top-p 0.9, hasta 1024 tokens nuevos; una sola generación a la vez en la GPU (lock) para atender a varios usuarios.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QLoRA: el modelo base queda congelado y cuantizado a 4 bits; solo se entrenan adaptadores LoRA, dos matrices pequeñas A y B por capa adaptada. La salida de cada capa es W·x + (alpha/r)·B·A·x.</a:t>
            </a:r>
          </a:p>
          <a:p>
            <a:r>
              <a:t>Unsloth acelera el entrenamiento y reduce memoria: kernels optimizados, gradient checkpointing propio (recalcula activaciones en el backward), cross-entropy por partes (UNSLOTH_CE_LOSS_TARGET_GB=0.2) y descarga inteligente de gradientes.</a:t>
            </a:r>
          </a:p>
          <a:p>
            <a:r>
              <a:t>Detalles del notebook 2: SFTTrainer de TRL, train_on_responses_only (el loss solo cuenta las respuestas del asistente), AdamW de 8 bits, scheduler lineal, batch 1 con acumulación de gradientes, bf16, semilla 3407, split 80/10/10 y largo máximo 2560 tokens.</a:t>
            </a:r>
          </a:p>
          <a:p>
            <a:r>
              <a:t>Al final se fusionan los adaptadores con el modelo en 16 bits (save_pretrained_merged) y se fija la plantilla sin thinking.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Ronda A (hiperparámetros, LoRA solo en atención): 3 épocas con batch efectivo 8, alpha 16, warmup 10, weight decay 0.01, frente a 6 épocas con batch efectivo 16, alpha 32, warmup 20 y weight decay 0.1. Con batch 16, las 6 épocas dan el mismo número de pasos de optimización que las 3 épocas con batch 8.</a:t>
            </a:r>
          </a:p>
          <a:p>
            <a:r>
              <a:t>Ronda B (capas): con los hiperparámetros ganadores, LoRA solo en atención (3.1 millones de parámetros) frente a todas las capas lineales (30.5 millones), como recomienda el paper de QLoRA.</a:t>
            </a:r>
          </a:p>
          <a:p>
            <a:r>
              <a:t>Una sola carga: en 8 GB no cabe una copia nueva por experimento. Los adaptadores se insertan una vez en todas las capas; antes de cada experimento se restauran los pesos iniciales, se activan solo las capas de esa configuración y se fija alpha/r. Verificado en la GPU: los adaptadores congelados no cambian.</a:t>
            </a:r>
          </a:p>
          <a:p>
            <a:r>
              <a:t>Se elige por menor validation loss y el ganador se evalúa en test. Completar aquí los resultados de la corrida final.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Hardware: laptop con NVIDIA GeForce RTX 5050 Laptop GPU de 8 GB (arquitectura Blackwell, sm_120), driver 591.91, Windows.</a:t>
            </a:r>
          </a:p>
          <a:p>
            <a:r>
              <a:t>Software: PyTorch 2.14.1 compilado para CUDA 13 (cu130), Triton para Windows 3.8, bitsandbytes 0.50.2, Unsloth 2026.10.6, Transformers 5.20.1, TRL 1.16, PEFT 0.21.2.</a:t>
            </a:r>
          </a:p>
          <a:p>
            <a:r>
              <a:t>Blackwell necesita PyTorch 2.7 o superior con CUDA 12.8 o superior; por eso se instala torch desde el índice cu130 y Unsloth con --no-deps para no reemplazarlo.</a:t>
            </a:r>
          </a:p>
          <a:p>
            <a:r>
              <a:t>Lecciones de memoria: cargar el modelo una sola vez por sesión, embeddings en CPU, cross-entropy por partes y medir el pico de VRAM antes de entrenar.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Recorrido de una consulta (franja superior, pasos 1 a 9):</a:t>
            </a:r>
          </a:p>
          <a:p>
            <a:r>
              <a:t>1) El usuario escribe su abstract, hipótesis u objetivo en la web.</a:t>
            </a:r>
          </a:p>
          <a:p>
            <a:r>
              <a:t>2) La web en Streamlit (app.py) recibe el mensaje; el link público lo da Tailscale Funnel.</a:t>
            </a:r>
          </a:p>
          <a:p>
            <a:r>
              <a:t>3) ChatbotService (llm_service.py) recupera la memoria de la sesión y registrará la interacción en JSONL.</a:t>
            </a:r>
          </a:p>
          <a:p>
            <a:r>
              <a:t>4) El mensaje se convierte en un vector con qwen3-embedding:4b en Ollama (CPU), con instrucción de búsqueda.</a:t>
            </a:r>
          </a:p>
          <a:p>
            <a:r>
              <a:t>5) FAISS compara ese vector con los 75 chunks: similitud coseno, umbral 0.53 y margen 0.10.</a:t>
            </a:r>
          </a:p>
          <a:p>
            <a:r>
              <a:t>6) Augmentation: por cada base (máx. 3) se toma su ficha rápida y su chunk más parecido, sin repetir texto.</a:t>
            </a:r>
          </a:p>
          <a:p>
            <a:r>
              <a:t>7) Se arma el system prompt: rol, catálogo completo, reglas y fichas, más el historial.</a:t>
            </a:r>
          </a:p>
          <a:p>
            <a:r>
              <a:t>8) Qwen3.5-4B fine-tuned genera la respuesta en modo no thinking.</a:t>
            </a:r>
          </a:p>
          <a:p>
            <a:r>
              <a:t>9) Debajo de la respuesta se agregan los links de Dropbox desde la metadata.</a:t>
            </a:r>
          </a:p>
          <a:p>
            <a:r>
              <a:t>Franjas inferiores: indexación offline (notebook 1) y fine-tuning offline (notebook 2).</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Versión textual del diagrama, para explicar cada paso con calma. Tiempo típico: el embedding tarda 0.24 s; la generación del LLM es la parte más larga y depende del largo de la respuesta.</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Transición: la parte más importante de la experiencia es la confianza. Aquí se explica qué problemas aparecieron en producción y cómo se corrigieron.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Síntomas observados en producción: respondía saludos con un link, mencionaba seguridad ciudadana sin motivo, listaba solo tres bases e inventaba nombres de variables y cifras (por ejemplo, denuncia_policial, tipo_fi, 80 mil registros).</a:t>
            </a:r>
          </a:p>
          <a:p>
            <a:r>
              <a:t>Causas encontradas al auditar el dataset original de 267 conversaciones: el 33% de las respuestas escribía links; ninguna conversación tenía el contexto del RAG, así que el modelo aprendió a responder de memoria; y había aperturas repetidas (64 respuestas empezaban con “¡Hola”).</a:t>
            </a:r>
          </a:p>
          <a:p>
            <a:r>
              <a:t>Además, el texto de las fichas estaba normalizado (sin tildes ni puntuación) y los saludos alcanzaban el umbral de similitud.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Datos en el formato exacto de producción: cada conversación nueva lleva el mismo system prompt que la web (catálogo, reglas y fichas recuperadas por el RAG real).</a:t>
            </a:r>
          </a:p>
          <a:p>
            <a:r>
              <a:t>2) 300 conversaciones nuevas escritas a partir de las 15 fichas PDF, sin nada inventado.</a:t>
            </a:r>
          </a:p>
          <a:p>
            <a:r>
              <a:t>3) Links fuera del modelo: se quitaron del dataset original y el código los agrega desde la metadata, solo cuando hay fichas.</a:t>
            </a:r>
          </a:p>
          <a:p>
            <a:r>
              <a:t>4) Variedad de formas: distintas aperturas, longitudes y estructuras, y respuestas honestas cuando la ficha no trae un dato.</a:t>
            </a:r>
          </a:p>
          <a:p>
            <a:r>
              <a:t>5) Recuperación más precisa: texto original de las fichas, instrucción en la consulta, umbral 0.53 y margen 0.10.</a:t>
            </a:r>
          </a:p>
          <a:p>
            <a:r>
              <a:t>6) Ejemplos sin contexto (123): saludos, preguntas fuera de alcance y catálogo, respondidos sin links.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Proceso de src/construir_dataset_rag.py:</a:t>
            </a:r>
          </a:p>
          <a:p>
            <a:r>
              <a:t>1) Las conversaciones se escriben en data/Finetuning/conversaciones_rag.md, en un formato legible (categoría, bases esperadas, usuario y asistente).</a:t>
            </a:r>
          </a:p>
          <a:p>
            <a:r>
              <a:t>2) Para cada conversación, el script ejecuta el RAG real sobre el último mensaje del usuario y arma el system prompt exacto de producción.</a:t>
            </a:r>
          </a:p>
          <a:p>
            <a:r>
              <a:t>3) Cuatro verificaciones automáticas: que se recuperen las bases esperadas (o ninguna en saludos), que cada número, sigla y variable de la respuesta esté en las fichas, que no haya links y que la conversación quepa en 2560 tokens.</a:t>
            </a:r>
          </a:p>
          <a:p>
            <a:r>
              <a:t>4) Si algo falla, se corrige la conversación y se vuelve a ejecutar. Las 300 pasan.</a:t>
            </a:r>
          </a:p>
          <a:p>
            <a:r>
              <a:t>5) Se une con las 267 originales sin links: 567 conversaciones en data/Finetuning/dataset_EconData.jsonl.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300 conversaciones nuevas cubren todos los comportamientos que el asistente debe tener: 146 consultas por base (cerca de 10 por cada una de las 15 bases), 20 de dos temas, 20 de bases que no están en el catálogo, 25 saludos, 30 fuera de alcance, 16 de catálogo, 25 con falta de información, 10 despedidas y 8 de dos turnos.</a:t>
            </a:r>
          </a:p>
          <a:p>
            <a:r>
              <a:t>123 conversaciones no recuperan fichas: enseñan a responder sin links. 0 respuestas con links y 0 datos fuera de las fichas.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el sistema corre en una laptop: la web en Streamlit, Ollama con el modelo de embeddings, el índice FAISS en disco y el LLM en la GPU. No se usan APIs pagadas ni servicios en la nube para la IA.</a:t>
            </a:r>
          </a:p>
          <a:p>
            <a:r>
              <a:t>Acceso público: Tailscale Funnel publica el puerto 8501 con HTTPS y una URL fija; el tráfico llega cifrado a la laptop. Mientras la laptop, Streamlit y Ollama estén activos, cualquier persona puede usar el chat.</a:t>
            </a:r>
          </a:p>
          <a:p>
            <a:r>
              <a:t>Cada interacción se guarda en data/interacciones/interacciones.jsonl (excluido de GitHub) para evaluar y mejorar el asistente.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Transición a la demostración en vivo o con capturas de la web.</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Reemplazar el recuadro por capturas de la web: pestaña Consulta con una pregunta real y su respuesta con links, y pestaña Catálogo. Mostrar también los sliders de configuración y su explicación.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Completar con el link del repositorio en GitHub y la URL pública de Tailscale Funnel. Opcional: agregar un código QR para que el auditorio entre desde el celular.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Set de evaluación con 20 a 30 preguntas reales y su base esperada, para medir la recuperación (hit rate) y la calidad de las respuestas con números.</a:t>
            </a:r>
          </a:p>
          <a:p>
            <a:r>
              <a:t>2) Usar el registro de interacciones para encontrar preguntas frecuentes y casos de error.</a:t>
            </a:r>
          </a:p>
          <a:p>
            <a:r>
              <a:t>3) Ampliar el catálogo con nuevas bases y sus fichas PDF (solo se reindexa).</a:t>
            </a:r>
          </a:p>
          <a:p>
            <a:r>
              <a:t>4) Reescribir las 267 conversaciones originales en formato RAG.</a:t>
            </a:r>
          </a:p>
          <a:p>
            <a:r>
              <a:t>5) Evaluar despliegue en un servidor con GPU para disponibilidad continua.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y preguntas. Invitar a probar la web y a revisar el repositorio.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9.png"/><Relationship Id="rId7"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1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1.png"/><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7.png"/><Relationship Id="rId7"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png"/><Relationship Id="rId6" Type="http://schemas.openxmlformats.org/officeDocument/2006/relationships/image" Target="../media/image23.png"/><Relationship Id="rId7" Type="http://schemas.openxmlformats.org/officeDocument/2006/relationships/image" Target="../media/image16.png"/><Relationship Id="rId8"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4.png"/><Relationship Id="rId6" Type="http://schemas.openxmlformats.org/officeDocument/2006/relationships/image" Target="../media/image3.png"/><Relationship Id="rId7"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5.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4.png"/><Relationship Id="rId4" Type="http://schemas.openxmlformats.org/officeDocument/2006/relationships/image" Target="../media/image26.png"/><Relationship Id="rId5" Type="http://schemas.openxmlformats.org/officeDocument/2006/relationships/image" Target="../media/image3.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7.png"/><Relationship Id="rId6"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0.png"/><Relationship Id="rId4" Type="http://schemas.openxmlformats.org/officeDocument/2006/relationships/image" Target="../media/image19.png"/><Relationship Id="rId5" Type="http://schemas.openxmlformats.org/officeDocument/2006/relationships/image" Target="../media/image17.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19.png"/><Relationship Id="rId4" Type="http://schemas.openxmlformats.org/officeDocument/2006/relationships/image" Target="../media/image5.png"/><Relationship Id="rId5" Type="http://schemas.openxmlformats.org/officeDocument/2006/relationships/image" Target="../media/image15.png"/><Relationship Id="rId6" Type="http://schemas.openxmlformats.org/officeDocument/2006/relationships/image" Target="../media/image3.png"/><Relationship Id="rId7"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31.png"/><Relationship Id="rId8" Type="http://schemas.openxmlformats.org/officeDocument/2006/relationships/image" Target="../media/image28.png"/><Relationship Id="rId9" Type="http://schemas.openxmlformats.org/officeDocument/2006/relationships/image" Target="../media/image11.png"/><Relationship Id="rId10" Type="http://schemas.openxmlformats.org/officeDocument/2006/relationships/image" Target="../media/image3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4.png"/><Relationship Id="rId4"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5.png"/><Relationship Id="rId4" Type="http://schemas.openxmlformats.org/officeDocument/2006/relationships/image" Target="../media/image32.png"/><Relationship Id="rId5" Type="http://schemas.openxmlformats.org/officeDocument/2006/relationships/image" Target="../media/image3.png"/><Relationship Id="rId6" Type="http://schemas.openxmlformats.org/officeDocument/2006/relationships/image" Target="../media/image19.png"/><Relationship Id="rId7" Type="http://schemas.openxmlformats.org/officeDocument/2006/relationships/image" Target="../media/image3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portada.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1417320"/>
            <a:ext cx="6217920" cy="365760"/>
          </a:xfrm>
          <a:prstGeom prst="rect">
            <a:avLst/>
          </a:prstGeom>
          <a:noFill/>
        </p:spPr>
        <p:txBody>
          <a:bodyPr wrap="square" lIns="0" rIns="0" tIns="0" bIns="0" anchor="t">
            <a:spAutoFit/>
          </a:bodyPr>
          <a:lstStyle/>
          <a:p>
            <a:pPr algn="l"/>
            <a:r>
              <a:rPr sz="1400" b="1" i="0">
                <a:solidFill>
                  <a:srgbClr val="5EEAD4"/>
                </a:solidFill>
                <a:latin typeface="Segoe UI Semibold"/>
              </a:rPr>
              <a:t>IA GENERATIVA AL SERVICIO DE LA INVESTIGACIÓN</a:t>
            </a:r>
          </a:p>
        </p:txBody>
      </p:sp>
      <p:sp>
        <p:nvSpPr>
          <p:cNvPr id="4" name="TextBox 3"/>
          <p:cNvSpPr txBox="1"/>
          <p:nvPr/>
        </p:nvSpPr>
        <p:spPr>
          <a:xfrm>
            <a:off x="822960" y="1874519"/>
            <a:ext cx="6400800" cy="1737360"/>
          </a:xfrm>
          <a:prstGeom prst="rect">
            <a:avLst/>
          </a:prstGeom>
          <a:noFill/>
        </p:spPr>
        <p:txBody>
          <a:bodyPr wrap="square" lIns="0" rIns="0" tIns="0" bIns="0" anchor="t">
            <a:spAutoFit/>
          </a:bodyPr>
          <a:lstStyle/>
          <a:p>
            <a:pPr algn="l"/>
            <a:r>
              <a:rPr sz="5400" b="0" i="0">
                <a:solidFill>
                  <a:srgbClr val="FFFFFF"/>
                </a:solidFill>
                <a:latin typeface="Segoe UI Semibold"/>
              </a:rPr>
              <a:t>Kalish Manta Analytics</a:t>
            </a:r>
          </a:p>
        </p:txBody>
      </p:sp>
      <p:sp>
        <p:nvSpPr>
          <p:cNvPr id="5" name="TextBox 4"/>
          <p:cNvSpPr txBox="1"/>
          <p:nvPr/>
        </p:nvSpPr>
        <p:spPr>
          <a:xfrm>
            <a:off x="822960" y="3611880"/>
            <a:ext cx="6035040" cy="1005840"/>
          </a:xfrm>
          <a:prstGeom prst="rect">
            <a:avLst/>
          </a:prstGeom>
          <a:noFill/>
        </p:spPr>
        <p:txBody>
          <a:bodyPr wrap="square" lIns="0" rIns="0" tIns="0" bIns="0" anchor="t">
            <a:spAutoFit/>
          </a:bodyPr>
          <a:lstStyle/>
          <a:p>
            <a:pPr algn="l"/>
            <a:r>
              <a:rPr sz="2000" b="0" i="0">
                <a:solidFill>
                  <a:srgbClr val="CBD5E1"/>
                </a:solidFill>
                <a:latin typeface="Segoe UI"/>
              </a:rPr>
              <a:t>Un asistente que conecta a cada investigador con la base de datos que necesita, en una conversación</a:t>
            </a:r>
          </a:p>
        </p:txBody>
      </p:sp>
      <p:sp>
        <p:nvSpPr>
          <p:cNvPr id="6" name="Rounded Rectangle 5"/>
          <p:cNvSpPr/>
          <p:nvPr/>
        </p:nvSpPr>
        <p:spPr>
          <a:xfrm>
            <a:off x="822960" y="4892040"/>
            <a:ext cx="3017520" cy="777240"/>
          </a:xfrm>
          <a:prstGeom prst="roundRect">
            <a:avLst>
              <a:gd name="adj" fmla="val 18000"/>
            </a:avLst>
          </a:prstGeom>
          <a:solidFill>
            <a:srgbClr val="14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051560" y="4983480"/>
            <a:ext cx="2743200" cy="320040"/>
          </a:xfrm>
          <a:prstGeom prst="rect">
            <a:avLst/>
          </a:prstGeom>
          <a:noFill/>
        </p:spPr>
        <p:txBody>
          <a:bodyPr wrap="square" lIns="0" rIns="0" tIns="0" bIns="0" anchor="t">
            <a:spAutoFit/>
          </a:bodyPr>
          <a:lstStyle/>
          <a:p>
            <a:pPr algn="l"/>
            <a:r>
              <a:rPr sz="1100" b="0" i="0">
                <a:solidFill>
                  <a:srgbClr val="CBD5E1"/>
                </a:solidFill>
                <a:latin typeface="Segoe UI"/>
              </a:rPr>
              <a:t>Presentado por</a:t>
            </a:r>
          </a:p>
        </p:txBody>
      </p:sp>
      <p:sp>
        <p:nvSpPr>
          <p:cNvPr id="8" name="TextBox 7"/>
          <p:cNvSpPr txBox="1"/>
          <p:nvPr/>
        </p:nvSpPr>
        <p:spPr>
          <a:xfrm>
            <a:off x="1051560" y="5230368"/>
            <a:ext cx="2743200" cy="411480"/>
          </a:xfrm>
          <a:prstGeom prst="rect">
            <a:avLst/>
          </a:prstGeom>
          <a:noFill/>
        </p:spPr>
        <p:txBody>
          <a:bodyPr wrap="square" lIns="0" rIns="0" tIns="0" bIns="0" anchor="t">
            <a:spAutoFit/>
          </a:bodyPr>
          <a:lstStyle/>
          <a:p>
            <a:pPr algn="l"/>
            <a:r>
              <a:rPr sz="2000" b="0" i="0">
                <a:solidFill>
                  <a:srgbClr val="FFFFFF"/>
                </a:solidFill>
                <a:latin typeface="Segoe UI Semibold"/>
              </a:rPr>
              <a:t>Roberto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AGENDA</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Lo que veremos hoy</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a:t>
            </a:r>
          </a:p>
        </p:txBody>
      </p:sp>
      <p:sp>
        <p:nvSpPr>
          <p:cNvPr id="6" name="Rounded Rectangle 5"/>
          <p:cNvSpPr/>
          <p:nvPr/>
        </p:nvSpPr>
        <p:spPr>
          <a:xfrm>
            <a:off x="548640" y="1783080"/>
            <a:ext cx="3520440" cy="19202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22959" y="2057400"/>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idea.png"/>
          <p:cNvPicPr>
            <a:picLocks noChangeAspect="1"/>
          </p:cNvPicPr>
          <p:nvPr/>
        </p:nvPicPr>
        <p:blipFill>
          <a:blip r:embed="rId3"/>
          <a:stretch>
            <a:fillRect/>
          </a:stretch>
        </p:blipFill>
        <p:spPr>
          <a:xfrm>
            <a:off x="936345" y="2170785"/>
            <a:ext cx="340156" cy="340156"/>
          </a:xfrm>
          <a:prstGeom prst="rect">
            <a:avLst/>
          </a:prstGeom>
        </p:spPr>
      </p:pic>
      <p:sp>
        <p:nvSpPr>
          <p:cNvPr id="9" name="TextBox 8"/>
          <p:cNvSpPr txBox="1"/>
          <p:nvPr/>
        </p:nvSpPr>
        <p:spPr>
          <a:xfrm>
            <a:off x="3291840" y="2057400"/>
            <a:ext cx="548640" cy="457200"/>
          </a:xfrm>
          <a:prstGeom prst="rect">
            <a:avLst/>
          </a:prstGeom>
          <a:noFill/>
        </p:spPr>
        <p:txBody>
          <a:bodyPr wrap="square" lIns="0" rIns="0" tIns="0" bIns="0" anchor="t">
            <a:spAutoFit/>
          </a:bodyPr>
          <a:lstStyle/>
          <a:p>
            <a:pPr algn="r"/>
            <a:r>
              <a:rPr sz="2000" b="0" i="0">
                <a:solidFill>
                  <a:srgbClr val="F59E0B"/>
                </a:solidFill>
                <a:latin typeface="Segoe UI Semibold"/>
              </a:rPr>
              <a:t>01</a:t>
            </a:r>
          </a:p>
        </p:txBody>
      </p:sp>
      <p:sp>
        <p:nvSpPr>
          <p:cNvPr id="10" name="TextBox 9"/>
          <p:cNvSpPr txBox="1"/>
          <p:nvPr/>
        </p:nvSpPr>
        <p:spPr>
          <a:xfrm>
            <a:off x="822959" y="2743200"/>
            <a:ext cx="3017520" cy="411480"/>
          </a:xfrm>
          <a:prstGeom prst="rect">
            <a:avLst/>
          </a:prstGeom>
          <a:noFill/>
        </p:spPr>
        <p:txBody>
          <a:bodyPr wrap="square" lIns="0" rIns="0" tIns="0" bIns="0" anchor="t">
            <a:spAutoFit/>
          </a:bodyPr>
          <a:lstStyle/>
          <a:p>
            <a:pPr algn="l"/>
            <a:r>
              <a:rPr sz="1800" b="0" i="0">
                <a:solidFill>
                  <a:srgbClr val="0B1F3A"/>
                </a:solidFill>
                <a:latin typeface="Segoe UI Semibold"/>
              </a:rPr>
              <a:t>Propósito y problema</a:t>
            </a:r>
          </a:p>
        </p:txBody>
      </p:sp>
      <p:sp>
        <p:nvSpPr>
          <p:cNvPr id="11" name="TextBox 10"/>
          <p:cNvSpPr txBox="1"/>
          <p:nvPr/>
        </p:nvSpPr>
        <p:spPr>
          <a:xfrm>
            <a:off x="822959" y="3108960"/>
            <a:ext cx="3017520" cy="548640"/>
          </a:xfrm>
          <a:prstGeom prst="rect">
            <a:avLst/>
          </a:prstGeom>
          <a:noFill/>
        </p:spPr>
        <p:txBody>
          <a:bodyPr wrap="square" lIns="0" rIns="0" tIns="0" bIns="0" anchor="t">
            <a:spAutoFit/>
          </a:bodyPr>
          <a:lstStyle/>
          <a:p>
            <a:pPr algn="l"/>
            <a:r>
              <a:rPr sz="1300" b="0" i="0">
                <a:solidFill>
                  <a:srgbClr val="475569"/>
                </a:solidFill>
                <a:latin typeface="Segoe UI"/>
              </a:rPr>
              <a:t>Por qué existe el asistente y a quién ayuda</a:t>
            </a:r>
          </a:p>
        </p:txBody>
      </p:sp>
      <p:sp>
        <p:nvSpPr>
          <p:cNvPr id="12" name="Rounded Rectangle 11"/>
          <p:cNvSpPr/>
          <p:nvPr/>
        </p:nvSpPr>
        <p:spPr>
          <a:xfrm>
            <a:off x="4297679" y="1783080"/>
            <a:ext cx="3520440" cy="19202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571999" y="2057400"/>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libros.png"/>
          <p:cNvPicPr>
            <a:picLocks noChangeAspect="1"/>
          </p:cNvPicPr>
          <p:nvPr/>
        </p:nvPicPr>
        <p:blipFill>
          <a:blip r:embed="rId4"/>
          <a:stretch>
            <a:fillRect/>
          </a:stretch>
        </p:blipFill>
        <p:spPr>
          <a:xfrm>
            <a:off x="4685385" y="2170785"/>
            <a:ext cx="340156" cy="340156"/>
          </a:xfrm>
          <a:prstGeom prst="rect">
            <a:avLst/>
          </a:prstGeom>
        </p:spPr>
      </p:pic>
      <p:sp>
        <p:nvSpPr>
          <p:cNvPr id="15" name="TextBox 14"/>
          <p:cNvSpPr txBox="1"/>
          <p:nvPr/>
        </p:nvSpPr>
        <p:spPr>
          <a:xfrm>
            <a:off x="7040879" y="2057400"/>
            <a:ext cx="548640" cy="457200"/>
          </a:xfrm>
          <a:prstGeom prst="rect">
            <a:avLst/>
          </a:prstGeom>
          <a:noFill/>
        </p:spPr>
        <p:txBody>
          <a:bodyPr wrap="square" lIns="0" rIns="0" tIns="0" bIns="0" anchor="t">
            <a:spAutoFit/>
          </a:bodyPr>
          <a:lstStyle/>
          <a:p>
            <a:pPr algn="r"/>
            <a:r>
              <a:rPr sz="2000" b="0" i="0">
                <a:solidFill>
                  <a:srgbClr val="F59E0B"/>
                </a:solidFill>
                <a:latin typeface="Segoe UI Semibold"/>
              </a:rPr>
              <a:t>02</a:t>
            </a:r>
          </a:p>
        </p:txBody>
      </p:sp>
      <p:sp>
        <p:nvSpPr>
          <p:cNvPr id="16" name="TextBox 15"/>
          <p:cNvSpPr txBox="1"/>
          <p:nvPr/>
        </p:nvSpPr>
        <p:spPr>
          <a:xfrm>
            <a:off x="4571999" y="2743200"/>
            <a:ext cx="3017520" cy="411480"/>
          </a:xfrm>
          <a:prstGeom prst="rect">
            <a:avLst/>
          </a:prstGeom>
          <a:noFill/>
        </p:spPr>
        <p:txBody>
          <a:bodyPr wrap="square" lIns="0" rIns="0" tIns="0" bIns="0" anchor="t">
            <a:spAutoFit/>
          </a:bodyPr>
          <a:lstStyle/>
          <a:p>
            <a:pPr algn="l"/>
            <a:r>
              <a:rPr sz="1800" b="0" i="0">
                <a:solidFill>
                  <a:srgbClr val="0B1F3A"/>
                </a:solidFill>
                <a:latin typeface="Segoe UI Semibold"/>
              </a:rPr>
              <a:t>Fuente de datos</a:t>
            </a:r>
          </a:p>
        </p:txBody>
      </p:sp>
      <p:sp>
        <p:nvSpPr>
          <p:cNvPr id="17" name="TextBox 16"/>
          <p:cNvSpPr txBox="1"/>
          <p:nvPr/>
        </p:nvSpPr>
        <p:spPr>
          <a:xfrm>
            <a:off x="4571999" y="3108960"/>
            <a:ext cx="3017520" cy="548640"/>
          </a:xfrm>
          <a:prstGeom prst="rect">
            <a:avLst/>
          </a:prstGeom>
          <a:noFill/>
        </p:spPr>
        <p:txBody>
          <a:bodyPr wrap="square" lIns="0" rIns="0" tIns="0" bIns="0" anchor="t">
            <a:spAutoFit/>
          </a:bodyPr>
          <a:lstStyle/>
          <a:p>
            <a:pPr algn="l"/>
            <a:r>
              <a:rPr sz="1300" b="0" i="0">
                <a:solidFill>
                  <a:srgbClr val="475569"/>
                </a:solidFill>
                <a:latin typeface="Segoe UI"/>
              </a:rPr>
              <a:t>Bases públicas procesadas y su ficha en PDF</a:t>
            </a:r>
          </a:p>
        </p:txBody>
      </p:sp>
      <p:sp>
        <p:nvSpPr>
          <p:cNvPr id="18" name="Rounded Rectangle 17"/>
          <p:cNvSpPr/>
          <p:nvPr/>
        </p:nvSpPr>
        <p:spPr>
          <a:xfrm>
            <a:off x="8046719" y="1783080"/>
            <a:ext cx="3520440" cy="19202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21040" y="2057400"/>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chip.png"/>
          <p:cNvPicPr>
            <a:picLocks noChangeAspect="1"/>
          </p:cNvPicPr>
          <p:nvPr/>
        </p:nvPicPr>
        <p:blipFill>
          <a:blip r:embed="rId5"/>
          <a:stretch>
            <a:fillRect/>
          </a:stretch>
        </p:blipFill>
        <p:spPr>
          <a:xfrm>
            <a:off x="8434425" y="2170785"/>
            <a:ext cx="340156" cy="340156"/>
          </a:xfrm>
          <a:prstGeom prst="rect">
            <a:avLst/>
          </a:prstGeom>
        </p:spPr>
      </p:pic>
      <p:sp>
        <p:nvSpPr>
          <p:cNvPr id="21" name="TextBox 20"/>
          <p:cNvSpPr txBox="1"/>
          <p:nvPr/>
        </p:nvSpPr>
        <p:spPr>
          <a:xfrm>
            <a:off x="10789919" y="2057400"/>
            <a:ext cx="548640" cy="457200"/>
          </a:xfrm>
          <a:prstGeom prst="rect">
            <a:avLst/>
          </a:prstGeom>
          <a:noFill/>
        </p:spPr>
        <p:txBody>
          <a:bodyPr wrap="square" lIns="0" rIns="0" tIns="0" bIns="0" anchor="t">
            <a:spAutoFit/>
          </a:bodyPr>
          <a:lstStyle/>
          <a:p>
            <a:pPr algn="r"/>
            <a:r>
              <a:rPr sz="2000" b="0" i="0">
                <a:solidFill>
                  <a:srgbClr val="F59E0B"/>
                </a:solidFill>
                <a:latin typeface="Segoe UI Semibold"/>
              </a:rPr>
              <a:t>03</a:t>
            </a:r>
          </a:p>
        </p:txBody>
      </p:sp>
      <p:sp>
        <p:nvSpPr>
          <p:cNvPr id="22" name="TextBox 21"/>
          <p:cNvSpPr txBox="1"/>
          <p:nvPr/>
        </p:nvSpPr>
        <p:spPr>
          <a:xfrm>
            <a:off x="8321040" y="2743200"/>
            <a:ext cx="3017520" cy="411480"/>
          </a:xfrm>
          <a:prstGeom prst="rect">
            <a:avLst/>
          </a:prstGeom>
          <a:noFill/>
        </p:spPr>
        <p:txBody>
          <a:bodyPr wrap="square" lIns="0" rIns="0" tIns="0" bIns="0" anchor="t">
            <a:spAutoFit/>
          </a:bodyPr>
          <a:lstStyle/>
          <a:p>
            <a:pPr algn="l"/>
            <a:r>
              <a:rPr sz="1800" b="0" i="0">
                <a:solidFill>
                  <a:srgbClr val="0B1F3A"/>
                </a:solidFill>
                <a:latin typeface="Segoe UI Semibold"/>
              </a:rPr>
              <a:t>Stack tecnológico</a:t>
            </a:r>
          </a:p>
        </p:txBody>
      </p:sp>
      <p:sp>
        <p:nvSpPr>
          <p:cNvPr id="23" name="TextBox 22"/>
          <p:cNvSpPr txBox="1"/>
          <p:nvPr/>
        </p:nvSpPr>
        <p:spPr>
          <a:xfrm>
            <a:off x="8321040" y="3108960"/>
            <a:ext cx="3017520" cy="548640"/>
          </a:xfrm>
          <a:prstGeom prst="rect">
            <a:avLst/>
          </a:prstGeom>
          <a:noFill/>
        </p:spPr>
        <p:txBody>
          <a:bodyPr wrap="square" lIns="0" rIns="0" tIns="0" bIns="0" anchor="t">
            <a:spAutoFit/>
          </a:bodyPr>
          <a:lstStyle/>
          <a:p>
            <a:pPr algn="l"/>
            <a:r>
              <a:rPr sz="1300" b="0" i="0">
                <a:solidFill>
                  <a:srgbClr val="475569"/>
                </a:solidFill>
                <a:latin typeface="Segoe UI"/>
              </a:rPr>
              <a:t>LangChain, FAISS, Qwen3 Embedding y Qwen3.5 con QLoRA</a:t>
            </a:r>
          </a:p>
        </p:txBody>
      </p:sp>
      <p:sp>
        <p:nvSpPr>
          <p:cNvPr id="24" name="Rounded Rectangle 23"/>
          <p:cNvSpPr/>
          <p:nvPr/>
        </p:nvSpPr>
        <p:spPr>
          <a:xfrm>
            <a:off x="548640" y="3977639"/>
            <a:ext cx="3520440" cy="19202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2959" y="4251959"/>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procesar.png"/>
          <p:cNvPicPr>
            <a:picLocks noChangeAspect="1"/>
          </p:cNvPicPr>
          <p:nvPr/>
        </p:nvPicPr>
        <p:blipFill>
          <a:blip r:embed="rId6"/>
          <a:stretch>
            <a:fillRect/>
          </a:stretch>
        </p:blipFill>
        <p:spPr>
          <a:xfrm>
            <a:off x="936345" y="4365345"/>
            <a:ext cx="340156" cy="340156"/>
          </a:xfrm>
          <a:prstGeom prst="rect">
            <a:avLst/>
          </a:prstGeom>
        </p:spPr>
      </p:pic>
      <p:sp>
        <p:nvSpPr>
          <p:cNvPr id="27" name="TextBox 26"/>
          <p:cNvSpPr txBox="1"/>
          <p:nvPr/>
        </p:nvSpPr>
        <p:spPr>
          <a:xfrm>
            <a:off x="3291840" y="4251959"/>
            <a:ext cx="548640" cy="457200"/>
          </a:xfrm>
          <a:prstGeom prst="rect">
            <a:avLst/>
          </a:prstGeom>
          <a:noFill/>
        </p:spPr>
        <p:txBody>
          <a:bodyPr wrap="square" lIns="0" rIns="0" tIns="0" bIns="0" anchor="t">
            <a:spAutoFit/>
          </a:bodyPr>
          <a:lstStyle/>
          <a:p>
            <a:pPr algn="r"/>
            <a:r>
              <a:rPr sz="2000" b="0" i="0">
                <a:solidFill>
                  <a:srgbClr val="F59E0B"/>
                </a:solidFill>
                <a:latin typeface="Segoe UI Semibold"/>
              </a:rPr>
              <a:t>04</a:t>
            </a:r>
          </a:p>
        </p:txBody>
      </p:sp>
      <p:sp>
        <p:nvSpPr>
          <p:cNvPr id="28" name="TextBox 27"/>
          <p:cNvSpPr txBox="1"/>
          <p:nvPr/>
        </p:nvSpPr>
        <p:spPr>
          <a:xfrm>
            <a:off x="822959" y="4937759"/>
            <a:ext cx="3017520" cy="411480"/>
          </a:xfrm>
          <a:prstGeom prst="rect">
            <a:avLst/>
          </a:prstGeom>
          <a:noFill/>
        </p:spPr>
        <p:txBody>
          <a:bodyPr wrap="square" lIns="0" rIns="0" tIns="0" bIns="0" anchor="t">
            <a:spAutoFit/>
          </a:bodyPr>
          <a:lstStyle/>
          <a:p>
            <a:pPr algn="l"/>
            <a:r>
              <a:rPr sz="1800" b="0" i="0">
                <a:solidFill>
                  <a:srgbClr val="0B1F3A"/>
                </a:solidFill>
                <a:latin typeface="Segoe UI Semibold"/>
              </a:rPr>
              <a:t>Arquitectura</a:t>
            </a:r>
          </a:p>
        </p:txBody>
      </p:sp>
      <p:sp>
        <p:nvSpPr>
          <p:cNvPr id="29" name="TextBox 28"/>
          <p:cNvSpPr txBox="1"/>
          <p:nvPr/>
        </p:nvSpPr>
        <p:spPr>
          <a:xfrm>
            <a:off x="822959" y="5303520"/>
            <a:ext cx="3017520" cy="548640"/>
          </a:xfrm>
          <a:prstGeom prst="rect">
            <a:avLst/>
          </a:prstGeom>
          <a:noFill/>
        </p:spPr>
        <p:txBody>
          <a:bodyPr wrap="square" lIns="0" rIns="0" tIns="0" bIns="0" anchor="t">
            <a:spAutoFit/>
          </a:bodyPr>
          <a:lstStyle/>
          <a:p>
            <a:pPr algn="l"/>
            <a:r>
              <a:rPr sz="1300" b="0" i="0">
                <a:solidFill>
                  <a:srgbClr val="475569"/>
                </a:solidFill>
                <a:latin typeface="Segoe UI"/>
              </a:rPr>
              <a:t>Del mensaje del usuario a la respuesta con acceso a los datos</a:t>
            </a:r>
          </a:p>
        </p:txBody>
      </p:sp>
      <p:sp>
        <p:nvSpPr>
          <p:cNvPr id="30" name="Rounded Rectangle 29"/>
          <p:cNvSpPr/>
          <p:nvPr/>
        </p:nvSpPr>
        <p:spPr>
          <a:xfrm>
            <a:off x="4297679" y="3977639"/>
            <a:ext cx="3520440" cy="19202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4571999" y="4251959"/>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escudo.png"/>
          <p:cNvPicPr>
            <a:picLocks noChangeAspect="1"/>
          </p:cNvPicPr>
          <p:nvPr/>
        </p:nvPicPr>
        <p:blipFill>
          <a:blip r:embed="rId7"/>
          <a:stretch>
            <a:fillRect/>
          </a:stretch>
        </p:blipFill>
        <p:spPr>
          <a:xfrm>
            <a:off x="4685385" y="4365345"/>
            <a:ext cx="340156" cy="340156"/>
          </a:xfrm>
          <a:prstGeom prst="rect">
            <a:avLst/>
          </a:prstGeom>
        </p:spPr>
      </p:pic>
      <p:sp>
        <p:nvSpPr>
          <p:cNvPr id="33" name="TextBox 32"/>
          <p:cNvSpPr txBox="1"/>
          <p:nvPr/>
        </p:nvSpPr>
        <p:spPr>
          <a:xfrm>
            <a:off x="7040879" y="4251959"/>
            <a:ext cx="548640" cy="457200"/>
          </a:xfrm>
          <a:prstGeom prst="rect">
            <a:avLst/>
          </a:prstGeom>
          <a:noFill/>
        </p:spPr>
        <p:txBody>
          <a:bodyPr wrap="square" lIns="0" rIns="0" tIns="0" bIns="0" anchor="t">
            <a:spAutoFit/>
          </a:bodyPr>
          <a:lstStyle/>
          <a:p>
            <a:pPr algn="r"/>
            <a:r>
              <a:rPr sz="2000" b="0" i="0">
                <a:solidFill>
                  <a:srgbClr val="F59E0B"/>
                </a:solidFill>
                <a:latin typeface="Segoe UI Semibold"/>
              </a:rPr>
              <a:t>05</a:t>
            </a:r>
          </a:p>
        </p:txBody>
      </p:sp>
      <p:sp>
        <p:nvSpPr>
          <p:cNvPr id="34" name="TextBox 33"/>
          <p:cNvSpPr txBox="1"/>
          <p:nvPr/>
        </p:nvSpPr>
        <p:spPr>
          <a:xfrm>
            <a:off x="4571999" y="4937759"/>
            <a:ext cx="3017520" cy="411480"/>
          </a:xfrm>
          <a:prstGeom prst="rect">
            <a:avLst/>
          </a:prstGeom>
          <a:noFill/>
        </p:spPr>
        <p:txBody>
          <a:bodyPr wrap="square" lIns="0" rIns="0" tIns="0" bIns="0" anchor="t">
            <a:spAutoFit/>
          </a:bodyPr>
          <a:lstStyle/>
          <a:p>
            <a:pPr algn="l"/>
            <a:r>
              <a:rPr sz="1800" b="0" i="0">
                <a:solidFill>
                  <a:srgbClr val="0B1F3A"/>
                </a:solidFill>
                <a:latin typeface="Segoe UI Semibold"/>
              </a:rPr>
              <a:t>Calidad del modelo</a:t>
            </a:r>
          </a:p>
        </p:txBody>
      </p:sp>
      <p:sp>
        <p:nvSpPr>
          <p:cNvPr id="35" name="TextBox 34"/>
          <p:cNvSpPr txBox="1"/>
          <p:nvPr/>
        </p:nvSpPr>
        <p:spPr>
          <a:xfrm>
            <a:off x="4571999" y="5303520"/>
            <a:ext cx="3017520" cy="548640"/>
          </a:xfrm>
          <a:prstGeom prst="rect">
            <a:avLst/>
          </a:prstGeom>
          <a:noFill/>
        </p:spPr>
        <p:txBody>
          <a:bodyPr wrap="square" lIns="0" rIns="0" tIns="0" bIns="0" anchor="t">
            <a:spAutoFit/>
          </a:bodyPr>
          <a:lstStyle/>
          <a:p>
            <a:pPr algn="l"/>
            <a:r>
              <a:rPr sz="1300" b="0" i="0">
                <a:solidFill>
                  <a:srgbClr val="475569"/>
                </a:solidFill>
                <a:latin typeface="Segoe UI"/>
              </a:rPr>
              <a:t>Cómo evitamos que memorice y que invente datos</a:t>
            </a:r>
          </a:p>
        </p:txBody>
      </p:sp>
      <p:sp>
        <p:nvSpPr>
          <p:cNvPr id="36" name="Rounded Rectangle 35"/>
          <p:cNvSpPr/>
          <p:nvPr/>
        </p:nvSpPr>
        <p:spPr>
          <a:xfrm>
            <a:off x="8046719" y="3977639"/>
            <a:ext cx="3520440" cy="19202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321040" y="4251959"/>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monitor.png"/>
          <p:cNvPicPr>
            <a:picLocks noChangeAspect="1"/>
          </p:cNvPicPr>
          <p:nvPr/>
        </p:nvPicPr>
        <p:blipFill>
          <a:blip r:embed="rId8"/>
          <a:stretch>
            <a:fillRect/>
          </a:stretch>
        </p:blipFill>
        <p:spPr>
          <a:xfrm>
            <a:off x="8434425" y="4365345"/>
            <a:ext cx="340156" cy="340156"/>
          </a:xfrm>
          <a:prstGeom prst="rect">
            <a:avLst/>
          </a:prstGeom>
        </p:spPr>
      </p:pic>
      <p:sp>
        <p:nvSpPr>
          <p:cNvPr id="39" name="TextBox 38"/>
          <p:cNvSpPr txBox="1"/>
          <p:nvPr/>
        </p:nvSpPr>
        <p:spPr>
          <a:xfrm>
            <a:off x="10789919" y="4251959"/>
            <a:ext cx="548640" cy="457200"/>
          </a:xfrm>
          <a:prstGeom prst="rect">
            <a:avLst/>
          </a:prstGeom>
          <a:noFill/>
        </p:spPr>
        <p:txBody>
          <a:bodyPr wrap="square" lIns="0" rIns="0" tIns="0" bIns="0" anchor="t">
            <a:spAutoFit/>
          </a:bodyPr>
          <a:lstStyle/>
          <a:p>
            <a:pPr algn="r"/>
            <a:r>
              <a:rPr sz="2000" b="0" i="0">
                <a:solidFill>
                  <a:srgbClr val="F59E0B"/>
                </a:solidFill>
                <a:latin typeface="Segoe UI Semibold"/>
              </a:rPr>
              <a:t>06</a:t>
            </a:r>
          </a:p>
        </p:txBody>
      </p:sp>
      <p:sp>
        <p:nvSpPr>
          <p:cNvPr id="40" name="TextBox 39"/>
          <p:cNvSpPr txBox="1"/>
          <p:nvPr/>
        </p:nvSpPr>
        <p:spPr>
          <a:xfrm>
            <a:off x="8321040" y="4937759"/>
            <a:ext cx="3017520" cy="411480"/>
          </a:xfrm>
          <a:prstGeom prst="rect">
            <a:avLst/>
          </a:prstGeom>
          <a:noFill/>
        </p:spPr>
        <p:txBody>
          <a:bodyPr wrap="square" lIns="0" rIns="0" tIns="0" bIns="0" anchor="t">
            <a:spAutoFit/>
          </a:bodyPr>
          <a:lstStyle/>
          <a:p>
            <a:pPr algn="l"/>
            <a:r>
              <a:rPr sz="1800" b="0" i="0">
                <a:solidFill>
                  <a:srgbClr val="0B1F3A"/>
                </a:solidFill>
                <a:latin typeface="Segoe UI Semibold"/>
              </a:rPr>
              <a:t>Demo y próximos pasos</a:t>
            </a:r>
          </a:p>
        </p:txBody>
      </p:sp>
      <p:sp>
        <p:nvSpPr>
          <p:cNvPr id="41" name="TextBox 40"/>
          <p:cNvSpPr txBox="1"/>
          <p:nvPr/>
        </p:nvSpPr>
        <p:spPr>
          <a:xfrm>
            <a:off x="8321040" y="5303520"/>
            <a:ext cx="3017520" cy="548640"/>
          </a:xfrm>
          <a:prstGeom prst="rect">
            <a:avLst/>
          </a:prstGeom>
          <a:noFill/>
        </p:spPr>
        <p:txBody>
          <a:bodyPr wrap="square" lIns="0" rIns="0" tIns="0" bIns="0" anchor="t">
            <a:spAutoFit/>
          </a:bodyPr>
          <a:lstStyle/>
          <a:p>
            <a:pPr algn="l"/>
            <a:r>
              <a:rPr sz="1300" b="0" i="0">
                <a:solidFill>
                  <a:srgbClr val="475569"/>
                </a:solidFill>
                <a:latin typeface="Segoe UI"/>
              </a:rPr>
              <a:t>La web, el repositorio y la hoja de ruta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01 · PROPÓSITO</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Un asistente entrenado para guiar la búsqueda de datos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3</a:t>
            </a:r>
          </a:p>
        </p:txBody>
      </p:sp>
      <p:sp>
        <p:nvSpPr>
          <p:cNvPr id="6" name="TextBox 5"/>
          <p:cNvSpPr txBox="1"/>
          <p:nvPr/>
        </p:nvSpPr>
        <p:spPr>
          <a:xfrm>
            <a:off x="548640" y="1691640"/>
            <a:ext cx="4937760" cy="2194560"/>
          </a:xfrm>
          <a:prstGeom prst="rect">
            <a:avLst/>
          </a:prstGeom>
          <a:noFill/>
        </p:spPr>
        <p:txBody>
          <a:bodyPr wrap="square" lIns="0" rIns="0" tIns="0" bIns="0" anchor="t">
            <a:spAutoFit/>
          </a:bodyPr>
          <a:lstStyle/>
          <a:p>
            <a:pPr algn="l">
              <a:spcAft>
                <a:spcPts val="1000"/>
              </a:spcAft>
            </a:pPr>
            <a:r>
              <a:rPr sz="1800" b="0" i="0">
                <a:solidFill>
                  <a:srgbClr val="1E293B"/>
                </a:solidFill>
                <a:latin typeface="Segoe UI"/>
              </a:rPr>
              <a:t>El chatbot conoce en detalle cada base de datos del catálogo </a:t>
            </a:r>
            <a:r>
              <a:rPr sz="1800" b="1" i="0">
                <a:solidFill>
                  <a:srgbClr val="1E293B"/>
                </a:solidFill>
                <a:latin typeface="Segoe UI"/>
              </a:rPr>
              <a:t>y la explica en el lenguaje del investigador:</a:t>
            </a:r>
          </a:p>
          <a:p>
            <a:pPr algn="l">
              <a:spcAft>
                <a:spcPts val="1000"/>
              </a:spcAft>
            </a:pPr>
            <a:r>
              <a:rPr sz="1800" b="0" i="0">
                <a:solidFill>
                  <a:srgbClr val="1E293B"/>
                </a:solidFill>
                <a:latin typeface="Segoe UI"/>
              </a:rPr>
              <a:t>qué contiene, para qué preguntas sirve, cómo se une con otras fuentes y qué cuidados tener.</a:t>
            </a:r>
          </a:p>
        </p:txBody>
      </p:sp>
      <p:sp>
        <p:nvSpPr>
          <p:cNvPr id="7" name="Rounded Rectangle 6"/>
          <p:cNvSpPr/>
          <p:nvPr/>
        </p:nvSpPr>
        <p:spPr>
          <a:xfrm>
            <a:off x="548640" y="3977639"/>
            <a:ext cx="4937760" cy="178308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68680" y="4206240"/>
            <a:ext cx="4389120" cy="365760"/>
          </a:xfrm>
          <a:prstGeom prst="rect">
            <a:avLst/>
          </a:prstGeom>
          <a:noFill/>
        </p:spPr>
        <p:txBody>
          <a:bodyPr wrap="square" lIns="0" rIns="0" tIns="0" bIns="0" anchor="t">
            <a:spAutoFit/>
          </a:bodyPr>
          <a:lstStyle/>
          <a:p>
            <a:pPr algn="l"/>
            <a:r>
              <a:rPr sz="1200" b="1" i="0">
                <a:solidFill>
                  <a:srgbClr val="5EEAD4"/>
                </a:solidFill>
                <a:latin typeface="Segoe UI Semibold"/>
              </a:rPr>
              <a:t>FOCO PRINCIPAL</a:t>
            </a:r>
          </a:p>
        </p:txBody>
      </p:sp>
      <p:sp>
        <p:nvSpPr>
          <p:cNvPr id="9" name="TextBox 8"/>
          <p:cNvSpPr txBox="1"/>
          <p:nvPr/>
        </p:nvSpPr>
        <p:spPr>
          <a:xfrm>
            <a:off x="868680" y="4526280"/>
            <a:ext cx="4389120" cy="1097280"/>
          </a:xfrm>
          <a:prstGeom prst="rect">
            <a:avLst/>
          </a:prstGeom>
          <a:noFill/>
        </p:spPr>
        <p:txBody>
          <a:bodyPr wrap="square" lIns="0" rIns="0" tIns="0" bIns="0" anchor="t">
            <a:spAutoFit/>
          </a:bodyPr>
          <a:lstStyle/>
          <a:p>
            <a:pPr algn="l"/>
            <a:r>
              <a:rPr sz="1700" b="0" i="0">
                <a:solidFill>
                  <a:srgbClr val="FFFFFF"/>
                </a:solidFill>
                <a:latin typeface="Segoe UI"/>
              </a:rPr>
              <a:t>Estudiantes de pregrado y posgrado que dan sus primeros pasos en investigación empírica</a:t>
            </a:r>
          </a:p>
        </p:txBody>
      </p:sp>
      <p:sp>
        <p:nvSpPr>
          <p:cNvPr id="10" name="Rounded Rectangle 9"/>
          <p:cNvSpPr/>
          <p:nvPr/>
        </p:nvSpPr>
        <p:spPr>
          <a:xfrm>
            <a:off x="5943600" y="1691640"/>
            <a:ext cx="5669280" cy="11887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6172200" y="1993392"/>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educacion.png"/>
          <p:cNvPicPr>
            <a:picLocks noChangeAspect="1"/>
          </p:cNvPicPr>
          <p:nvPr/>
        </p:nvPicPr>
        <p:blipFill>
          <a:blip r:embed="rId3"/>
          <a:stretch>
            <a:fillRect/>
          </a:stretch>
        </p:blipFill>
        <p:spPr>
          <a:xfrm>
            <a:off x="6285585" y="2106777"/>
            <a:ext cx="340156" cy="340156"/>
          </a:xfrm>
          <a:prstGeom prst="rect">
            <a:avLst/>
          </a:prstGeom>
        </p:spPr>
      </p:pic>
      <p:sp>
        <p:nvSpPr>
          <p:cNvPr id="13" name="TextBox 12"/>
          <p:cNvSpPr txBox="1"/>
          <p:nvPr/>
        </p:nvSpPr>
        <p:spPr>
          <a:xfrm>
            <a:off x="6949440" y="1874520"/>
            <a:ext cx="4480560" cy="365760"/>
          </a:xfrm>
          <a:prstGeom prst="rect">
            <a:avLst/>
          </a:prstGeom>
          <a:noFill/>
        </p:spPr>
        <p:txBody>
          <a:bodyPr wrap="square" lIns="0" rIns="0" tIns="0" bIns="0" anchor="t">
            <a:spAutoFit/>
          </a:bodyPr>
          <a:lstStyle/>
          <a:p>
            <a:pPr algn="l"/>
            <a:r>
              <a:rPr sz="1700" b="0" i="0">
                <a:solidFill>
                  <a:srgbClr val="0B1F3A"/>
                </a:solidFill>
                <a:latin typeface="Segoe UI Semibold"/>
              </a:rPr>
              <a:t>Estudiantes</a:t>
            </a:r>
          </a:p>
        </p:txBody>
      </p:sp>
      <p:sp>
        <p:nvSpPr>
          <p:cNvPr id="14" name="TextBox 13"/>
          <p:cNvSpPr txBox="1"/>
          <p:nvPr/>
        </p:nvSpPr>
        <p:spPr>
          <a:xfrm>
            <a:off x="6949440" y="2240280"/>
            <a:ext cx="4480560" cy="640080"/>
          </a:xfrm>
          <a:prstGeom prst="rect">
            <a:avLst/>
          </a:prstGeom>
          <a:noFill/>
        </p:spPr>
        <p:txBody>
          <a:bodyPr wrap="square" lIns="0" rIns="0" tIns="0" bIns="0" anchor="t">
            <a:spAutoFit/>
          </a:bodyPr>
          <a:lstStyle/>
          <a:p>
            <a:pPr algn="l"/>
            <a:r>
              <a:rPr sz="1300" b="0" i="0">
                <a:solidFill>
                  <a:srgbClr val="475569"/>
                </a:solidFill>
                <a:latin typeface="Segoe UI"/>
              </a:rPr>
              <a:t>Tesis, trabajos de curso y primeras investigaciones. Reciben orientación paso a paso y la base adecuada para su pregunta.</a:t>
            </a:r>
          </a:p>
        </p:txBody>
      </p:sp>
      <p:sp>
        <p:nvSpPr>
          <p:cNvPr id="15" name="Rounded Rectangle 14"/>
          <p:cNvSpPr/>
          <p:nvPr/>
        </p:nvSpPr>
        <p:spPr>
          <a:xfrm>
            <a:off x="5943600" y="3063240"/>
            <a:ext cx="5669280" cy="11887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6172200" y="3364992"/>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personas.png"/>
          <p:cNvPicPr>
            <a:picLocks noChangeAspect="1"/>
          </p:cNvPicPr>
          <p:nvPr/>
        </p:nvPicPr>
        <p:blipFill>
          <a:blip r:embed="rId4"/>
          <a:stretch>
            <a:fillRect/>
          </a:stretch>
        </p:blipFill>
        <p:spPr>
          <a:xfrm>
            <a:off x="6285585" y="3478377"/>
            <a:ext cx="340156" cy="340156"/>
          </a:xfrm>
          <a:prstGeom prst="rect">
            <a:avLst/>
          </a:prstGeom>
        </p:spPr>
      </p:pic>
      <p:sp>
        <p:nvSpPr>
          <p:cNvPr id="18" name="TextBox 17"/>
          <p:cNvSpPr txBox="1"/>
          <p:nvPr/>
        </p:nvSpPr>
        <p:spPr>
          <a:xfrm>
            <a:off x="6949440" y="3246120"/>
            <a:ext cx="4480560" cy="365760"/>
          </a:xfrm>
          <a:prstGeom prst="rect">
            <a:avLst/>
          </a:prstGeom>
          <a:noFill/>
        </p:spPr>
        <p:txBody>
          <a:bodyPr wrap="square" lIns="0" rIns="0" tIns="0" bIns="0" anchor="t">
            <a:spAutoFit/>
          </a:bodyPr>
          <a:lstStyle/>
          <a:p>
            <a:pPr algn="l"/>
            <a:r>
              <a:rPr sz="1700" b="0" i="0">
                <a:solidFill>
                  <a:srgbClr val="0B1F3A"/>
                </a:solidFill>
                <a:latin typeface="Segoe UI Semibold"/>
              </a:rPr>
              <a:t>Investigadores junior y senior</a:t>
            </a:r>
          </a:p>
        </p:txBody>
      </p:sp>
      <p:sp>
        <p:nvSpPr>
          <p:cNvPr id="19" name="TextBox 18"/>
          <p:cNvSpPr txBox="1"/>
          <p:nvPr/>
        </p:nvSpPr>
        <p:spPr>
          <a:xfrm>
            <a:off x="6949440" y="3611880"/>
            <a:ext cx="4480560" cy="640080"/>
          </a:xfrm>
          <a:prstGeom prst="rect">
            <a:avLst/>
          </a:prstGeom>
          <a:noFill/>
        </p:spPr>
        <p:txBody>
          <a:bodyPr wrap="square" lIns="0" rIns="0" tIns="0" bIns="0" anchor="t">
            <a:spAutoFit/>
          </a:bodyPr>
          <a:lstStyle/>
          <a:p>
            <a:pPr algn="l"/>
            <a:r>
              <a:rPr sz="1300" b="0" i="0">
                <a:solidFill>
                  <a:srgbClr val="475569"/>
                </a:solidFill>
                <a:latin typeface="Segoe UI"/>
              </a:rPr>
              <a:t>Respuestas directas con variables, periodos, llaves de unión y advertencias técnicas de cada base.</a:t>
            </a:r>
          </a:p>
        </p:txBody>
      </p:sp>
      <p:sp>
        <p:nvSpPr>
          <p:cNvPr id="20" name="Rounded Rectangle 19"/>
          <p:cNvSpPr/>
          <p:nvPr/>
        </p:nvSpPr>
        <p:spPr>
          <a:xfrm>
            <a:off x="5943600" y="4434840"/>
            <a:ext cx="5669280" cy="11887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172200" y="4736592"/>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grafico.png"/>
          <p:cNvPicPr>
            <a:picLocks noChangeAspect="1"/>
          </p:cNvPicPr>
          <p:nvPr/>
        </p:nvPicPr>
        <p:blipFill>
          <a:blip r:embed="rId5"/>
          <a:stretch>
            <a:fillRect/>
          </a:stretch>
        </p:blipFill>
        <p:spPr>
          <a:xfrm>
            <a:off x="6285585" y="4849977"/>
            <a:ext cx="340156" cy="340156"/>
          </a:xfrm>
          <a:prstGeom prst="rect">
            <a:avLst/>
          </a:prstGeom>
        </p:spPr>
      </p:pic>
      <p:sp>
        <p:nvSpPr>
          <p:cNvPr id="23" name="TextBox 22"/>
          <p:cNvSpPr txBox="1"/>
          <p:nvPr/>
        </p:nvSpPr>
        <p:spPr>
          <a:xfrm>
            <a:off x="6949440" y="4617720"/>
            <a:ext cx="4480560" cy="365760"/>
          </a:xfrm>
          <a:prstGeom prst="rect">
            <a:avLst/>
          </a:prstGeom>
          <a:noFill/>
        </p:spPr>
        <p:txBody>
          <a:bodyPr wrap="square" lIns="0" rIns="0" tIns="0" bIns="0" anchor="t">
            <a:spAutoFit/>
          </a:bodyPr>
          <a:lstStyle/>
          <a:p>
            <a:pPr algn="l"/>
            <a:r>
              <a:rPr sz="1700" b="0" i="0">
                <a:solidFill>
                  <a:srgbClr val="0B1F3A"/>
                </a:solidFill>
                <a:latin typeface="Segoe UI Semibold"/>
              </a:rPr>
              <a:t>Profesionales y consultores</a:t>
            </a:r>
          </a:p>
        </p:txBody>
      </p:sp>
      <p:sp>
        <p:nvSpPr>
          <p:cNvPr id="24" name="TextBox 23"/>
          <p:cNvSpPr txBox="1"/>
          <p:nvPr/>
        </p:nvSpPr>
        <p:spPr>
          <a:xfrm>
            <a:off x="6949440" y="4983479"/>
            <a:ext cx="4480560" cy="640080"/>
          </a:xfrm>
          <a:prstGeom prst="rect">
            <a:avLst/>
          </a:prstGeom>
          <a:noFill/>
        </p:spPr>
        <p:txBody>
          <a:bodyPr wrap="square" lIns="0" rIns="0" tIns="0" bIns="0" anchor="t">
            <a:spAutoFit/>
          </a:bodyPr>
          <a:lstStyle/>
          <a:p>
            <a:pPr algn="l"/>
            <a:r>
              <a:rPr sz="1300" b="0" i="0">
                <a:solidFill>
                  <a:srgbClr val="475569"/>
                </a:solidFill>
                <a:latin typeface="Segoe UI"/>
              </a:rPr>
              <a:t>Informes, evaluaciones de políticas y análisis para el sector público y privado.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01 · PROBLEMA A RESOLVER</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El problema: investigar empieza por encontrar datos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4</a:t>
            </a:r>
          </a:p>
        </p:txBody>
      </p:sp>
      <p:sp>
        <p:nvSpPr>
          <p:cNvPr id="6" name="Rounded Rectangle 5"/>
          <p:cNvSpPr/>
          <p:nvPr/>
        </p:nvSpPr>
        <p:spPr>
          <a:xfrm>
            <a:off x="548640" y="1737360"/>
            <a:ext cx="530352" cy="530352"/>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globo.png"/>
          <p:cNvPicPr>
            <a:picLocks noChangeAspect="1"/>
          </p:cNvPicPr>
          <p:nvPr/>
        </p:nvPicPr>
        <p:blipFill>
          <a:blip r:embed="rId3"/>
          <a:stretch>
            <a:fillRect/>
          </a:stretch>
        </p:blipFill>
        <p:spPr>
          <a:xfrm>
            <a:off x="654710" y="1843430"/>
            <a:ext cx="318211" cy="318211"/>
          </a:xfrm>
          <a:prstGeom prst="rect">
            <a:avLst/>
          </a:prstGeom>
        </p:spPr>
      </p:pic>
      <p:sp>
        <p:nvSpPr>
          <p:cNvPr id="8" name="TextBox 7"/>
          <p:cNvSpPr txBox="1"/>
          <p:nvPr/>
        </p:nvSpPr>
        <p:spPr>
          <a:xfrm>
            <a:off x="1280160" y="1691640"/>
            <a:ext cx="4754880" cy="365760"/>
          </a:xfrm>
          <a:prstGeom prst="rect">
            <a:avLst/>
          </a:prstGeom>
          <a:noFill/>
        </p:spPr>
        <p:txBody>
          <a:bodyPr wrap="square" lIns="0" rIns="0" tIns="0" bIns="0" anchor="t">
            <a:spAutoFit/>
          </a:bodyPr>
          <a:lstStyle/>
          <a:p>
            <a:pPr algn="l"/>
            <a:r>
              <a:rPr sz="1700" b="0" i="0">
                <a:solidFill>
                  <a:srgbClr val="0B1F3A"/>
                </a:solidFill>
                <a:latin typeface="Segoe UI Semibold"/>
              </a:rPr>
              <a:t>Fuentes dispersas</a:t>
            </a:r>
          </a:p>
        </p:txBody>
      </p:sp>
      <p:sp>
        <p:nvSpPr>
          <p:cNvPr id="9" name="TextBox 8"/>
          <p:cNvSpPr txBox="1"/>
          <p:nvPr/>
        </p:nvSpPr>
        <p:spPr>
          <a:xfrm>
            <a:off x="1280160" y="2057400"/>
            <a:ext cx="4754880" cy="685800"/>
          </a:xfrm>
          <a:prstGeom prst="rect">
            <a:avLst/>
          </a:prstGeom>
          <a:noFill/>
        </p:spPr>
        <p:txBody>
          <a:bodyPr wrap="square" lIns="0" rIns="0" tIns="0" bIns="0" anchor="t">
            <a:spAutoFit/>
          </a:bodyPr>
          <a:lstStyle/>
          <a:p>
            <a:pPr algn="l"/>
            <a:r>
              <a:rPr sz="1300" b="0" i="0">
                <a:solidFill>
                  <a:srgbClr val="475569"/>
                </a:solidFill>
                <a:latin typeface="Segoe UI"/>
              </a:rPr>
              <a:t>Cada dato vive en una institución distinta: INEI, ministerios, observatorios, catálogos satelitales.</a:t>
            </a:r>
          </a:p>
        </p:txBody>
      </p:sp>
      <p:sp>
        <p:nvSpPr>
          <p:cNvPr id="10" name="Rounded Rectangle 9"/>
          <p:cNvSpPr/>
          <p:nvPr/>
        </p:nvSpPr>
        <p:spPr>
          <a:xfrm>
            <a:off x="548640" y="2852928"/>
            <a:ext cx="530352" cy="530352"/>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alerta.png"/>
          <p:cNvPicPr>
            <a:picLocks noChangeAspect="1"/>
          </p:cNvPicPr>
          <p:nvPr/>
        </p:nvPicPr>
        <p:blipFill>
          <a:blip r:embed="rId4"/>
          <a:stretch>
            <a:fillRect/>
          </a:stretch>
        </p:blipFill>
        <p:spPr>
          <a:xfrm>
            <a:off x="654710" y="2958998"/>
            <a:ext cx="318211" cy="318211"/>
          </a:xfrm>
          <a:prstGeom prst="rect">
            <a:avLst/>
          </a:prstGeom>
        </p:spPr>
      </p:pic>
      <p:sp>
        <p:nvSpPr>
          <p:cNvPr id="12" name="TextBox 11"/>
          <p:cNvSpPr txBox="1"/>
          <p:nvPr/>
        </p:nvSpPr>
        <p:spPr>
          <a:xfrm>
            <a:off x="1280160" y="2807208"/>
            <a:ext cx="4754880" cy="365760"/>
          </a:xfrm>
          <a:prstGeom prst="rect">
            <a:avLst/>
          </a:prstGeom>
          <a:noFill/>
        </p:spPr>
        <p:txBody>
          <a:bodyPr wrap="square" lIns="0" rIns="0" tIns="0" bIns="0" anchor="t">
            <a:spAutoFit/>
          </a:bodyPr>
          <a:lstStyle/>
          <a:p>
            <a:pPr algn="l"/>
            <a:r>
              <a:rPr sz="1700" b="0" i="0">
                <a:solidFill>
                  <a:srgbClr val="0B1F3A"/>
                </a:solidFill>
                <a:latin typeface="Segoe UI Semibold"/>
              </a:rPr>
              <a:t>Poca documentación</a:t>
            </a:r>
          </a:p>
        </p:txBody>
      </p:sp>
      <p:sp>
        <p:nvSpPr>
          <p:cNvPr id="13" name="TextBox 12"/>
          <p:cNvSpPr txBox="1"/>
          <p:nvPr/>
        </p:nvSpPr>
        <p:spPr>
          <a:xfrm>
            <a:off x="1280160" y="3172968"/>
            <a:ext cx="4754880" cy="685800"/>
          </a:xfrm>
          <a:prstGeom prst="rect">
            <a:avLst/>
          </a:prstGeom>
          <a:noFill/>
        </p:spPr>
        <p:txBody>
          <a:bodyPr wrap="square" lIns="0" rIns="0" tIns="0" bIns="0" anchor="t">
            <a:spAutoFit/>
          </a:bodyPr>
          <a:lstStyle/>
          <a:p>
            <a:pPr algn="l"/>
            <a:r>
              <a:rPr sz="1300" b="0" i="0">
                <a:solidFill>
                  <a:srgbClr val="475569"/>
                </a:solidFill>
                <a:latin typeface="Segoe UI"/>
              </a:rPr>
              <a:t>Variables sin descripción, cambios de codificación y advertencias que solo se descubren al analizar.</a:t>
            </a:r>
          </a:p>
        </p:txBody>
      </p:sp>
      <p:sp>
        <p:nvSpPr>
          <p:cNvPr id="14" name="Rounded Rectangle 13"/>
          <p:cNvSpPr/>
          <p:nvPr/>
        </p:nvSpPr>
        <p:spPr>
          <a:xfrm>
            <a:off x="548640" y="3968496"/>
            <a:ext cx="530352" cy="530352"/>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engranaje.png"/>
          <p:cNvPicPr>
            <a:picLocks noChangeAspect="1"/>
          </p:cNvPicPr>
          <p:nvPr/>
        </p:nvPicPr>
        <p:blipFill>
          <a:blip r:embed="rId5"/>
          <a:stretch>
            <a:fillRect/>
          </a:stretch>
        </p:blipFill>
        <p:spPr>
          <a:xfrm>
            <a:off x="654710" y="4074566"/>
            <a:ext cx="318211" cy="318211"/>
          </a:xfrm>
          <a:prstGeom prst="rect">
            <a:avLst/>
          </a:prstGeom>
        </p:spPr>
      </p:pic>
      <p:sp>
        <p:nvSpPr>
          <p:cNvPr id="16" name="TextBox 15"/>
          <p:cNvSpPr txBox="1"/>
          <p:nvPr/>
        </p:nvSpPr>
        <p:spPr>
          <a:xfrm>
            <a:off x="1280160" y="3922776"/>
            <a:ext cx="4754880" cy="365760"/>
          </a:xfrm>
          <a:prstGeom prst="rect">
            <a:avLst/>
          </a:prstGeom>
          <a:noFill/>
        </p:spPr>
        <p:txBody>
          <a:bodyPr wrap="square" lIns="0" rIns="0" tIns="0" bIns="0" anchor="t">
            <a:spAutoFit/>
          </a:bodyPr>
          <a:lstStyle/>
          <a:p>
            <a:pPr algn="l"/>
            <a:r>
              <a:rPr sz="1700" b="0" i="0">
                <a:solidFill>
                  <a:srgbClr val="0B1F3A"/>
                </a:solidFill>
                <a:latin typeface="Segoe UI Semibold"/>
              </a:rPr>
              <a:t>Procesamiento costoso</a:t>
            </a:r>
          </a:p>
        </p:txBody>
      </p:sp>
      <p:sp>
        <p:nvSpPr>
          <p:cNvPr id="17" name="TextBox 16"/>
          <p:cNvSpPr txBox="1"/>
          <p:nvPr/>
        </p:nvSpPr>
        <p:spPr>
          <a:xfrm>
            <a:off x="1280160" y="4288536"/>
            <a:ext cx="4754880" cy="685800"/>
          </a:xfrm>
          <a:prstGeom prst="rect">
            <a:avLst/>
          </a:prstGeom>
          <a:noFill/>
        </p:spPr>
        <p:txBody>
          <a:bodyPr wrap="square" lIns="0" rIns="0" tIns="0" bIns="0" anchor="t">
            <a:spAutoFit/>
          </a:bodyPr>
          <a:lstStyle/>
          <a:p>
            <a:pPr algn="l"/>
            <a:r>
              <a:rPr sz="1300" b="0" i="0">
                <a:solidFill>
                  <a:srgbClr val="475569"/>
                </a:solidFill>
                <a:latin typeface="Segoe UI"/>
              </a:rPr>
              <a:t>Descargar, limpiar, unir y validar consume semanas antes de empezar a investigar.</a:t>
            </a:r>
          </a:p>
        </p:txBody>
      </p:sp>
      <p:sp>
        <p:nvSpPr>
          <p:cNvPr id="18" name="Rounded Rectangle 17"/>
          <p:cNvSpPr/>
          <p:nvPr/>
        </p:nvSpPr>
        <p:spPr>
          <a:xfrm>
            <a:off x="548640" y="5084064"/>
            <a:ext cx="530352" cy="530352"/>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personas.png"/>
          <p:cNvPicPr>
            <a:picLocks noChangeAspect="1"/>
          </p:cNvPicPr>
          <p:nvPr/>
        </p:nvPicPr>
        <p:blipFill>
          <a:blip r:embed="rId6"/>
          <a:stretch>
            <a:fillRect/>
          </a:stretch>
        </p:blipFill>
        <p:spPr>
          <a:xfrm>
            <a:off x="654710" y="5190134"/>
            <a:ext cx="318211" cy="318211"/>
          </a:xfrm>
          <a:prstGeom prst="rect">
            <a:avLst/>
          </a:prstGeom>
        </p:spPr>
      </p:pic>
      <p:sp>
        <p:nvSpPr>
          <p:cNvPr id="20" name="TextBox 19"/>
          <p:cNvSpPr txBox="1"/>
          <p:nvPr/>
        </p:nvSpPr>
        <p:spPr>
          <a:xfrm>
            <a:off x="1280160" y="5038344"/>
            <a:ext cx="4754880" cy="365760"/>
          </a:xfrm>
          <a:prstGeom prst="rect">
            <a:avLst/>
          </a:prstGeom>
          <a:noFill/>
        </p:spPr>
        <p:txBody>
          <a:bodyPr wrap="square" lIns="0" rIns="0" tIns="0" bIns="0" anchor="t">
            <a:spAutoFit/>
          </a:bodyPr>
          <a:lstStyle/>
          <a:p>
            <a:pPr algn="l"/>
            <a:r>
              <a:rPr sz="1700" b="0" i="0">
                <a:solidFill>
                  <a:srgbClr val="0B1F3A"/>
                </a:solidFill>
                <a:latin typeface="Segoe UI Semibold"/>
              </a:rPr>
              <a:t>Barrera para estudiantes</a:t>
            </a:r>
          </a:p>
        </p:txBody>
      </p:sp>
      <p:sp>
        <p:nvSpPr>
          <p:cNvPr id="21" name="TextBox 20"/>
          <p:cNvSpPr txBox="1"/>
          <p:nvPr/>
        </p:nvSpPr>
        <p:spPr>
          <a:xfrm>
            <a:off x="1280160" y="5404104"/>
            <a:ext cx="4754880" cy="685800"/>
          </a:xfrm>
          <a:prstGeom prst="rect">
            <a:avLst/>
          </a:prstGeom>
          <a:noFill/>
        </p:spPr>
        <p:txBody>
          <a:bodyPr wrap="square" lIns="0" rIns="0" tIns="0" bIns="0" anchor="t">
            <a:spAutoFit/>
          </a:bodyPr>
          <a:lstStyle/>
          <a:p>
            <a:pPr algn="l"/>
            <a:r>
              <a:rPr sz="1300" b="0" i="0">
                <a:solidFill>
                  <a:srgbClr val="475569"/>
                </a:solidFill>
                <a:latin typeface="Segoe UI"/>
              </a:rPr>
              <a:t>Sin experiencia previa, elegir la base correcta para una pregunta es el primer gran obstáculo.</a:t>
            </a:r>
          </a:p>
        </p:txBody>
      </p:sp>
      <p:sp>
        <p:nvSpPr>
          <p:cNvPr id="22" name="Rounded Rectangle 21"/>
          <p:cNvSpPr/>
          <p:nvPr/>
        </p:nvSpPr>
        <p:spPr>
          <a:xfrm>
            <a:off x="6492240" y="1691640"/>
            <a:ext cx="5120640" cy="443484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6812280" y="1965960"/>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chat.png"/>
          <p:cNvPicPr>
            <a:picLocks noChangeAspect="1"/>
          </p:cNvPicPr>
          <p:nvPr/>
        </p:nvPicPr>
        <p:blipFill>
          <a:blip r:embed="rId7"/>
          <a:stretch>
            <a:fillRect/>
          </a:stretch>
        </p:blipFill>
        <p:spPr>
          <a:xfrm>
            <a:off x="6925665" y="2079345"/>
            <a:ext cx="340156" cy="340156"/>
          </a:xfrm>
          <a:prstGeom prst="rect">
            <a:avLst/>
          </a:prstGeom>
        </p:spPr>
      </p:pic>
      <p:sp>
        <p:nvSpPr>
          <p:cNvPr id="25" name="TextBox 24"/>
          <p:cNvSpPr txBox="1"/>
          <p:nvPr/>
        </p:nvSpPr>
        <p:spPr>
          <a:xfrm>
            <a:off x="7589520" y="2011680"/>
            <a:ext cx="3840480" cy="457200"/>
          </a:xfrm>
          <a:prstGeom prst="rect">
            <a:avLst/>
          </a:prstGeom>
          <a:noFill/>
        </p:spPr>
        <p:txBody>
          <a:bodyPr wrap="square" lIns="0" rIns="0" tIns="0" bIns="0" anchor="t">
            <a:spAutoFit/>
          </a:bodyPr>
          <a:lstStyle/>
          <a:p>
            <a:pPr algn="l"/>
            <a:r>
              <a:rPr sz="2000" b="0" i="0">
                <a:solidFill>
                  <a:srgbClr val="FFFFFF"/>
                </a:solidFill>
                <a:latin typeface="Segoe UI Semibold"/>
              </a:rPr>
              <a:t>La solución</a:t>
            </a:r>
          </a:p>
        </p:txBody>
      </p:sp>
      <p:sp>
        <p:nvSpPr>
          <p:cNvPr id="26" name="TextBox 25"/>
          <p:cNvSpPr txBox="1"/>
          <p:nvPr/>
        </p:nvSpPr>
        <p:spPr>
          <a:xfrm>
            <a:off x="6812280" y="2743200"/>
            <a:ext cx="4572000" cy="914400"/>
          </a:xfrm>
          <a:prstGeom prst="rect">
            <a:avLst/>
          </a:prstGeom>
          <a:noFill/>
        </p:spPr>
        <p:txBody>
          <a:bodyPr wrap="square" lIns="0" rIns="0" tIns="0" bIns="0" anchor="t">
            <a:spAutoFit/>
          </a:bodyPr>
          <a:lstStyle/>
          <a:p>
            <a:pPr algn="l"/>
            <a:r>
              <a:rPr sz="1700" b="0" i="0">
                <a:solidFill>
                  <a:srgbClr val="FFFFFF"/>
                </a:solidFill>
                <a:latin typeface="Segoe UI"/>
              </a:rPr>
              <a:t>Un chat que da acceso a bases de datos ya procesadas, documentadas y listas para investigar.</a:t>
            </a:r>
          </a:p>
        </p:txBody>
      </p:sp>
      <p:sp>
        <p:nvSpPr>
          <p:cNvPr id="27" name="TextBox 26"/>
          <p:cNvSpPr txBox="1"/>
          <p:nvPr/>
        </p:nvSpPr>
        <p:spPr>
          <a:xfrm>
            <a:off x="6812280" y="3840480"/>
            <a:ext cx="4572000" cy="2194560"/>
          </a:xfrm>
          <a:prstGeom prst="rect">
            <a:avLst/>
          </a:prstGeom>
          <a:noFill/>
        </p:spPr>
        <p:txBody>
          <a:bodyPr wrap="square" lIns="0" rIns="0" tIns="0" bIns="0">
            <a:spAutoFit/>
          </a:bodyPr>
          <a:lstStyle/>
          <a:p>
            <a:pPr>
              <a:spcAft>
                <a:spcPts val="600"/>
              </a:spcAft>
            </a:pPr>
            <a:r>
              <a:rPr sz="1400" b="1">
                <a:solidFill>
                  <a:srgbClr val="F59E0B"/>
                </a:solidFill>
                <a:latin typeface="Segoe UI"/>
              </a:rPr>
              <a:t>•  </a:t>
            </a:r>
            <a:r>
              <a:rPr sz="1400" b="1">
                <a:solidFill>
                  <a:srgbClr val="FFFFFF"/>
                </a:solidFill>
                <a:latin typeface="Segoe UI"/>
              </a:rPr>
              <a:t>Entiende </a:t>
            </a:r>
            <a:r>
              <a:rPr sz="1400">
                <a:solidFill>
                  <a:srgbClr val="FFFFFF"/>
                </a:solidFill>
                <a:latin typeface="Segoe UI"/>
              </a:rPr>
              <a:t>la pregunta de investigación del usuario.</a:t>
            </a:r>
          </a:p>
          <a:p>
            <a:pPr>
              <a:spcAft>
                <a:spcPts val="600"/>
              </a:spcAft>
            </a:pPr>
            <a:r>
              <a:rPr sz="1400" b="1">
                <a:solidFill>
                  <a:srgbClr val="F59E0B"/>
                </a:solidFill>
                <a:latin typeface="Segoe UI"/>
              </a:rPr>
              <a:t>•  </a:t>
            </a:r>
            <a:r>
              <a:rPr sz="1400" b="1">
                <a:solidFill>
                  <a:srgbClr val="FFFFFF"/>
                </a:solidFill>
                <a:latin typeface="Segoe UI"/>
              </a:rPr>
              <a:t>Recomienda </a:t>
            </a:r>
            <a:r>
              <a:rPr sz="1400">
                <a:solidFill>
                  <a:srgbClr val="FFFFFF"/>
                </a:solidFill>
                <a:latin typeface="Segoe UI"/>
              </a:rPr>
              <a:t>la base adecuada y explica su contenido.</a:t>
            </a:r>
          </a:p>
          <a:p>
            <a:pPr>
              <a:spcAft>
                <a:spcPts val="600"/>
              </a:spcAft>
            </a:pPr>
            <a:r>
              <a:rPr sz="1400" b="1">
                <a:solidFill>
                  <a:srgbClr val="F59E0B"/>
                </a:solidFill>
                <a:latin typeface="Segoe UI"/>
              </a:rPr>
              <a:t>•  </a:t>
            </a:r>
            <a:r>
              <a:rPr sz="1400" b="1">
                <a:solidFill>
                  <a:srgbClr val="FFFFFF"/>
                </a:solidFill>
                <a:latin typeface="Segoe UI"/>
              </a:rPr>
              <a:t>Advierte </a:t>
            </a:r>
            <a:r>
              <a:rPr sz="1400">
                <a:solidFill>
                  <a:srgbClr val="FFFFFF"/>
                </a:solidFill>
                <a:latin typeface="Segoe UI"/>
              </a:rPr>
              <a:t>limitaciones y cómo unirla con otras fuentes.</a:t>
            </a:r>
          </a:p>
          <a:p>
            <a:pPr>
              <a:spcAft>
                <a:spcPts val="600"/>
              </a:spcAft>
            </a:pPr>
            <a:r>
              <a:rPr sz="1400" b="1">
                <a:solidFill>
                  <a:srgbClr val="F59E0B"/>
                </a:solidFill>
                <a:latin typeface="Segoe UI"/>
              </a:rPr>
              <a:t>•  </a:t>
            </a:r>
            <a:r>
              <a:rPr sz="1400" b="1">
                <a:solidFill>
                  <a:srgbClr val="FFFFFF"/>
                </a:solidFill>
                <a:latin typeface="Segoe UI"/>
              </a:rPr>
              <a:t>Entrega </a:t>
            </a:r>
            <a:r>
              <a:rPr sz="1400">
                <a:solidFill>
                  <a:srgbClr val="FFFFFF"/>
                </a:solidFill>
                <a:latin typeface="Segoe UI"/>
              </a:rPr>
              <a:t>el link de acceso a los datos y su ficha.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01 · EXPERIENCIA</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Así lo vive el usuario: tres pasos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5</a:t>
            </a:r>
          </a:p>
        </p:txBody>
      </p:sp>
      <p:sp>
        <p:nvSpPr>
          <p:cNvPr id="6" name="Rounded Rectangle 5"/>
          <p:cNvSpPr/>
          <p:nvPr/>
        </p:nvSpPr>
        <p:spPr>
          <a:xfrm>
            <a:off x="548640" y="1828800"/>
            <a:ext cx="3474720" cy="3108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822959" y="2103120"/>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Segoe UI Semibold"/>
              </a:rPr>
              <a:t>1</a:t>
            </a:r>
          </a:p>
        </p:txBody>
      </p:sp>
      <p:sp>
        <p:nvSpPr>
          <p:cNvPr id="8" name="Rounded Rectangle 7"/>
          <p:cNvSpPr/>
          <p:nvPr/>
        </p:nvSpPr>
        <p:spPr>
          <a:xfrm>
            <a:off x="3200400" y="2075688"/>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lista.png"/>
          <p:cNvPicPr>
            <a:picLocks noChangeAspect="1"/>
          </p:cNvPicPr>
          <p:nvPr/>
        </p:nvPicPr>
        <p:blipFill>
          <a:blip r:embed="rId3"/>
          <a:stretch>
            <a:fillRect/>
          </a:stretch>
        </p:blipFill>
        <p:spPr>
          <a:xfrm>
            <a:off x="3313785" y="2189073"/>
            <a:ext cx="340156" cy="340156"/>
          </a:xfrm>
          <a:prstGeom prst="rect">
            <a:avLst/>
          </a:prstGeom>
        </p:spPr>
      </p:pic>
      <p:sp>
        <p:nvSpPr>
          <p:cNvPr id="10" name="TextBox 9"/>
          <p:cNvSpPr txBox="1"/>
          <p:nvPr/>
        </p:nvSpPr>
        <p:spPr>
          <a:xfrm>
            <a:off x="822959" y="2926080"/>
            <a:ext cx="2926080" cy="457200"/>
          </a:xfrm>
          <a:prstGeom prst="rect">
            <a:avLst/>
          </a:prstGeom>
          <a:noFill/>
        </p:spPr>
        <p:txBody>
          <a:bodyPr wrap="square" lIns="0" rIns="0" tIns="0" bIns="0" anchor="t">
            <a:spAutoFit/>
          </a:bodyPr>
          <a:lstStyle/>
          <a:p>
            <a:pPr algn="l"/>
            <a:r>
              <a:rPr sz="1900" b="0" i="0">
                <a:solidFill>
                  <a:srgbClr val="0B1F3A"/>
                </a:solidFill>
                <a:latin typeface="Segoe UI Semibold"/>
              </a:rPr>
              <a:t>Describe tu investigación</a:t>
            </a:r>
          </a:p>
        </p:txBody>
      </p:sp>
      <p:sp>
        <p:nvSpPr>
          <p:cNvPr id="11" name="TextBox 10"/>
          <p:cNvSpPr txBox="1"/>
          <p:nvPr/>
        </p:nvSpPr>
        <p:spPr>
          <a:xfrm>
            <a:off x="822959" y="3429000"/>
            <a:ext cx="2926080" cy="1280160"/>
          </a:xfrm>
          <a:prstGeom prst="rect">
            <a:avLst/>
          </a:prstGeom>
          <a:noFill/>
        </p:spPr>
        <p:txBody>
          <a:bodyPr wrap="square" lIns="0" rIns="0" tIns="0" bIns="0" anchor="t">
            <a:spAutoFit/>
          </a:bodyPr>
          <a:lstStyle/>
          <a:p>
            <a:pPr algn="l"/>
            <a:r>
              <a:rPr sz="1400" b="0" i="0">
                <a:solidFill>
                  <a:srgbClr val="475569"/>
                </a:solidFill>
                <a:latin typeface="Segoe UI"/>
              </a:rPr>
              <a:t>Resume el abstract, la hipótesis o el objetivo del trabajo o análisis económico.</a:t>
            </a:r>
          </a:p>
        </p:txBody>
      </p:sp>
      <p:cxnSp>
        <p:nvCxnSpPr>
          <p:cNvPr id="12" name="Connector 11"/>
          <p:cNvCxnSpPr/>
          <p:nvPr/>
        </p:nvCxnSpPr>
        <p:spPr>
          <a:xfrm>
            <a:off x="4069080" y="3383280"/>
            <a:ext cx="274320"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9120" y="1828800"/>
            <a:ext cx="3474720" cy="3108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4663440" y="2103120"/>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Segoe UI Semibold"/>
              </a:rPr>
              <a:t>2</a:t>
            </a:r>
          </a:p>
        </p:txBody>
      </p:sp>
      <p:sp>
        <p:nvSpPr>
          <p:cNvPr id="15" name="Rounded Rectangle 14"/>
          <p:cNvSpPr/>
          <p:nvPr/>
        </p:nvSpPr>
        <p:spPr>
          <a:xfrm>
            <a:off x="7040879" y="2075688"/>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robot.png"/>
          <p:cNvPicPr>
            <a:picLocks noChangeAspect="1"/>
          </p:cNvPicPr>
          <p:nvPr/>
        </p:nvPicPr>
        <p:blipFill>
          <a:blip r:embed="rId4"/>
          <a:stretch>
            <a:fillRect/>
          </a:stretch>
        </p:blipFill>
        <p:spPr>
          <a:xfrm>
            <a:off x="7154265" y="2189073"/>
            <a:ext cx="340156" cy="340156"/>
          </a:xfrm>
          <a:prstGeom prst="rect">
            <a:avLst/>
          </a:prstGeom>
        </p:spPr>
      </p:pic>
      <p:sp>
        <p:nvSpPr>
          <p:cNvPr id="17" name="TextBox 16"/>
          <p:cNvSpPr txBox="1"/>
          <p:nvPr/>
        </p:nvSpPr>
        <p:spPr>
          <a:xfrm>
            <a:off x="4663440" y="2926080"/>
            <a:ext cx="2926080" cy="457200"/>
          </a:xfrm>
          <a:prstGeom prst="rect">
            <a:avLst/>
          </a:prstGeom>
          <a:noFill/>
        </p:spPr>
        <p:txBody>
          <a:bodyPr wrap="square" lIns="0" rIns="0" tIns="0" bIns="0" anchor="t">
            <a:spAutoFit/>
          </a:bodyPr>
          <a:lstStyle/>
          <a:p>
            <a:pPr algn="l"/>
            <a:r>
              <a:rPr sz="1900" b="0" i="0">
                <a:solidFill>
                  <a:srgbClr val="0B1F3A"/>
                </a:solidFill>
                <a:latin typeface="Segoe UI Semibold"/>
              </a:rPr>
              <a:t>Recibe la recomendación</a:t>
            </a:r>
          </a:p>
        </p:txBody>
      </p:sp>
      <p:sp>
        <p:nvSpPr>
          <p:cNvPr id="18" name="TextBox 17"/>
          <p:cNvSpPr txBox="1"/>
          <p:nvPr/>
        </p:nvSpPr>
        <p:spPr>
          <a:xfrm>
            <a:off x="4663440" y="3429000"/>
            <a:ext cx="2926080" cy="1280160"/>
          </a:xfrm>
          <a:prstGeom prst="rect">
            <a:avLst/>
          </a:prstGeom>
          <a:noFill/>
        </p:spPr>
        <p:txBody>
          <a:bodyPr wrap="square" lIns="0" rIns="0" tIns="0" bIns="0" anchor="t">
            <a:spAutoFit/>
          </a:bodyPr>
          <a:lstStyle/>
          <a:p>
            <a:pPr algn="l"/>
            <a:r>
              <a:rPr sz="1400" b="0" i="0">
                <a:solidFill>
                  <a:srgbClr val="475569"/>
                </a:solidFill>
                <a:latin typeface="Segoe UI"/>
              </a:rPr>
              <a:t>El asistente explica qué base usar, qué contiene, su periodo, variables clave y limitaciones.</a:t>
            </a:r>
          </a:p>
        </p:txBody>
      </p:sp>
      <p:cxnSp>
        <p:nvCxnSpPr>
          <p:cNvPr id="19" name="Connector 18"/>
          <p:cNvCxnSpPr/>
          <p:nvPr/>
        </p:nvCxnSpPr>
        <p:spPr>
          <a:xfrm>
            <a:off x="7909560" y="3383280"/>
            <a:ext cx="274319"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229600" y="1828800"/>
            <a:ext cx="3474720" cy="3108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8503920" y="2103120"/>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Segoe UI Semibold"/>
              </a:rPr>
              <a:t>3</a:t>
            </a:r>
          </a:p>
        </p:txBody>
      </p:sp>
      <p:sp>
        <p:nvSpPr>
          <p:cNvPr id="22" name="Rounded Rectangle 21"/>
          <p:cNvSpPr/>
          <p:nvPr/>
        </p:nvSpPr>
        <p:spPr>
          <a:xfrm>
            <a:off x="10881360" y="2075688"/>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link.png"/>
          <p:cNvPicPr>
            <a:picLocks noChangeAspect="1"/>
          </p:cNvPicPr>
          <p:nvPr/>
        </p:nvPicPr>
        <p:blipFill>
          <a:blip r:embed="rId5"/>
          <a:stretch>
            <a:fillRect/>
          </a:stretch>
        </p:blipFill>
        <p:spPr>
          <a:xfrm>
            <a:off x="10994745" y="2189073"/>
            <a:ext cx="340156" cy="340156"/>
          </a:xfrm>
          <a:prstGeom prst="rect">
            <a:avLst/>
          </a:prstGeom>
        </p:spPr>
      </p:pic>
      <p:sp>
        <p:nvSpPr>
          <p:cNvPr id="24" name="TextBox 23"/>
          <p:cNvSpPr txBox="1"/>
          <p:nvPr/>
        </p:nvSpPr>
        <p:spPr>
          <a:xfrm>
            <a:off x="8503920" y="2926080"/>
            <a:ext cx="2926080" cy="457200"/>
          </a:xfrm>
          <a:prstGeom prst="rect">
            <a:avLst/>
          </a:prstGeom>
          <a:noFill/>
        </p:spPr>
        <p:txBody>
          <a:bodyPr wrap="square" lIns="0" rIns="0" tIns="0" bIns="0" anchor="t">
            <a:spAutoFit/>
          </a:bodyPr>
          <a:lstStyle/>
          <a:p>
            <a:pPr algn="l"/>
            <a:r>
              <a:rPr sz="1900" b="0" i="0">
                <a:solidFill>
                  <a:srgbClr val="0B1F3A"/>
                </a:solidFill>
                <a:latin typeface="Segoe UI Semibold"/>
              </a:rPr>
              <a:t>Accede a los datos</a:t>
            </a:r>
          </a:p>
        </p:txBody>
      </p:sp>
      <p:sp>
        <p:nvSpPr>
          <p:cNvPr id="25" name="TextBox 24"/>
          <p:cNvSpPr txBox="1"/>
          <p:nvPr/>
        </p:nvSpPr>
        <p:spPr>
          <a:xfrm>
            <a:off x="8503920" y="3429000"/>
            <a:ext cx="2926080" cy="1280160"/>
          </a:xfrm>
          <a:prstGeom prst="rect">
            <a:avLst/>
          </a:prstGeom>
          <a:noFill/>
        </p:spPr>
        <p:txBody>
          <a:bodyPr wrap="square" lIns="0" rIns="0" tIns="0" bIns="0" anchor="t">
            <a:spAutoFit/>
          </a:bodyPr>
          <a:lstStyle/>
          <a:p>
            <a:pPr algn="l"/>
            <a:r>
              <a:rPr sz="1400" b="0" i="0">
                <a:solidFill>
                  <a:srgbClr val="475569"/>
                </a:solidFill>
                <a:latin typeface="Segoe UI"/>
              </a:rPr>
              <a:t>Debajo de la respuesta aparece el link a la carpeta con los datos y la ficha técnica en PDF.</a:t>
            </a:r>
          </a:p>
        </p:txBody>
      </p:sp>
      <p:sp>
        <p:nvSpPr>
          <p:cNvPr id="26" name="Rounded Rectangle 25"/>
          <p:cNvSpPr/>
          <p:nvPr/>
        </p:nvSpPr>
        <p:spPr>
          <a:xfrm>
            <a:off x="548640" y="5257800"/>
            <a:ext cx="11064240" cy="868680"/>
          </a:xfrm>
          <a:prstGeom prst="roundRect">
            <a:avLst>
              <a:gd name="adj" fmla="val 6000"/>
            </a:avLst>
          </a:prstGeom>
          <a:solidFill>
            <a:srgbClr val="E6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822960" y="5257800"/>
            <a:ext cx="10607040" cy="868680"/>
          </a:xfrm>
          <a:prstGeom prst="rect">
            <a:avLst/>
          </a:prstGeom>
          <a:noFill/>
        </p:spPr>
        <p:txBody>
          <a:bodyPr wrap="square" lIns="0" rIns="0" tIns="0" bIns="0" anchor="ctr">
            <a:spAutoFit/>
          </a:bodyPr>
          <a:lstStyle/>
          <a:p>
            <a:pPr algn="l"/>
            <a:r>
              <a:rPr sz="1400" b="1" i="0">
                <a:solidFill>
                  <a:srgbClr val="0E9F8E"/>
                </a:solidFill>
                <a:latin typeface="Segoe UI"/>
              </a:rPr>
              <a:t>Ejemplo: </a:t>
            </a:r>
            <a:r>
              <a:rPr sz="1400" b="0" i="0">
                <a:solidFill>
                  <a:srgbClr val="1E293B"/>
                </a:solidFill>
                <a:latin typeface="Segoe UI"/>
              </a:rPr>
              <a:t>“Mi tesis evalúa si la pobreza distrital bajó entre 2013 y 2018 en la sierra sur”  →  el asistente recomienda la Tasa de pobreza monetaria a nivel distrito 2013 y 2018 y entrega su link.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pic>
        <p:nvPicPr>
          <p:cNvPr id="2" name="Picture 1" descr="fondo_portada.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148840"/>
            <a:ext cx="2743200" cy="914400"/>
          </a:xfrm>
          <a:prstGeom prst="rect">
            <a:avLst/>
          </a:prstGeom>
          <a:noFill/>
        </p:spPr>
        <p:txBody>
          <a:bodyPr wrap="square" lIns="0" rIns="0" tIns="0" bIns="0" anchor="t">
            <a:spAutoFit/>
          </a:bodyPr>
          <a:lstStyle/>
          <a:p>
            <a:pPr algn="l"/>
            <a:r>
              <a:rPr sz="6000" b="0" i="0">
                <a:solidFill>
                  <a:srgbClr val="F59E0B"/>
                </a:solidFill>
                <a:latin typeface="Segoe UI Semibold"/>
              </a:rPr>
              <a:t>02</a:t>
            </a:r>
          </a:p>
        </p:txBody>
      </p:sp>
      <p:sp>
        <p:nvSpPr>
          <p:cNvPr id="4" name="TextBox 3"/>
          <p:cNvSpPr txBox="1"/>
          <p:nvPr/>
        </p:nvSpPr>
        <p:spPr>
          <a:xfrm>
            <a:off x="822960" y="3063240"/>
            <a:ext cx="5760720" cy="914400"/>
          </a:xfrm>
          <a:prstGeom prst="rect">
            <a:avLst/>
          </a:prstGeom>
          <a:noFill/>
        </p:spPr>
        <p:txBody>
          <a:bodyPr wrap="square" lIns="0" rIns="0" tIns="0" bIns="0" anchor="t">
            <a:spAutoFit/>
          </a:bodyPr>
          <a:lstStyle/>
          <a:p>
            <a:pPr algn="l"/>
            <a:r>
              <a:rPr sz="4000" b="0" i="0">
                <a:solidFill>
                  <a:srgbClr val="FFFFFF"/>
                </a:solidFill>
                <a:latin typeface="Segoe UI Semibold"/>
              </a:rPr>
              <a:t>Fuente de datos</a:t>
            </a:r>
          </a:p>
        </p:txBody>
      </p:sp>
      <p:sp>
        <p:nvSpPr>
          <p:cNvPr id="5" name="TextBox 4"/>
          <p:cNvSpPr txBox="1"/>
          <p:nvPr/>
        </p:nvSpPr>
        <p:spPr>
          <a:xfrm>
            <a:off x="822960" y="3977639"/>
            <a:ext cx="5120640" cy="914400"/>
          </a:xfrm>
          <a:prstGeom prst="rect">
            <a:avLst/>
          </a:prstGeom>
          <a:noFill/>
        </p:spPr>
        <p:txBody>
          <a:bodyPr wrap="square" lIns="0" rIns="0" tIns="0" bIns="0" anchor="t">
            <a:spAutoFit/>
          </a:bodyPr>
          <a:lstStyle/>
          <a:p>
            <a:pPr algn="l"/>
            <a:r>
              <a:rPr sz="1800" b="0" i="0">
                <a:solidFill>
                  <a:srgbClr val="CBD5E1"/>
                </a:solidFill>
                <a:latin typeface="Segoe UI"/>
              </a:rPr>
              <a:t>Bases públicas procesadas, cada una con su ficha técnica en PDF</a:t>
            </a:r>
          </a:p>
        </p:txBody>
      </p:sp>
      <p:sp>
        <p:nvSpPr>
          <p:cNvPr id="6" name="TextBox 5"/>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CBD5E1"/>
                </a:solidFill>
                <a:latin typeface="Segoe UI"/>
              </a:rPr>
              <a:t>Kalish Manta Analytics  ·  Roberto</a:t>
            </a:r>
          </a:p>
        </p:txBody>
      </p:sp>
      <p:sp>
        <p:nvSpPr>
          <p:cNvPr id="7" name="TextBox 6"/>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CBD5E1"/>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02 · FUENTE DE DATOS</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Bases públicas, procesadas y listas para investigar</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7</a:t>
            </a:r>
          </a:p>
        </p:txBody>
      </p:sp>
      <p:sp>
        <p:nvSpPr>
          <p:cNvPr id="6" name="Rounded Rectangle 5"/>
          <p:cNvSpPr/>
          <p:nvPr/>
        </p:nvSpPr>
        <p:spPr>
          <a:xfrm>
            <a:off x="548640" y="1783080"/>
            <a:ext cx="260604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920240"/>
            <a:ext cx="2194560" cy="868680"/>
          </a:xfrm>
          <a:prstGeom prst="rect">
            <a:avLst/>
          </a:prstGeom>
          <a:noFill/>
        </p:spPr>
        <p:txBody>
          <a:bodyPr wrap="square" lIns="0" rIns="0" tIns="0" bIns="0" anchor="ctr">
            <a:spAutoFit/>
          </a:bodyPr>
          <a:lstStyle/>
          <a:p>
            <a:pPr algn="l"/>
            <a:r>
              <a:rPr sz="4000" b="0" i="0">
                <a:solidFill>
                  <a:srgbClr val="0E9F8E"/>
                </a:solidFill>
                <a:latin typeface="Segoe UI Semibold"/>
              </a:rPr>
              <a:t>15</a:t>
            </a:r>
          </a:p>
        </p:txBody>
      </p:sp>
      <p:sp>
        <p:nvSpPr>
          <p:cNvPr id="8" name="TextBox 7"/>
          <p:cNvSpPr txBox="1"/>
          <p:nvPr/>
        </p:nvSpPr>
        <p:spPr>
          <a:xfrm>
            <a:off x="822959" y="2788920"/>
            <a:ext cx="2194560" cy="365760"/>
          </a:xfrm>
          <a:prstGeom prst="rect">
            <a:avLst/>
          </a:prstGeom>
          <a:noFill/>
        </p:spPr>
        <p:txBody>
          <a:bodyPr wrap="square" lIns="0" rIns="0" tIns="0" bIns="0" anchor="t">
            <a:spAutoFit/>
          </a:bodyPr>
          <a:lstStyle/>
          <a:p>
            <a:pPr algn="l"/>
            <a:r>
              <a:rPr sz="1600" b="0" i="0">
                <a:solidFill>
                  <a:srgbClr val="0B1F3A"/>
                </a:solidFill>
                <a:latin typeface="Segoe UI Semibold"/>
              </a:rPr>
              <a:t>bases de datos</a:t>
            </a:r>
          </a:p>
        </p:txBody>
      </p:sp>
      <p:sp>
        <p:nvSpPr>
          <p:cNvPr id="9" name="TextBox 8"/>
          <p:cNvSpPr txBox="1"/>
          <p:nvPr/>
        </p:nvSpPr>
        <p:spPr>
          <a:xfrm>
            <a:off x="822959" y="3154680"/>
            <a:ext cx="2194560" cy="457200"/>
          </a:xfrm>
          <a:prstGeom prst="rect">
            <a:avLst/>
          </a:prstGeom>
          <a:noFill/>
        </p:spPr>
        <p:txBody>
          <a:bodyPr wrap="square" lIns="0" rIns="0" tIns="0" bIns="0" anchor="t">
            <a:spAutoFit/>
          </a:bodyPr>
          <a:lstStyle/>
          <a:p>
            <a:pPr algn="l"/>
            <a:r>
              <a:rPr sz="1200" b="0" i="0">
                <a:solidFill>
                  <a:srgbClr val="475569"/>
                </a:solidFill>
                <a:latin typeface="Segoe UI"/>
              </a:rPr>
              <a:t>en el catálogo actual</a:t>
            </a:r>
          </a:p>
        </p:txBody>
      </p:sp>
      <p:sp>
        <p:nvSpPr>
          <p:cNvPr id="10" name="Rounded Rectangle 9"/>
          <p:cNvSpPr/>
          <p:nvPr/>
        </p:nvSpPr>
        <p:spPr>
          <a:xfrm>
            <a:off x="3364992" y="1783080"/>
            <a:ext cx="260604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639312" y="1920240"/>
            <a:ext cx="2194560" cy="868680"/>
          </a:xfrm>
          <a:prstGeom prst="rect">
            <a:avLst/>
          </a:prstGeom>
          <a:noFill/>
        </p:spPr>
        <p:txBody>
          <a:bodyPr wrap="square" lIns="0" rIns="0" tIns="0" bIns="0" anchor="ctr">
            <a:spAutoFit/>
          </a:bodyPr>
          <a:lstStyle/>
          <a:p>
            <a:pPr algn="l"/>
            <a:r>
              <a:rPr sz="4000" b="0" i="0">
                <a:solidFill>
                  <a:srgbClr val="0E9F8E"/>
                </a:solidFill>
                <a:latin typeface="Segoe UI Semibold"/>
              </a:rPr>
              <a:t>8</a:t>
            </a:r>
          </a:p>
        </p:txBody>
      </p:sp>
      <p:sp>
        <p:nvSpPr>
          <p:cNvPr id="12" name="TextBox 11"/>
          <p:cNvSpPr txBox="1"/>
          <p:nvPr/>
        </p:nvSpPr>
        <p:spPr>
          <a:xfrm>
            <a:off x="3639312" y="2788920"/>
            <a:ext cx="2194560" cy="365760"/>
          </a:xfrm>
          <a:prstGeom prst="rect">
            <a:avLst/>
          </a:prstGeom>
          <a:noFill/>
        </p:spPr>
        <p:txBody>
          <a:bodyPr wrap="square" lIns="0" rIns="0" tIns="0" bIns="0" anchor="t">
            <a:spAutoFit/>
          </a:bodyPr>
          <a:lstStyle/>
          <a:p>
            <a:pPr algn="l"/>
            <a:r>
              <a:rPr sz="1600" b="0" i="0">
                <a:solidFill>
                  <a:srgbClr val="0B1F3A"/>
                </a:solidFill>
                <a:latin typeface="Segoe UI Semibold"/>
              </a:rPr>
              <a:t>temas</a:t>
            </a:r>
          </a:p>
        </p:txBody>
      </p:sp>
      <p:sp>
        <p:nvSpPr>
          <p:cNvPr id="13" name="TextBox 12"/>
          <p:cNvSpPr txBox="1"/>
          <p:nvPr/>
        </p:nvSpPr>
        <p:spPr>
          <a:xfrm>
            <a:off x="3639312" y="3154680"/>
            <a:ext cx="2194560" cy="457200"/>
          </a:xfrm>
          <a:prstGeom prst="rect">
            <a:avLst/>
          </a:prstGeom>
          <a:noFill/>
        </p:spPr>
        <p:txBody>
          <a:bodyPr wrap="square" lIns="0" rIns="0" tIns="0" bIns="0" anchor="t">
            <a:spAutoFit/>
          </a:bodyPr>
          <a:lstStyle/>
          <a:p>
            <a:pPr algn="l"/>
            <a:r>
              <a:rPr sz="1200" b="0" i="0">
                <a:solidFill>
                  <a:srgbClr val="475569"/>
                </a:solidFill>
                <a:latin typeface="Segoe UI"/>
              </a:rPr>
              <a:t>de economía y ciencias sociales</a:t>
            </a:r>
          </a:p>
        </p:txBody>
      </p:sp>
      <p:sp>
        <p:nvSpPr>
          <p:cNvPr id="14" name="Rounded Rectangle 13"/>
          <p:cNvSpPr/>
          <p:nvPr/>
        </p:nvSpPr>
        <p:spPr>
          <a:xfrm>
            <a:off x="6181344" y="1783080"/>
            <a:ext cx="260604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55664" y="1920240"/>
            <a:ext cx="2194560" cy="868680"/>
          </a:xfrm>
          <a:prstGeom prst="rect">
            <a:avLst/>
          </a:prstGeom>
          <a:noFill/>
        </p:spPr>
        <p:txBody>
          <a:bodyPr wrap="square" lIns="0" rIns="0" tIns="0" bIns="0" anchor="ctr">
            <a:spAutoFit/>
          </a:bodyPr>
          <a:lstStyle/>
          <a:p>
            <a:pPr algn="l"/>
            <a:r>
              <a:rPr sz="4000" b="0" i="0">
                <a:solidFill>
                  <a:srgbClr val="0E9F8E"/>
                </a:solidFill>
                <a:latin typeface="Segoe UI Semibold"/>
              </a:rPr>
              <a:t>15</a:t>
            </a:r>
          </a:p>
        </p:txBody>
      </p:sp>
      <p:sp>
        <p:nvSpPr>
          <p:cNvPr id="16" name="TextBox 15"/>
          <p:cNvSpPr txBox="1"/>
          <p:nvPr/>
        </p:nvSpPr>
        <p:spPr>
          <a:xfrm>
            <a:off x="6455664" y="2788920"/>
            <a:ext cx="2194560" cy="365760"/>
          </a:xfrm>
          <a:prstGeom prst="rect">
            <a:avLst/>
          </a:prstGeom>
          <a:noFill/>
        </p:spPr>
        <p:txBody>
          <a:bodyPr wrap="square" lIns="0" rIns="0" tIns="0" bIns="0" anchor="t">
            <a:spAutoFit/>
          </a:bodyPr>
          <a:lstStyle/>
          <a:p>
            <a:pPr algn="l"/>
            <a:r>
              <a:rPr sz="1600" b="0" i="0">
                <a:solidFill>
                  <a:srgbClr val="0B1F3A"/>
                </a:solidFill>
                <a:latin typeface="Segoe UI Semibold"/>
              </a:rPr>
              <a:t>fichas PDF</a:t>
            </a:r>
          </a:p>
        </p:txBody>
      </p:sp>
      <p:sp>
        <p:nvSpPr>
          <p:cNvPr id="17" name="TextBox 16"/>
          <p:cNvSpPr txBox="1"/>
          <p:nvPr/>
        </p:nvSpPr>
        <p:spPr>
          <a:xfrm>
            <a:off x="6455664" y="3154680"/>
            <a:ext cx="2194560" cy="457200"/>
          </a:xfrm>
          <a:prstGeom prst="rect">
            <a:avLst/>
          </a:prstGeom>
          <a:noFill/>
        </p:spPr>
        <p:txBody>
          <a:bodyPr wrap="square" lIns="0" rIns="0" tIns="0" bIns="0" anchor="t">
            <a:spAutoFit/>
          </a:bodyPr>
          <a:lstStyle/>
          <a:p>
            <a:pPr algn="l"/>
            <a:r>
              <a:rPr sz="1200" b="0" i="0">
                <a:solidFill>
                  <a:srgbClr val="475569"/>
                </a:solidFill>
                <a:latin typeface="Segoe UI"/>
              </a:rPr>
              <a:t>una por base, con todo detalle</a:t>
            </a:r>
          </a:p>
        </p:txBody>
      </p:sp>
      <p:sp>
        <p:nvSpPr>
          <p:cNvPr id="18" name="Rounded Rectangle 17"/>
          <p:cNvSpPr/>
          <p:nvPr/>
        </p:nvSpPr>
        <p:spPr>
          <a:xfrm>
            <a:off x="8997696" y="1783080"/>
            <a:ext cx="260604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72016" y="1920240"/>
            <a:ext cx="2194560" cy="868680"/>
          </a:xfrm>
          <a:prstGeom prst="rect">
            <a:avLst/>
          </a:prstGeom>
          <a:noFill/>
        </p:spPr>
        <p:txBody>
          <a:bodyPr wrap="square" lIns="0" rIns="0" tIns="0" bIns="0" anchor="ctr">
            <a:spAutoFit/>
          </a:bodyPr>
          <a:lstStyle/>
          <a:p>
            <a:pPr algn="l"/>
            <a:r>
              <a:rPr sz="3000" b="0" i="0">
                <a:solidFill>
                  <a:srgbClr val="0E9F8E"/>
                </a:solidFill>
                <a:latin typeface="Segoe UI Semibold"/>
              </a:rPr>
              <a:t>1995–2025</a:t>
            </a:r>
          </a:p>
        </p:txBody>
      </p:sp>
      <p:sp>
        <p:nvSpPr>
          <p:cNvPr id="20" name="TextBox 19"/>
          <p:cNvSpPr txBox="1"/>
          <p:nvPr/>
        </p:nvSpPr>
        <p:spPr>
          <a:xfrm>
            <a:off x="9272016" y="2788920"/>
            <a:ext cx="2194560" cy="365760"/>
          </a:xfrm>
          <a:prstGeom prst="rect">
            <a:avLst/>
          </a:prstGeom>
          <a:noFill/>
        </p:spPr>
        <p:txBody>
          <a:bodyPr wrap="square" lIns="0" rIns="0" tIns="0" bIns="0" anchor="t">
            <a:spAutoFit/>
          </a:bodyPr>
          <a:lstStyle/>
          <a:p>
            <a:pPr algn="l"/>
            <a:r>
              <a:rPr sz="1600" b="0" i="0">
                <a:solidFill>
                  <a:srgbClr val="0B1F3A"/>
                </a:solidFill>
                <a:latin typeface="Segoe UI Semibold"/>
              </a:rPr>
              <a:t>cobertura</a:t>
            </a:r>
          </a:p>
        </p:txBody>
      </p:sp>
      <p:sp>
        <p:nvSpPr>
          <p:cNvPr id="21" name="TextBox 20"/>
          <p:cNvSpPr txBox="1"/>
          <p:nvPr/>
        </p:nvSpPr>
        <p:spPr>
          <a:xfrm>
            <a:off x="9272016" y="3154680"/>
            <a:ext cx="2194560" cy="457200"/>
          </a:xfrm>
          <a:prstGeom prst="rect">
            <a:avLst/>
          </a:prstGeom>
          <a:noFill/>
        </p:spPr>
        <p:txBody>
          <a:bodyPr wrap="square" lIns="0" rIns="0" tIns="0" bIns="0" anchor="t">
            <a:spAutoFit/>
          </a:bodyPr>
          <a:lstStyle/>
          <a:p>
            <a:pPr algn="l"/>
            <a:r>
              <a:rPr sz="1200" b="0" i="0">
                <a:solidFill>
                  <a:srgbClr val="475569"/>
                </a:solidFill>
                <a:latin typeface="Segoe UI"/>
              </a:rPr>
              <a:t>según la base</a:t>
            </a:r>
          </a:p>
        </p:txBody>
      </p:sp>
      <p:sp>
        <p:nvSpPr>
          <p:cNvPr id="22" name="TextBox 21"/>
          <p:cNvSpPr txBox="1"/>
          <p:nvPr/>
        </p:nvSpPr>
        <p:spPr>
          <a:xfrm>
            <a:off x="548640" y="4069080"/>
            <a:ext cx="5486400" cy="365760"/>
          </a:xfrm>
          <a:prstGeom prst="rect">
            <a:avLst/>
          </a:prstGeom>
          <a:noFill/>
        </p:spPr>
        <p:txBody>
          <a:bodyPr wrap="square" lIns="0" rIns="0" tIns="0" bIns="0" anchor="t">
            <a:spAutoFit/>
          </a:bodyPr>
          <a:lstStyle/>
          <a:p>
            <a:pPr algn="l"/>
            <a:r>
              <a:rPr sz="1700" b="0" i="0">
                <a:solidFill>
                  <a:srgbClr val="0B1F3A"/>
                </a:solidFill>
                <a:latin typeface="Segoe UI Semibold"/>
              </a:rPr>
              <a:t>Fuentes oficiales y académicas</a:t>
            </a:r>
          </a:p>
        </p:txBody>
      </p:sp>
      <p:sp>
        <p:nvSpPr>
          <p:cNvPr id="23" name="TextBox 22"/>
          <p:cNvSpPr txBox="1"/>
          <p:nvPr/>
        </p:nvSpPr>
        <p:spPr>
          <a:xfrm>
            <a:off x="548640" y="4526280"/>
            <a:ext cx="5486400" cy="1737360"/>
          </a:xfrm>
          <a:prstGeom prst="rect">
            <a:avLst/>
          </a:prstGeom>
          <a:noFill/>
        </p:spPr>
        <p:txBody>
          <a:bodyPr wrap="square" lIns="0" rIns="0" tIns="0" bIns="0">
            <a:spAutoFit/>
          </a:bodyPr>
          <a:lstStyle/>
          <a:p>
            <a:pPr>
              <a:spcAft>
                <a:spcPts val="600"/>
              </a:spcAft>
            </a:pPr>
            <a:r>
              <a:rPr sz="1400" b="1">
                <a:solidFill>
                  <a:srgbClr val="0E9F8E"/>
                </a:solidFill>
                <a:latin typeface="Segoe UI"/>
              </a:rPr>
              <a:t>•  </a:t>
            </a:r>
            <a:r>
              <a:rPr sz="1400">
                <a:solidFill>
                  <a:srgbClr val="1E293B"/>
                </a:solidFill>
                <a:latin typeface="Segoe UI"/>
              </a:rPr>
              <a:t>INEI · MINEDU · MININTER · Ministerio Público</a:t>
            </a:r>
          </a:p>
          <a:p>
            <a:pPr>
              <a:spcAft>
                <a:spcPts val="600"/>
              </a:spcAft>
            </a:pPr>
            <a:r>
              <a:rPr sz="1400" b="1">
                <a:solidFill>
                  <a:srgbClr val="0E9F8E"/>
                </a:solidFill>
                <a:latin typeface="Segoe UI"/>
              </a:rPr>
              <a:t>•  </a:t>
            </a:r>
            <a:r>
              <a:rPr sz="1400">
                <a:solidFill>
                  <a:srgbClr val="1E293B"/>
                </a:solidFill>
                <a:latin typeface="Segoe UI"/>
              </a:rPr>
              <a:t>SENAMHI · MTC · RAISG</a:t>
            </a:r>
          </a:p>
          <a:p>
            <a:pPr>
              <a:spcAft>
                <a:spcPts val="600"/>
              </a:spcAft>
            </a:pPr>
            <a:r>
              <a:rPr sz="1400" b="1">
                <a:solidFill>
                  <a:srgbClr val="0E9F8E"/>
                </a:solidFill>
                <a:latin typeface="Segoe UI"/>
              </a:rPr>
              <a:t>•  </a:t>
            </a:r>
            <a:r>
              <a:rPr sz="1400">
                <a:solidFill>
                  <a:srgbClr val="1E293B"/>
                </a:solidFill>
                <a:latin typeface="Segoe UI"/>
              </a:rPr>
              <a:t>Proética / Ipsos · Google Earth Engine</a:t>
            </a:r>
          </a:p>
        </p:txBody>
      </p:sp>
      <p:sp>
        <p:nvSpPr>
          <p:cNvPr id="24" name="TextBox 23"/>
          <p:cNvSpPr txBox="1"/>
          <p:nvPr/>
        </p:nvSpPr>
        <p:spPr>
          <a:xfrm>
            <a:off x="6355080" y="4069080"/>
            <a:ext cx="5303520" cy="365760"/>
          </a:xfrm>
          <a:prstGeom prst="rect">
            <a:avLst/>
          </a:prstGeom>
          <a:noFill/>
        </p:spPr>
        <p:txBody>
          <a:bodyPr wrap="square" lIns="0" rIns="0" tIns="0" bIns="0" anchor="t">
            <a:spAutoFit/>
          </a:bodyPr>
          <a:lstStyle/>
          <a:p>
            <a:pPr algn="l"/>
            <a:r>
              <a:rPr sz="1700" b="0" i="0">
                <a:solidFill>
                  <a:srgbClr val="0B1F3A"/>
                </a:solidFill>
                <a:latin typeface="Segoe UI Semibold"/>
              </a:rPr>
              <a:t>Procesadas y listas para usar</a:t>
            </a:r>
          </a:p>
        </p:txBody>
      </p:sp>
      <p:sp>
        <p:nvSpPr>
          <p:cNvPr id="25" name="TextBox 24"/>
          <p:cNvSpPr txBox="1"/>
          <p:nvPr/>
        </p:nvSpPr>
        <p:spPr>
          <a:xfrm>
            <a:off x="6355080" y="4526280"/>
            <a:ext cx="5303520" cy="1737360"/>
          </a:xfrm>
          <a:prstGeom prst="rect">
            <a:avLst/>
          </a:prstGeom>
          <a:noFill/>
        </p:spPr>
        <p:txBody>
          <a:bodyPr wrap="square" lIns="0" rIns="0" tIns="0" bIns="0">
            <a:spAutoFit/>
          </a:bodyPr>
          <a:lstStyle/>
          <a:p>
            <a:pPr>
              <a:spcAft>
                <a:spcPts val="600"/>
              </a:spcAft>
            </a:pPr>
            <a:r>
              <a:rPr sz="1400" b="1">
                <a:solidFill>
                  <a:srgbClr val="0E9F8E"/>
                </a:solidFill>
                <a:latin typeface="Segoe UI"/>
              </a:rPr>
              <a:t>•  </a:t>
            </a:r>
            <a:r>
              <a:rPr sz="1400">
                <a:solidFill>
                  <a:srgbClr val="1E293B"/>
                </a:solidFill>
                <a:latin typeface="Segoe UI"/>
              </a:rPr>
              <a:t>Paneles construidos y variables documentadas</a:t>
            </a:r>
          </a:p>
          <a:p>
            <a:pPr>
              <a:spcAft>
                <a:spcPts val="600"/>
              </a:spcAft>
            </a:pPr>
            <a:r>
              <a:rPr sz="1400" b="1">
                <a:solidFill>
                  <a:srgbClr val="0E9F8E"/>
                </a:solidFill>
                <a:latin typeface="Segoe UI"/>
              </a:rPr>
              <a:t>•  </a:t>
            </a:r>
            <a:r>
              <a:rPr sz="1400">
                <a:solidFill>
                  <a:srgbClr val="1E293B"/>
                </a:solidFill>
                <a:latin typeface="Segoe UI"/>
              </a:rPr>
              <a:t>Stata, SPSS, Excel, CSV y shapefiles</a:t>
            </a:r>
          </a:p>
          <a:p>
            <a:pPr>
              <a:spcAft>
                <a:spcPts val="600"/>
              </a:spcAft>
            </a:pPr>
            <a:r>
              <a:rPr sz="1400" b="1">
                <a:solidFill>
                  <a:srgbClr val="0E9F8E"/>
                </a:solidFill>
                <a:latin typeface="Segoe UI"/>
              </a:rPr>
              <a:t>•  </a:t>
            </a:r>
            <a:r>
              <a:rPr sz="1400">
                <a:solidFill>
                  <a:srgbClr val="1E293B"/>
                </a:solidFill>
                <a:latin typeface="Segoe UI"/>
              </a:rPr>
              <a:t>Carpeta en Dropbox con datos y ficha en PDF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02 · CATÁLOGO</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Catálogo: 15 bases en 8 temas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8</a:t>
            </a:r>
          </a:p>
        </p:txBody>
      </p:sp>
      <p:sp>
        <p:nvSpPr>
          <p:cNvPr id="6" name="Rounded Rectangle 5"/>
          <p:cNvSpPr/>
          <p:nvPr/>
        </p:nvSpPr>
        <p:spPr>
          <a:xfrm>
            <a:off x="548640" y="1737360"/>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777240" y="196596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educacion.png"/>
          <p:cNvPicPr>
            <a:picLocks noChangeAspect="1"/>
          </p:cNvPicPr>
          <p:nvPr/>
        </p:nvPicPr>
        <p:blipFill>
          <a:blip r:embed="rId3"/>
          <a:stretch>
            <a:fillRect/>
          </a:stretch>
        </p:blipFill>
        <p:spPr>
          <a:xfrm>
            <a:off x="877824" y="2066543"/>
            <a:ext cx="301752" cy="301752"/>
          </a:xfrm>
          <a:prstGeom prst="rect">
            <a:avLst/>
          </a:prstGeom>
        </p:spPr>
      </p:pic>
      <p:sp>
        <p:nvSpPr>
          <p:cNvPr id="9" name="TextBox 8"/>
          <p:cNvSpPr txBox="1"/>
          <p:nvPr/>
        </p:nvSpPr>
        <p:spPr>
          <a:xfrm>
            <a:off x="777240" y="260603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Educación</a:t>
            </a:r>
          </a:p>
        </p:txBody>
      </p:sp>
      <p:sp>
        <p:nvSpPr>
          <p:cNvPr id="10" name="TextBox 9"/>
          <p:cNvSpPr txBox="1"/>
          <p:nvPr/>
        </p:nvSpPr>
        <p:spPr>
          <a:xfrm>
            <a:off x="777240" y="2999232"/>
            <a:ext cx="2240280" cy="868680"/>
          </a:xfrm>
          <a:prstGeom prst="rect">
            <a:avLst/>
          </a:prstGeom>
          <a:noFill/>
        </p:spPr>
        <p:txBody>
          <a:bodyPr wrap="square" lIns="0" rIns="0" tIns="0" bIns="0" anchor="t">
            <a:spAutoFit/>
          </a:bodyPr>
          <a:lstStyle/>
          <a:p>
            <a:pPr algn="l"/>
            <a:r>
              <a:rPr sz="1150" b="0" i="0">
                <a:solidFill>
                  <a:srgbClr val="475569"/>
                </a:solidFill>
                <a:latin typeface="Segoe UI"/>
              </a:rPr>
              <a:t>Censo Escolar 2006-2023 · SISEVE 2014-2023 (bullying y violencia escolar)</a:t>
            </a:r>
          </a:p>
        </p:txBody>
      </p:sp>
      <p:sp>
        <p:nvSpPr>
          <p:cNvPr id="11" name="Rounded Rectangle 10"/>
          <p:cNvSpPr/>
          <p:nvPr/>
        </p:nvSpPr>
        <p:spPr>
          <a:xfrm>
            <a:off x="3364992" y="1737360"/>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3593592" y="196596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grafico.png"/>
          <p:cNvPicPr>
            <a:picLocks noChangeAspect="1"/>
          </p:cNvPicPr>
          <p:nvPr/>
        </p:nvPicPr>
        <p:blipFill>
          <a:blip r:embed="rId4"/>
          <a:stretch>
            <a:fillRect/>
          </a:stretch>
        </p:blipFill>
        <p:spPr>
          <a:xfrm>
            <a:off x="3694176" y="2066543"/>
            <a:ext cx="301752" cy="301752"/>
          </a:xfrm>
          <a:prstGeom prst="rect">
            <a:avLst/>
          </a:prstGeom>
        </p:spPr>
      </p:pic>
      <p:sp>
        <p:nvSpPr>
          <p:cNvPr id="14" name="TextBox 13"/>
          <p:cNvSpPr txBox="1"/>
          <p:nvPr/>
        </p:nvSpPr>
        <p:spPr>
          <a:xfrm>
            <a:off x="3593592" y="260603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Empresas y productividad</a:t>
            </a:r>
          </a:p>
        </p:txBody>
      </p:sp>
      <p:sp>
        <p:nvSpPr>
          <p:cNvPr id="15" name="TextBox 14"/>
          <p:cNvSpPr txBox="1"/>
          <p:nvPr/>
        </p:nvSpPr>
        <p:spPr>
          <a:xfrm>
            <a:off x="3593592" y="2999232"/>
            <a:ext cx="2240280" cy="868680"/>
          </a:xfrm>
          <a:prstGeom prst="rect">
            <a:avLst/>
          </a:prstGeom>
          <a:noFill/>
        </p:spPr>
        <p:txBody>
          <a:bodyPr wrap="square" lIns="0" rIns="0" tIns="0" bIns="0" anchor="t">
            <a:spAutoFit/>
          </a:bodyPr>
          <a:lstStyle/>
          <a:p>
            <a:pPr algn="l"/>
            <a:r>
              <a:rPr sz="1150" b="0" i="0">
                <a:solidFill>
                  <a:srgbClr val="475569"/>
                </a:solidFill>
                <a:latin typeface="Segoe UI"/>
              </a:rPr>
              <a:t>Panel de empresas de la Encuesta Económica Anual (EEA) 2012-2020</a:t>
            </a:r>
          </a:p>
        </p:txBody>
      </p:sp>
      <p:sp>
        <p:nvSpPr>
          <p:cNvPr id="16" name="Rounded Rectangle 15"/>
          <p:cNvSpPr/>
          <p:nvPr/>
        </p:nvSpPr>
        <p:spPr>
          <a:xfrm>
            <a:off x="6181344" y="1737360"/>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409944" y="196596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pin.png"/>
          <p:cNvPicPr>
            <a:picLocks noChangeAspect="1"/>
          </p:cNvPicPr>
          <p:nvPr/>
        </p:nvPicPr>
        <p:blipFill>
          <a:blip r:embed="rId5"/>
          <a:stretch>
            <a:fillRect/>
          </a:stretch>
        </p:blipFill>
        <p:spPr>
          <a:xfrm>
            <a:off x="6510528" y="2066543"/>
            <a:ext cx="301752" cy="301752"/>
          </a:xfrm>
          <a:prstGeom prst="rect">
            <a:avLst/>
          </a:prstGeom>
        </p:spPr>
      </p:pic>
      <p:sp>
        <p:nvSpPr>
          <p:cNvPr id="19" name="TextBox 18"/>
          <p:cNvSpPr txBox="1"/>
          <p:nvPr/>
        </p:nvSpPr>
        <p:spPr>
          <a:xfrm>
            <a:off x="6409944" y="260603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Pobreza</a:t>
            </a:r>
          </a:p>
        </p:txBody>
      </p:sp>
      <p:sp>
        <p:nvSpPr>
          <p:cNvPr id="20" name="TextBox 19"/>
          <p:cNvSpPr txBox="1"/>
          <p:nvPr/>
        </p:nvSpPr>
        <p:spPr>
          <a:xfrm>
            <a:off x="6409944" y="2999232"/>
            <a:ext cx="2240280" cy="868680"/>
          </a:xfrm>
          <a:prstGeom prst="rect">
            <a:avLst/>
          </a:prstGeom>
          <a:noFill/>
        </p:spPr>
        <p:txBody>
          <a:bodyPr wrap="square" lIns="0" rIns="0" tIns="0" bIns="0" anchor="t">
            <a:spAutoFit/>
          </a:bodyPr>
          <a:lstStyle/>
          <a:p>
            <a:pPr algn="l"/>
            <a:r>
              <a:rPr sz="1150" b="0" i="0">
                <a:solidFill>
                  <a:srgbClr val="475569"/>
                </a:solidFill>
                <a:latin typeface="Segoe UI"/>
              </a:rPr>
              <a:t>Tasa de pobreza monetaria a nivel distrito 2013 y 2018</a:t>
            </a:r>
          </a:p>
        </p:txBody>
      </p:sp>
      <p:sp>
        <p:nvSpPr>
          <p:cNvPr id="21" name="Rounded Rectangle 20"/>
          <p:cNvSpPr/>
          <p:nvPr/>
        </p:nvSpPr>
        <p:spPr>
          <a:xfrm>
            <a:off x="8997696" y="1737360"/>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9226296" y="196596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escudo.png"/>
          <p:cNvPicPr>
            <a:picLocks noChangeAspect="1"/>
          </p:cNvPicPr>
          <p:nvPr/>
        </p:nvPicPr>
        <p:blipFill>
          <a:blip r:embed="rId6"/>
          <a:stretch>
            <a:fillRect/>
          </a:stretch>
        </p:blipFill>
        <p:spPr>
          <a:xfrm>
            <a:off x="9326880" y="2066543"/>
            <a:ext cx="301752" cy="301752"/>
          </a:xfrm>
          <a:prstGeom prst="rect">
            <a:avLst/>
          </a:prstGeom>
        </p:spPr>
      </p:pic>
      <p:sp>
        <p:nvSpPr>
          <p:cNvPr id="24" name="TextBox 23"/>
          <p:cNvSpPr txBox="1"/>
          <p:nvPr/>
        </p:nvSpPr>
        <p:spPr>
          <a:xfrm>
            <a:off x="9226296" y="260603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Seguridad ciudadana</a:t>
            </a:r>
          </a:p>
        </p:txBody>
      </p:sp>
      <p:sp>
        <p:nvSpPr>
          <p:cNvPr id="25" name="TextBox 24"/>
          <p:cNvSpPr txBox="1"/>
          <p:nvPr/>
        </p:nvSpPr>
        <p:spPr>
          <a:xfrm>
            <a:off x="9226296" y="2999232"/>
            <a:ext cx="2240280" cy="868680"/>
          </a:xfrm>
          <a:prstGeom prst="rect">
            <a:avLst/>
          </a:prstGeom>
          <a:noFill/>
        </p:spPr>
        <p:txBody>
          <a:bodyPr wrap="square" lIns="0" rIns="0" tIns="0" bIns="0" anchor="t">
            <a:spAutoFit/>
          </a:bodyPr>
          <a:lstStyle/>
          <a:p>
            <a:pPr algn="l"/>
            <a:r>
              <a:rPr sz="1150" b="0" i="0">
                <a:solidFill>
                  <a:srgbClr val="475569"/>
                </a:solidFill>
                <a:latin typeface="Segoe UI"/>
              </a:rPr>
              <a:t>Denuncias SIDPOL hasta marzo de 2025 · RENADESPLE: personas detenidas</a:t>
            </a:r>
          </a:p>
        </p:txBody>
      </p:sp>
      <p:sp>
        <p:nvSpPr>
          <p:cNvPr id="26" name="Rounded Rectangle 25"/>
          <p:cNvSpPr/>
          <p:nvPr/>
        </p:nvSpPr>
        <p:spPr>
          <a:xfrm>
            <a:off x="548640" y="4069079"/>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777240" y="4297679"/>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personas.png"/>
          <p:cNvPicPr>
            <a:picLocks noChangeAspect="1"/>
          </p:cNvPicPr>
          <p:nvPr/>
        </p:nvPicPr>
        <p:blipFill>
          <a:blip r:embed="rId7"/>
          <a:stretch>
            <a:fillRect/>
          </a:stretch>
        </p:blipFill>
        <p:spPr>
          <a:xfrm>
            <a:off x="877824" y="4398264"/>
            <a:ext cx="301752" cy="301752"/>
          </a:xfrm>
          <a:prstGeom prst="rect">
            <a:avLst/>
          </a:prstGeom>
        </p:spPr>
      </p:pic>
      <p:sp>
        <p:nvSpPr>
          <p:cNvPr id="29" name="TextBox 28"/>
          <p:cNvSpPr txBox="1"/>
          <p:nvPr/>
        </p:nvSpPr>
        <p:spPr>
          <a:xfrm>
            <a:off x="777240" y="493775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Política y corrupción</a:t>
            </a:r>
          </a:p>
        </p:txBody>
      </p:sp>
      <p:sp>
        <p:nvSpPr>
          <p:cNvPr id="30" name="TextBox 29"/>
          <p:cNvSpPr txBox="1"/>
          <p:nvPr/>
        </p:nvSpPr>
        <p:spPr>
          <a:xfrm>
            <a:off x="777240" y="5330951"/>
            <a:ext cx="2240280" cy="868680"/>
          </a:xfrm>
          <a:prstGeom prst="rect">
            <a:avLst/>
          </a:prstGeom>
          <a:noFill/>
        </p:spPr>
        <p:txBody>
          <a:bodyPr wrap="square" lIns="0" rIns="0" tIns="0" bIns="0" anchor="t">
            <a:spAutoFit/>
          </a:bodyPr>
          <a:lstStyle/>
          <a:p>
            <a:pPr algn="l"/>
            <a:r>
              <a:rPr sz="1150" b="0" i="0">
                <a:solidFill>
                  <a:srgbClr val="475569"/>
                </a:solidFill>
                <a:latin typeface="Segoe UI"/>
              </a:rPr>
              <a:t>Encuesta Nacional sobre Corrupción de Proética 2025 (XIII edición)</a:t>
            </a:r>
          </a:p>
        </p:txBody>
      </p:sp>
      <p:sp>
        <p:nvSpPr>
          <p:cNvPr id="31" name="Rounded Rectangle 30"/>
          <p:cNvSpPr/>
          <p:nvPr/>
        </p:nvSpPr>
        <p:spPr>
          <a:xfrm>
            <a:off x="3364992" y="4069079"/>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3593592" y="4297679"/>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globo.png"/>
          <p:cNvPicPr>
            <a:picLocks noChangeAspect="1"/>
          </p:cNvPicPr>
          <p:nvPr/>
        </p:nvPicPr>
        <p:blipFill>
          <a:blip r:embed="rId8"/>
          <a:stretch>
            <a:fillRect/>
          </a:stretch>
        </p:blipFill>
        <p:spPr>
          <a:xfrm>
            <a:off x="3694176" y="4398264"/>
            <a:ext cx="301752" cy="301752"/>
          </a:xfrm>
          <a:prstGeom prst="rect">
            <a:avLst/>
          </a:prstGeom>
        </p:spPr>
      </p:pic>
      <p:sp>
        <p:nvSpPr>
          <p:cNvPr id="34" name="TextBox 33"/>
          <p:cNvSpPr txBox="1"/>
          <p:nvPr/>
        </p:nvSpPr>
        <p:spPr>
          <a:xfrm>
            <a:off x="3593592" y="493775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Teledetección</a:t>
            </a:r>
          </a:p>
        </p:txBody>
      </p:sp>
      <p:sp>
        <p:nvSpPr>
          <p:cNvPr id="35" name="TextBox 34"/>
          <p:cNvSpPr txBox="1"/>
          <p:nvPr/>
        </p:nvSpPr>
        <p:spPr>
          <a:xfrm>
            <a:off x="3593592" y="5330951"/>
            <a:ext cx="2240280" cy="868680"/>
          </a:xfrm>
          <a:prstGeom prst="rect">
            <a:avLst/>
          </a:prstGeom>
          <a:noFill/>
        </p:spPr>
        <p:txBody>
          <a:bodyPr wrap="square" lIns="0" rIns="0" tIns="0" bIns="0" anchor="t">
            <a:spAutoFit/>
          </a:bodyPr>
          <a:lstStyle/>
          <a:p>
            <a:pPr algn="l"/>
            <a:r>
              <a:rPr sz="1150" b="0" i="0">
                <a:solidFill>
                  <a:srgbClr val="475569"/>
                </a:solidFill>
                <a:latin typeface="Segoe UI"/>
              </a:rPr>
              <a:t>Luces nocturnas por distrito 1995-2013 · Elevación, precipitación, pendiente y temperatura</a:t>
            </a:r>
          </a:p>
        </p:txBody>
      </p:sp>
      <p:sp>
        <p:nvSpPr>
          <p:cNvPr id="36" name="Rounded Rectangle 35"/>
          <p:cNvSpPr/>
          <p:nvPr/>
        </p:nvSpPr>
        <p:spPr>
          <a:xfrm>
            <a:off x="6181344" y="4069079"/>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09944" y="4297679"/>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alerta.png"/>
          <p:cNvPicPr>
            <a:picLocks noChangeAspect="1"/>
          </p:cNvPicPr>
          <p:nvPr/>
        </p:nvPicPr>
        <p:blipFill>
          <a:blip r:embed="rId9"/>
          <a:stretch>
            <a:fillRect/>
          </a:stretch>
        </p:blipFill>
        <p:spPr>
          <a:xfrm>
            <a:off x="6510528" y="4398264"/>
            <a:ext cx="301752" cy="301752"/>
          </a:xfrm>
          <a:prstGeom prst="rect">
            <a:avLst/>
          </a:prstGeom>
        </p:spPr>
      </p:pic>
      <p:sp>
        <p:nvSpPr>
          <p:cNvPr id="39" name="TextBox 38"/>
          <p:cNvSpPr txBox="1"/>
          <p:nvPr/>
        </p:nvSpPr>
        <p:spPr>
          <a:xfrm>
            <a:off x="6409944" y="493775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Economías ilícitas</a:t>
            </a:r>
          </a:p>
        </p:txBody>
      </p:sp>
      <p:sp>
        <p:nvSpPr>
          <p:cNvPr id="40" name="TextBox 39"/>
          <p:cNvSpPr txBox="1"/>
          <p:nvPr/>
        </p:nvSpPr>
        <p:spPr>
          <a:xfrm>
            <a:off x="6409944" y="5330951"/>
            <a:ext cx="2240280" cy="868680"/>
          </a:xfrm>
          <a:prstGeom prst="rect">
            <a:avLst/>
          </a:prstGeom>
          <a:noFill/>
        </p:spPr>
        <p:txBody>
          <a:bodyPr wrap="square" lIns="0" rIns="0" tIns="0" bIns="0" anchor="t">
            <a:spAutoFit/>
          </a:bodyPr>
          <a:lstStyle/>
          <a:p>
            <a:pPr algn="l"/>
            <a:r>
              <a:rPr sz="1150" b="0" i="0">
                <a:solidFill>
                  <a:srgbClr val="475569"/>
                </a:solidFill>
                <a:latin typeface="Segoe UI"/>
              </a:rPr>
              <a:t>Shapefile de minería ilegal en la Amazonía (RAISG)</a:t>
            </a:r>
          </a:p>
        </p:txBody>
      </p:sp>
      <p:sp>
        <p:nvSpPr>
          <p:cNvPr id="41" name="Rounded Rectangle 40"/>
          <p:cNvSpPr/>
          <p:nvPr/>
        </p:nvSpPr>
        <p:spPr>
          <a:xfrm>
            <a:off x="8997696" y="4069079"/>
            <a:ext cx="2633472"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9226296" y="4297679"/>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3" name="Picture 42" descr="pin.png"/>
          <p:cNvPicPr>
            <a:picLocks noChangeAspect="1"/>
          </p:cNvPicPr>
          <p:nvPr/>
        </p:nvPicPr>
        <p:blipFill>
          <a:blip r:embed="rId5"/>
          <a:stretch>
            <a:fillRect/>
          </a:stretch>
        </p:blipFill>
        <p:spPr>
          <a:xfrm>
            <a:off x="9326880" y="4398264"/>
            <a:ext cx="301752" cy="301752"/>
          </a:xfrm>
          <a:prstGeom prst="rect">
            <a:avLst/>
          </a:prstGeom>
        </p:spPr>
      </p:pic>
      <p:sp>
        <p:nvSpPr>
          <p:cNvPr id="44" name="TextBox 43"/>
          <p:cNvSpPr txBox="1"/>
          <p:nvPr/>
        </p:nvSpPr>
        <p:spPr>
          <a:xfrm>
            <a:off x="9226296" y="4937759"/>
            <a:ext cx="2240280" cy="411480"/>
          </a:xfrm>
          <a:prstGeom prst="rect">
            <a:avLst/>
          </a:prstGeom>
          <a:noFill/>
        </p:spPr>
        <p:txBody>
          <a:bodyPr wrap="square" lIns="0" rIns="0" tIns="0" bIns="0" anchor="t">
            <a:spAutoFit/>
          </a:bodyPr>
          <a:lstStyle/>
          <a:p>
            <a:pPr algn="l"/>
            <a:r>
              <a:rPr sz="1500" b="0" i="0">
                <a:solidFill>
                  <a:srgbClr val="0B1F3A"/>
                </a:solidFill>
                <a:latin typeface="Segoe UI Semibold"/>
              </a:rPr>
              <a:t>Cartografía y vías</a:t>
            </a:r>
          </a:p>
        </p:txBody>
      </p:sp>
      <p:sp>
        <p:nvSpPr>
          <p:cNvPr id="45" name="TextBox 44"/>
          <p:cNvSpPr txBox="1"/>
          <p:nvPr/>
        </p:nvSpPr>
        <p:spPr>
          <a:xfrm>
            <a:off x="9226296" y="5330951"/>
            <a:ext cx="2240280" cy="868680"/>
          </a:xfrm>
          <a:prstGeom prst="rect">
            <a:avLst/>
          </a:prstGeom>
          <a:noFill/>
        </p:spPr>
        <p:txBody>
          <a:bodyPr wrap="square" lIns="0" rIns="0" tIns="0" bIns="0" anchor="t">
            <a:spAutoFit/>
          </a:bodyPr>
          <a:lstStyle/>
          <a:p>
            <a:pPr algn="l"/>
            <a:r>
              <a:rPr sz="1150" b="0" i="0">
                <a:solidFill>
                  <a:srgbClr val="475569"/>
                </a:solidFill>
                <a:latin typeface="Segoe UI"/>
              </a:rPr>
              <a:t>Unidades administrativas 2007 y 2017 · Límite del Perú · Red vial 2018 · Fenómeno El Niño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02 · DOCUMENTACIÓN</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La ficha PDF: el corazón del RAG</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9</a:t>
            </a:r>
          </a:p>
        </p:txBody>
      </p:sp>
      <p:sp>
        <p:nvSpPr>
          <p:cNvPr id="6" name="Rounded Rectangle 5"/>
          <p:cNvSpPr/>
          <p:nvPr/>
        </p:nvSpPr>
        <p:spPr>
          <a:xfrm>
            <a:off x="548640" y="1691640"/>
            <a:ext cx="4206240" cy="4526280"/>
          </a:xfrm>
          <a:prstGeom prst="roundRect">
            <a:avLst>
              <a:gd name="adj" fmla="val 60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22960" y="192024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agina.png"/>
          <p:cNvPicPr>
            <a:picLocks noChangeAspect="1"/>
          </p:cNvPicPr>
          <p:nvPr/>
        </p:nvPicPr>
        <p:blipFill>
          <a:blip r:embed="rId3"/>
          <a:stretch>
            <a:fillRect/>
          </a:stretch>
        </p:blipFill>
        <p:spPr>
          <a:xfrm>
            <a:off x="923544" y="2020824"/>
            <a:ext cx="301752" cy="301752"/>
          </a:xfrm>
          <a:prstGeom prst="rect">
            <a:avLst/>
          </a:prstGeom>
        </p:spPr>
      </p:pic>
      <p:sp>
        <p:nvSpPr>
          <p:cNvPr id="9" name="TextBox 8"/>
          <p:cNvSpPr txBox="1"/>
          <p:nvPr/>
        </p:nvSpPr>
        <p:spPr>
          <a:xfrm>
            <a:off x="1463040" y="1965960"/>
            <a:ext cx="3108960" cy="411480"/>
          </a:xfrm>
          <a:prstGeom prst="rect">
            <a:avLst/>
          </a:prstGeom>
          <a:noFill/>
        </p:spPr>
        <p:txBody>
          <a:bodyPr wrap="square" lIns="0" rIns="0" tIns="0" bIns="0" anchor="t">
            <a:spAutoFit/>
          </a:bodyPr>
          <a:lstStyle/>
          <a:p>
            <a:pPr algn="l"/>
            <a:r>
              <a:rPr sz="1600" b="0" i="0">
                <a:solidFill>
                  <a:srgbClr val="0B1F3A"/>
                </a:solidFill>
                <a:latin typeface="Segoe UI Semibold"/>
              </a:rPr>
              <a:t>Estructura de cada ficha</a:t>
            </a:r>
          </a:p>
        </p:txBody>
      </p:sp>
      <p:sp>
        <p:nvSpPr>
          <p:cNvPr id="10" name="TextBox 9"/>
          <p:cNvSpPr txBox="1"/>
          <p:nvPr/>
        </p:nvSpPr>
        <p:spPr>
          <a:xfrm>
            <a:off x="822960" y="2606040"/>
            <a:ext cx="3749039" cy="3566160"/>
          </a:xfrm>
          <a:prstGeom prst="rect">
            <a:avLst/>
          </a:prstGeom>
          <a:noFill/>
        </p:spPr>
        <p:txBody>
          <a:bodyPr wrap="square" lIns="0" rIns="0" tIns="0" bIns="0">
            <a:spAutoFit/>
          </a:bodyPr>
          <a:lstStyle/>
          <a:p>
            <a:pPr>
              <a:spcAft>
                <a:spcPts val="400"/>
              </a:spcAft>
            </a:pPr>
            <a:r>
              <a:rPr sz="1250" b="1">
                <a:solidFill>
                  <a:srgbClr val="0E9F8E"/>
                </a:solidFill>
                <a:latin typeface="Segoe UI"/>
              </a:rPr>
              <a:t>•  </a:t>
            </a:r>
            <a:r>
              <a:rPr sz="1250">
                <a:solidFill>
                  <a:srgbClr val="1E293B"/>
                </a:solidFill>
                <a:latin typeface="Segoe UI"/>
              </a:rPr>
              <a:t>Nombre de la base de datos</a:t>
            </a:r>
          </a:p>
          <a:p>
            <a:pPr>
              <a:spcAft>
                <a:spcPts val="400"/>
              </a:spcAft>
            </a:pPr>
            <a:r>
              <a:rPr sz="1250" b="1">
                <a:solidFill>
                  <a:srgbClr val="0E9F8E"/>
                </a:solidFill>
                <a:latin typeface="Segoe UI"/>
              </a:rPr>
              <a:t>•  </a:t>
            </a:r>
            <a:r>
              <a:rPr sz="1250">
                <a:solidFill>
                  <a:srgbClr val="1E293B"/>
                </a:solidFill>
                <a:latin typeface="Segoe UI"/>
              </a:rPr>
              <a:t>Resumen</a:t>
            </a:r>
          </a:p>
          <a:p>
            <a:pPr>
              <a:spcAft>
                <a:spcPts val="400"/>
              </a:spcAft>
            </a:pPr>
            <a:r>
              <a:rPr sz="1250" b="1">
                <a:solidFill>
                  <a:srgbClr val="0E9F8E"/>
                </a:solidFill>
                <a:latin typeface="Segoe UI"/>
              </a:rPr>
              <a:t>•  </a:t>
            </a:r>
            <a:r>
              <a:rPr sz="1250">
                <a:solidFill>
                  <a:srgbClr val="1E293B"/>
                </a:solidFill>
                <a:latin typeface="Segoe UI"/>
              </a:rPr>
              <a:t>Ficha rápida: tema, unidad, cobertura, periodo, formato, tamaño y llave para unir</a:t>
            </a:r>
          </a:p>
          <a:p>
            <a:pPr>
              <a:spcAft>
                <a:spcPts val="400"/>
              </a:spcAft>
            </a:pPr>
            <a:r>
              <a:rPr sz="1250" b="1">
                <a:solidFill>
                  <a:srgbClr val="0E9F8E"/>
                </a:solidFill>
                <a:latin typeface="Segoe UI"/>
              </a:rPr>
              <a:t>•  </a:t>
            </a:r>
            <a:r>
              <a:rPr sz="1250">
                <a:solidFill>
                  <a:srgbClr val="1E293B"/>
                </a:solidFill>
                <a:latin typeface="Segoe UI"/>
              </a:rPr>
              <a:t>Palabras clave y sinónimos</a:t>
            </a:r>
          </a:p>
          <a:p>
            <a:pPr>
              <a:spcAft>
                <a:spcPts val="400"/>
              </a:spcAft>
            </a:pPr>
            <a:r>
              <a:rPr sz="1250" b="1">
                <a:solidFill>
                  <a:srgbClr val="0E9F8E"/>
                </a:solidFill>
                <a:latin typeface="Segoe UI"/>
              </a:rPr>
              <a:t>•  </a:t>
            </a:r>
            <a:r>
              <a:rPr sz="1250">
                <a:solidFill>
                  <a:srgbClr val="1E293B"/>
                </a:solidFill>
                <a:latin typeface="Segoe UI"/>
              </a:rPr>
              <a:t>Preguntas que ayuda a responder</a:t>
            </a:r>
          </a:p>
          <a:p>
            <a:pPr>
              <a:spcAft>
                <a:spcPts val="400"/>
              </a:spcAft>
            </a:pPr>
            <a:r>
              <a:rPr sz="1250" b="1">
                <a:solidFill>
                  <a:srgbClr val="0E9F8E"/>
                </a:solidFill>
                <a:latin typeface="Segoe UI"/>
              </a:rPr>
              <a:t>•  </a:t>
            </a:r>
            <a:r>
              <a:rPr sz="1250">
                <a:solidFill>
                  <a:srgbClr val="1E293B"/>
                </a:solidFill>
                <a:latin typeface="Segoe UI"/>
              </a:rPr>
              <a:t>Archivos y variables principales</a:t>
            </a:r>
          </a:p>
          <a:p>
            <a:pPr>
              <a:spcAft>
                <a:spcPts val="400"/>
              </a:spcAft>
            </a:pPr>
            <a:r>
              <a:rPr sz="1250" b="1">
                <a:solidFill>
                  <a:srgbClr val="0E9F8E"/>
                </a:solidFill>
                <a:latin typeface="Segoe UI"/>
              </a:rPr>
              <a:t>•  </a:t>
            </a:r>
            <a:r>
              <a:rPr sz="1250">
                <a:solidFill>
                  <a:srgbClr val="1E293B"/>
                </a:solidFill>
                <a:latin typeface="Segoe UI"/>
              </a:rPr>
              <a:t>Notas y advertencias de uso</a:t>
            </a:r>
          </a:p>
          <a:p>
            <a:pPr>
              <a:spcAft>
                <a:spcPts val="400"/>
              </a:spcAft>
            </a:pPr>
            <a:r>
              <a:rPr sz="1250" b="1">
                <a:solidFill>
                  <a:srgbClr val="0E9F8E"/>
                </a:solidFill>
                <a:latin typeface="Segoe UI"/>
              </a:rPr>
              <a:t>•  </a:t>
            </a:r>
            <a:r>
              <a:rPr sz="1250">
                <a:solidFill>
                  <a:srgbClr val="1E293B"/>
                </a:solidFill>
                <a:latin typeface="Segoe UI"/>
              </a:rPr>
              <a:t>Fuente y link de Dropbox</a:t>
            </a:r>
          </a:p>
        </p:txBody>
      </p:sp>
      <p:sp>
        <p:nvSpPr>
          <p:cNvPr id="11" name="Rounded Rectangle 10"/>
          <p:cNvSpPr/>
          <p:nvPr/>
        </p:nvSpPr>
        <p:spPr>
          <a:xfrm>
            <a:off x="5120640" y="1764792"/>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ocumento.png"/>
          <p:cNvPicPr>
            <a:picLocks noChangeAspect="1"/>
          </p:cNvPicPr>
          <p:nvPr/>
        </p:nvPicPr>
        <p:blipFill>
          <a:blip r:embed="rId4"/>
          <a:stretch>
            <a:fillRect/>
          </a:stretch>
        </p:blipFill>
        <p:spPr>
          <a:xfrm>
            <a:off x="5221224" y="1865376"/>
            <a:ext cx="301752" cy="301752"/>
          </a:xfrm>
          <a:prstGeom prst="rect">
            <a:avLst/>
          </a:prstGeom>
        </p:spPr>
      </p:pic>
      <p:sp>
        <p:nvSpPr>
          <p:cNvPr id="13" name="TextBox 12"/>
          <p:cNvSpPr txBox="1"/>
          <p:nvPr/>
        </p:nvSpPr>
        <p:spPr>
          <a:xfrm>
            <a:off x="5852160" y="1691640"/>
            <a:ext cx="5760720" cy="365760"/>
          </a:xfrm>
          <a:prstGeom prst="rect">
            <a:avLst/>
          </a:prstGeom>
          <a:noFill/>
        </p:spPr>
        <p:txBody>
          <a:bodyPr wrap="square" lIns="0" rIns="0" tIns="0" bIns="0" anchor="t">
            <a:spAutoFit/>
          </a:bodyPr>
          <a:lstStyle/>
          <a:p>
            <a:pPr algn="l"/>
            <a:r>
              <a:rPr sz="1600" b="0" i="0">
                <a:solidFill>
                  <a:srgbClr val="0B1F3A"/>
                </a:solidFill>
                <a:latin typeface="Segoe UI Semibold"/>
              </a:rPr>
              <a:t>Texto completo indexado</a:t>
            </a:r>
          </a:p>
        </p:txBody>
      </p:sp>
      <p:sp>
        <p:nvSpPr>
          <p:cNvPr id="14" name="TextBox 13"/>
          <p:cNvSpPr txBox="1"/>
          <p:nvPr/>
        </p:nvSpPr>
        <p:spPr>
          <a:xfrm>
            <a:off x="5852160" y="2075688"/>
            <a:ext cx="5760720" cy="685800"/>
          </a:xfrm>
          <a:prstGeom prst="rect">
            <a:avLst/>
          </a:prstGeom>
          <a:noFill/>
        </p:spPr>
        <p:txBody>
          <a:bodyPr wrap="square" lIns="0" rIns="0" tIns="0" bIns="0" anchor="t">
            <a:spAutoFit/>
          </a:bodyPr>
          <a:lstStyle/>
          <a:p>
            <a:pPr algn="l"/>
            <a:r>
              <a:rPr sz="1300" b="0" i="0">
                <a:solidFill>
                  <a:srgbClr val="475569"/>
                </a:solidFill>
                <a:latin typeface="Segoe UI"/>
              </a:rPr>
              <a:t>Se divide en chunks y se vectoriza: es lo que el asistente lee para responder.</a:t>
            </a:r>
          </a:p>
        </p:txBody>
      </p:sp>
      <p:sp>
        <p:nvSpPr>
          <p:cNvPr id="15" name="Rounded Rectangle 14"/>
          <p:cNvSpPr/>
          <p:nvPr/>
        </p:nvSpPr>
        <p:spPr>
          <a:xfrm>
            <a:off x="5120640" y="2907792"/>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estrella.png"/>
          <p:cNvPicPr>
            <a:picLocks noChangeAspect="1"/>
          </p:cNvPicPr>
          <p:nvPr/>
        </p:nvPicPr>
        <p:blipFill>
          <a:blip r:embed="rId5"/>
          <a:stretch>
            <a:fillRect/>
          </a:stretch>
        </p:blipFill>
        <p:spPr>
          <a:xfrm>
            <a:off x="5221224" y="3008376"/>
            <a:ext cx="301752" cy="301752"/>
          </a:xfrm>
          <a:prstGeom prst="rect">
            <a:avLst/>
          </a:prstGeom>
        </p:spPr>
      </p:pic>
      <p:sp>
        <p:nvSpPr>
          <p:cNvPr id="17" name="TextBox 16"/>
          <p:cNvSpPr txBox="1"/>
          <p:nvPr/>
        </p:nvSpPr>
        <p:spPr>
          <a:xfrm>
            <a:off x="5852160" y="2834640"/>
            <a:ext cx="5760720" cy="365760"/>
          </a:xfrm>
          <a:prstGeom prst="rect">
            <a:avLst/>
          </a:prstGeom>
          <a:noFill/>
        </p:spPr>
        <p:txBody>
          <a:bodyPr wrap="square" lIns="0" rIns="0" tIns="0" bIns="0" anchor="t">
            <a:spAutoFit/>
          </a:bodyPr>
          <a:lstStyle/>
          <a:p>
            <a:pPr algn="l"/>
            <a:r>
              <a:rPr sz="1600" b="0" i="0">
                <a:solidFill>
                  <a:srgbClr val="0B1F3A"/>
                </a:solidFill>
                <a:latin typeface="Segoe UI Semibold"/>
              </a:rPr>
              <a:t>Título oficial</a:t>
            </a:r>
          </a:p>
        </p:txBody>
      </p:sp>
      <p:sp>
        <p:nvSpPr>
          <p:cNvPr id="18" name="TextBox 17"/>
          <p:cNvSpPr txBox="1"/>
          <p:nvPr/>
        </p:nvSpPr>
        <p:spPr>
          <a:xfrm>
            <a:off x="5852160" y="3218688"/>
            <a:ext cx="5760720" cy="685800"/>
          </a:xfrm>
          <a:prstGeom prst="rect">
            <a:avLst/>
          </a:prstGeom>
          <a:noFill/>
        </p:spPr>
        <p:txBody>
          <a:bodyPr wrap="square" lIns="0" rIns="0" tIns="0" bIns="0" anchor="t">
            <a:spAutoFit/>
          </a:bodyPr>
          <a:lstStyle/>
          <a:p>
            <a:pPr algn="l"/>
            <a:r>
              <a:rPr sz="1300" b="0" i="0">
                <a:solidFill>
                  <a:srgbClr val="475569"/>
                </a:solidFill>
                <a:latin typeface="Segoe UI"/>
              </a:rPr>
              <a:t>La línea “Nombre de base de datos” se usa en el catálogo, en el prompt y en los links.</a:t>
            </a:r>
          </a:p>
        </p:txBody>
      </p:sp>
      <p:sp>
        <p:nvSpPr>
          <p:cNvPr id="19" name="Rounded Rectangle 18"/>
          <p:cNvSpPr/>
          <p:nvPr/>
        </p:nvSpPr>
        <p:spPr>
          <a:xfrm>
            <a:off x="5120640" y="4050791"/>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nk.png"/>
          <p:cNvPicPr>
            <a:picLocks noChangeAspect="1"/>
          </p:cNvPicPr>
          <p:nvPr/>
        </p:nvPicPr>
        <p:blipFill>
          <a:blip r:embed="rId6"/>
          <a:stretch>
            <a:fillRect/>
          </a:stretch>
        </p:blipFill>
        <p:spPr>
          <a:xfrm>
            <a:off x="5221224" y="4151376"/>
            <a:ext cx="301752" cy="301752"/>
          </a:xfrm>
          <a:prstGeom prst="rect">
            <a:avLst/>
          </a:prstGeom>
        </p:spPr>
      </p:pic>
      <p:sp>
        <p:nvSpPr>
          <p:cNvPr id="21" name="TextBox 20"/>
          <p:cNvSpPr txBox="1"/>
          <p:nvPr/>
        </p:nvSpPr>
        <p:spPr>
          <a:xfrm>
            <a:off x="5852160" y="3977639"/>
            <a:ext cx="5760720" cy="365760"/>
          </a:xfrm>
          <a:prstGeom prst="rect">
            <a:avLst/>
          </a:prstGeom>
          <a:noFill/>
        </p:spPr>
        <p:txBody>
          <a:bodyPr wrap="square" lIns="0" rIns="0" tIns="0" bIns="0" anchor="t">
            <a:spAutoFit/>
          </a:bodyPr>
          <a:lstStyle/>
          <a:p>
            <a:pPr algn="l"/>
            <a:r>
              <a:rPr sz="1600" b="0" i="0">
                <a:solidFill>
                  <a:srgbClr val="0B1F3A"/>
                </a:solidFill>
                <a:latin typeface="Segoe UI Semibold"/>
              </a:rPr>
              <a:t>Link de Dropbox a la metadata</a:t>
            </a:r>
          </a:p>
        </p:txBody>
      </p:sp>
      <p:sp>
        <p:nvSpPr>
          <p:cNvPr id="22" name="TextBox 21"/>
          <p:cNvSpPr txBox="1"/>
          <p:nvPr/>
        </p:nvSpPr>
        <p:spPr>
          <a:xfrm>
            <a:off x="5852160" y="4361688"/>
            <a:ext cx="5760720" cy="685800"/>
          </a:xfrm>
          <a:prstGeom prst="rect">
            <a:avLst/>
          </a:prstGeom>
          <a:noFill/>
        </p:spPr>
        <p:txBody>
          <a:bodyPr wrap="square" lIns="0" rIns="0" tIns="0" bIns="0" anchor="t">
            <a:spAutoFit/>
          </a:bodyPr>
          <a:lstStyle/>
          <a:p>
            <a:pPr algn="l"/>
            <a:r>
              <a:rPr sz="1300" b="0" i="0">
                <a:solidFill>
                  <a:srgbClr val="475569"/>
                </a:solidFill>
                <a:latin typeface="Segoe UI"/>
              </a:rPr>
              <a:t>Se extrae del hipervínculo del PDF y se agrega al final de la respuesta: el LLM nunca lo escribe.</a:t>
            </a:r>
          </a:p>
        </p:txBody>
      </p:sp>
      <p:sp>
        <p:nvSpPr>
          <p:cNvPr id="23" name="Rounded Rectangle 22"/>
          <p:cNvSpPr/>
          <p:nvPr/>
        </p:nvSpPr>
        <p:spPr>
          <a:xfrm>
            <a:off x="5120640" y="5193792"/>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buscar.png"/>
          <p:cNvPicPr>
            <a:picLocks noChangeAspect="1"/>
          </p:cNvPicPr>
          <p:nvPr/>
        </p:nvPicPr>
        <p:blipFill>
          <a:blip r:embed="rId7"/>
          <a:stretch>
            <a:fillRect/>
          </a:stretch>
        </p:blipFill>
        <p:spPr>
          <a:xfrm>
            <a:off x="5221224" y="5294376"/>
            <a:ext cx="301752" cy="301752"/>
          </a:xfrm>
          <a:prstGeom prst="rect">
            <a:avLst/>
          </a:prstGeom>
        </p:spPr>
      </p:pic>
      <p:sp>
        <p:nvSpPr>
          <p:cNvPr id="25" name="TextBox 24"/>
          <p:cNvSpPr txBox="1"/>
          <p:nvPr/>
        </p:nvSpPr>
        <p:spPr>
          <a:xfrm>
            <a:off x="5852160" y="5120640"/>
            <a:ext cx="5760720" cy="365760"/>
          </a:xfrm>
          <a:prstGeom prst="rect">
            <a:avLst/>
          </a:prstGeom>
          <a:noFill/>
        </p:spPr>
        <p:txBody>
          <a:bodyPr wrap="square" lIns="0" rIns="0" tIns="0" bIns="0" anchor="t">
            <a:spAutoFit/>
          </a:bodyPr>
          <a:lstStyle/>
          <a:p>
            <a:pPr algn="l"/>
            <a:r>
              <a:rPr sz="1600" b="0" i="0">
                <a:solidFill>
                  <a:srgbClr val="0B1F3A"/>
                </a:solidFill>
                <a:latin typeface="Segoe UI Semibold"/>
              </a:rPr>
              <a:t>Palabras clave y preguntas</a:t>
            </a:r>
          </a:p>
        </p:txBody>
      </p:sp>
      <p:sp>
        <p:nvSpPr>
          <p:cNvPr id="26" name="TextBox 25"/>
          <p:cNvSpPr txBox="1"/>
          <p:nvPr/>
        </p:nvSpPr>
        <p:spPr>
          <a:xfrm>
            <a:off x="5852160" y="5504688"/>
            <a:ext cx="5760720" cy="685800"/>
          </a:xfrm>
          <a:prstGeom prst="rect">
            <a:avLst/>
          </a:prstGeom>
          <a:noFill/>
        </p:spPr>
        <p:txBody>
          <a:bodyPr wrap="square" lIns="0" rIns="0" tIns="0" bIns="0" anchor="t">
            <a:spAutoFit/>
          </a:bodyPr>
          <a:lstStyle/>
          <a:p>
            <a:pPr algn="l"/>
            <a:r>
              <a:rPr sz="1300" b="0" i="0">
                <a:solidFill>
                  <a:srgbClr val="475569"/>
                </a:solidFill>
                <a:latin typeface="Segoe UI"/>
              </a:rPr>
              <a:t>Sinónimos y preguntas típicas mejoran la búsqueda semántica.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pic>
        <p:nvPicPr>
          <p:cNvPr id="2" name="Picture 1" descr="fondo_portada.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148840"/>
            <a:ext cx="2743200" cy="914400"/>
          </a:xfrm>
          <a:prstGeom prst="rect">
            <a:avLst/>
          </a:prstGeom>
          <a:noFill/>
        </p:spPr>
        <p:txBody>
          <a:bodyPr wrap="square" lIns="0" rIns="0" tIns="0" bIns="0" anchor="t">
            <a:spAutoFit/>
          </a:bodyPr>
          <a:lstStyle/>
          <a:p>
            <a:pPr algn="l"/>
            <a:r>
              <a:rPr sz="6000" b="0" i="0">
                <a:solidFill>
                  <a:srgbClr val="F59E0B"/>
                </a:solidFill>
                <a:latin typeface="Segoe UI Semibold"/>
              </a:rPr>
              <a:t>03</a:t>
            </a:r>
          </a:p>
        </p:txBody>
      </p:sp>
      <p:sp>
        <p:nvSpPr>
          <p:cNvPr id="4" name="TextBox 3"/>
          <p:cNvSpPr txBox="1"/>
          <p:nvPr/>
        </p:nvSpPr>
        <p:spPr>
          <a:xfrm>
            <a:off x="822960" y="3063240"/>
            <a:ext cx="5760720" cy="914400"/>
          </a:xfrm>
          <a:prstGeom prst="rect">
            <a:avLst/>
          </a:prstGeom>
          <a:noFill/>
        </p:spPr>
        <p:txBody>
          <a:bodyPr wrap="square" lIns="0" rIns="0" tIns="0" bIns="0" anchor="t">
            <a:spAutoFit/>
          </a:bodyPr>
          <a:lstStyle/>
          <a:p>
            <a:pPr algn="l"/>
            <a:r>
              <a:rPr sz="4000" b="0" i="0">
                <a:solidFill>
                  <a:srgbClr val="FFFFFF"/>
                </a:solidFill>
                <a:latin typeface="Segoe UI Semibold"/>
              </a:rPr>
              <a:t>Stack tecnológico</a:t>
            </a:r>
          </a:p>
        </p:txBody>
      </p:sp>
      <p:sp>
        <p:nvSpPr>
          <p:cNvPr id="5" name="TextBox 4"/>
          <p:cNvSpPr txBox="1"/>
          <p:nvPr/>
        </p:nvSpPr>
        <p:spPr>
          <a:xfrm>
            <a:off x="822960" y="3977639"/>
            <a:ext cx="5120640" cy="914400"/>
          </a:xfrm>
          <a:prstGeom prst="rect">
            <a:avLst/>
          </a:prstGeom>
          <a:noFill/>
        </p:spPr>
        <p:txBody>
          <a:bodyPr wrap="square" lIns="0" rIns="0" tIns="0" bIns="0" anchor="t">
            <a:spAutoFit/>
          </a:bodyPr>
          <a:lstStyle/>
          <a:p>
            <a:pPr algn="l"/>
            <a:r>
              <a:rPr sz="1800" b="0" i="0">
                <a:solidFill>
                  <a:srgbClr val="CBD5E1"/>
                </a:solidFill>
                <a:latin typeface="Segoe UI"/>
              </a:rPr>
              <a:t>Modelos abiertos, orquestación con LangChain y todo corriendo en local</a:t>
            </a:r>
          </a:p>
        </p:txBody>
      </p:sp>
      <p:sp>
        <p:nvSpPr>
          <p:cNvPr id="6" name="TextBox 5"/>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CBD5E1"/>
                </a:solidFill>
                <a:latin typeface="Segoe UI"/>
              </a:rPr>
              <a:t>Kalish Manta Analytics  ·  Roberto</a:t>
            </a:r>
          </a:p>
        </p:txBody>
      </p:sp>
      <p:sp>
        <p:nvSpPr>
          <p:cNvPr id="7" name="TextBox 6"/>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CBD5E1"/>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STACK</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Stack tecnológico de punta a punta</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11</a:t>
            </a:r>
          </a:p>
        </p:txBody>
      </p:sp>
      <p:sp>
        <p:nvSpPr>
          <p:cNvPr id="6" name="Rounded Rectangle 5"/>
          <p:cNvSpPr/>
          <p:nvPr/>
        </p:nvSpPr>
        <p:spPr>
          <a:xfrm>
            <a:off x="548640" y="1737360"/>
            <a:ext cx="3520440" cy="2057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22959" y="2011679"/>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onitor.png"/>
          <p:cNvPicPr>
            <a:picLocks noChangeAspect="1"/>
          </p:cNvPicPr>
          <p:nvPr/>
        </p:nvPicPr>
        <p:blipFill>
          <a:blip r:embed="rId3"/>
          <a:stretch>
            <a:fillRect/>
          </a:stretch>
        </p:blipFill>
        <p:spPr>
          <a:xfrm>
            <a:off x="936345" y="2125065"/>
            <a:ext cx="340156" cy="340156"/>
          </a:xfrm>
          <a:prstGeom prst="rect">
            <a:avLst/>
          </a:prstGeom>
        </p:spPr>
      </p:pic>
      <p:sp>
        <p:nvSpPr>
          <p:cNvPr id="9" name="TextBox 8"/>
          <p:cNvSpPr txBox="1"/>
          <p:nvPr/>
        </p:nvSpPr>
        <p:spPr>
          <a:xfrm>
            <a:off x="1554480" y="2011679"/>
            <a:ext cx="2377440" cy="274320"/>
          </a:xfrm>
          <a:prstGeom prst="rect">
            <a:avLst/>
          </a:prstGeom>
          <a:noFill/>
        </p:spPr>
        <p:txBody>
          <a:bodyPr wrap="square" lIns="0" rIns="0" tIns="0" bIns="0" anchor="t">
            <a:spAutoFit/>
          </a:bodyPr>
          <a:lstStyle/>
          <a:p>
            <a:pPr algn="l"/>
            <a:r>
              <a:rPr sz="1100" b="1" i="0">
                <a:solidFill>
                  <a:srgbClr val="0E9F8E"/>
                </a:solidFill>
                <a:latin typeface="Segoe UI Semibold"/>
              </a:rPr>
              <a:t>INTERFAZ</a:t>
            </a:r>
          </a:p>
        </p:txBody>
      </p:sp>
      <p:sp>
        <p:nvSpPr>
          <p:cNvPr id="10" name="TextBox 9"/>
          <p:cNvSpPr txBox="1"/>
          <p:nvPr/>
        </p:nvSpPr>
        <p:spPr>
          <a:xfrm>
            <a:off x="1554480" y="2267712"/>
            <a:ext cx="2377440" cy="548640"/>
          </a:xfrm>
          <a:prstGeom prst="rect">
            <a:avLst/>
          </a:prstGeom>
          <a:noFill/>
        </p:spPr>
        <p:txBody>
          <a:bodyPr wrap="square" lIns="0" rIns="0" tIns="0" bIns="0" anchor="t">
            <a:spAutoFit/>
          </a:bodyPr>
          <a:lstStyle/>
          <a:p>
            <a:pPr algn="l"/>
            <a:r>
              <a:rPr sz="1500" b="0" i="0">
                <a:solidFill>
                  <a:srgbClr val="0B1F3A"/>
                </a:solidFill>
                <a:latin typeface="Segoe UI Semibold"/>
              </a:rPr>
              <a:t>Streamlit · FastAPI (opcional)</a:t>
            </a:r>
          </a:p>
        </p:txBody>
      </p:sp>
      <p:sp>
        <p:nvSpPr>
          <p:cNvPr id="11" name="TextBox 10"/>
          <p:cNvSpPr txBox="1"/>
          <p:nvPr/>
        </p:nvSpPr>
        <p:spPr>
          <a:xfrm>
            <a:off x="822959" y="2926080"/>
            <a:ext cx="3017520" cy="777240"/>
          </a:xfrm>
          <a:prstGeom prst="rect">
            <a:avLst/>
          </a:prstGeom>
          <a:noFill/>
        </p:spPr>
        <p:txBody>
          <a:bodyPr wrap="square" lIns="0" rIns="0" tIns="0" bIns="0" anchor="t">
            <a:spAutoFit/>
          </a:bodyPr>
          <a:lstStyle/>
          <a:p>
            <a:pPr algn="l"/>
            <a:r>
              <a:rPr sz="1250" b="0" i="0">
                <a:solidFill>
                  <a:srgbClr val="475569"/>
                </a:solidFill>
                <a:latin typeface="Segoe UI"/>
              </a:rPr>
              <a:t>Chat, sliders de búsqueda, catálogo y link público con Tailscale Funnel</a:t>
            </a:r>
          </a:p>
        </p:txBody>
      </p:sp>
      <p:sp>
        <p:nvSpPr>
          <p:cNvPr id="12" name="Rounded Rectangle 11"/>
          <p:cNvSpPr/>
          <p:nvPr/>
        </p:nvSpPr>
        <p:spPr>
          <a:xfrm>
            <a:off x="4297679" y="1737360"/>
            <a:ext cx="3520440" cy="2057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571999" y="2011679"/>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rocesar.png"/>
          <p:cNvPicPr>
            <a:picLocks noChangeAspect="1"/>
          </p:cNvPicPr>
          <p:nvPr/>
        </p:nvPicPr>
        <p:blipFill>
          <a:blip r:embed="rId4"/>
          <a:stretch>
            <a:fillRect/>
          </a:stretch>
        </p:blipFill>
        <p:spPr>
          <a:xfrm>
            <a:off x="4685385" y="2125065"/>
            <a:ext cx="340156" cy="340156"/>
          </a:xfrm>
          <a:prstGeom prst="rect">
            <a:avLst/>
          </a:prstGeom>
        </p:spPr>
      </p:pic>
      <p:sp>
        <p:nvSpPr>
          <p:cNvPr id="15" name="TextBox 14"/>
          <p:cNvSpPr txBox="1"/>
          <p:nvPr/>
        </p:nvSpPr>
        <p:spPr>
          <a:xfrm>
            <a:off x="5303519" y="2011679"/>
            <a:ext cx="2377440" cy="274320"/>
          </a:xfrm>
          <a:prstGeom prst="rect">
            <a:avLst/>
          </a:prstGeom>
          <a:noFill/>
        </p:spPr>
        <p:txBody>
          <a:bodyPr wrap="square" lIns="0" rIns="0" tIns="0" bIns="0" anchor="t">
            <a:spAutoFit/>
          </a:bodyPr>
          <a:lstStyle/>
          <a:p>
            <a:pPr algn="l"/>
            <a:r>
              <a:rPr sz="1100" b="1" i="0">
                <a:solidFill>
                  <a:srgbClr val="0E9F8E"/>
                </a:solidFill>
                <a:latin typeface="Segoe UI Semibold"/>
              </a:rPr>
              <a:t>ORQUESTACIÓN</a:t>
            </a:r>
          </a:p>
        </p:txBody>
      </p:sp>
      <p:sp>
        <p:nvSpPr>
          <p:cNvPr id="16" name="TextBox 15"/>
          <p:cNvSpPr txBox="1"/>
          <p:nvPr/>
        </p:nvSpPr>
        <p:spPr>
          <a:xfrm>
            <a:off x="5303519" y="2267712"/>
            <a:ext cx="2377440" cy="548640"/>
          </a:xfrm>
          <a:prstGeom prst="rect">
            <a:avLst/>
          </a:prstGeom>
          <a:noFill/>
        </p:spPr>
        <p:txBody>
          <a:bodyPr wrap="square" lIns="0" rIns="0" tIns="0" bIns="0" anchor="t">
            <a:spAutoFit/>
          </a:bodyPr>
          <a:lstStyle/>
          <a:p>
            <a:pPr algn="l"/>
            <a:r>
              <a:rPr sz="1500" b="0" i="0">
                <a:solidFill>
                  <a:srgbClr val="0B1F3A"/>
                </a:solidFill>
                <a:latin typeface="Segoe UI Semibold"/>
              </a:rPr>
              <a:t>LangChain</a:t>
            </a:r>
          </a:p>
        </p:txBody>
      </p:sp>
      <p:sp>
        <p:nvSpPr>
          <p:cNvPr id="17" name="TextBox 16"/>
          <p:cNvSpPr txBox="1"/>
          <p:nvPr/>
        </p:nvSpPr>
        <p:spPr>
          <a:xfrm>
            <a:off x="4571999" y="2926080"/>
            <a:ext cx="3017520" cy="777240"/>
          </a:xfrm>
          <a:prstGeom prst="rect">
            <a:avLst/>
          </a:prstGeom>
          <a:noFill/>
        </p:spPr>
        <p:txBody>
          <a:bodyPr wrap="square" lIns="0" rIns="0" tIns="0" bIns="0" anchor="t">
            <a:spAutoFit/>
          </a:bodyPr>
          <a:lstStyle/>
          <a:p>
            <a:pPr algn="l"/>
            <a:r>
              <a:rPr sz="1250" b="0" i="0">
                <a:solidFill>
                  <a:srgbClr val="475569"/>
                </a:solidFill>
                <a:latin typeface="Segoe UI"/>
              </a:rPr>
              <a:t>Carga de documentos, chunks, vector store y búsqueda con score</a:t>
            </a:r>
          </a:p>
        </p:txBody>
      </p:sp>
      <p:sp>
        <p:nvSpPr>
          <p:cNvPr id="18" name="Rounded Rectangle 17"/>
          <p:cNvSpPr/>
          <p:nvPr/>
        </p:nvSpPr>
        <p:spPr>
          <a:xfrm>
            <a:off x="8046719" y="1737360"/>
            <a:ext cx="3520440" cy="2057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321040" y="2011679"/>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bros.png"/>
          <p:cNvPicPr>
            <a:picLocks noChangeAspect="1"/>
          </p:cNvPicPr>
          <p:nvPr/>
        </p:nvPicPr>
        <p:blipFill>
          <a:blip r:embed="rId5"/>
          <a:stretch>
            <a:fillRect/>
          </a:stretch>
        </p:blipFill>
        <p:spPr>
          <a:xfrm>
            <a:off x="8434425" y="2125065"/>
            <a:ext cx="340156" cy="340156"/>
          </a:xfrm>
          <a:prstGeom prst="rect">
            <a:avLst/>
          </a:prstGeom>
        </p:spPr>
      </p:pic>
      <p:sp>
        <p:nvSpPr>
          <p:cNvPr id="21" name="TextBox 20"/>
          <p:cNvSpPr txBox="1"/>
          <p:nvPr/>
        </p:nvSpPr>
        <p:spPr>
          <a:xfrm>
            <a:off x="9052559" y="2011679"/>
            <a:ext cx="2377440" cy="274320"/>
          </a:xfrm>
          <a:prstGeom prst="rect">
            <a:avLst/>
          </a:prstGeom>
          <a:noFill/>
        </p:spPr>
        <p:txBody>
          <a:bodyPr wrap="square" lIns="0" rIns="0" tIns="0" bIns="0" anchor="t">
            <a:spAutoFit/>
          </a:bodyPr>
          <a:lstStyle/>
          <a:p>
            <a:pPr algn="l"/>
            <a:r>
              <a:rPr sz="1100" b="1" i="0">
                <a:solidFill>
                  <a:srgbClr val="0E9F8E"/>
                </a:solidFill>
                <a:latin typeface="Segoe UI Semibold"/>
              </a:rPr>
              <a:t>VECTOR DATABASE</a:t>
            </a:r>
          </a:p>
        </p:txBody>
      </p:sp>
      <p:sp>
        <p:nvSpPr>
          <p:cNvPr id="22" name="TextBox 21"/>
          <p:cNvSpPr txBox="1"/>
          <p:nvPr/>
        </p:nvSpPr>
        <p:spPr>
          <a:xfrm>
            <a:off x="9052559" y="2267712"/>
            <a:ext cx="2377440" cy="548640"/>
          </a:xfrm>
          <a:prstGeom prst="rect">
            <a:avLst/>
          </a:prstGeom>
          <a:noFill/>
        </p:spPr>
        <p:txBody>
          <a:bodyPr wrap="square" lIns="0" rIns="0" tIns="0" bIns="0" anchor="t">
            <a:spAutoFit/>
          </a:bodyPr>
          <a:lstStyle/>
          <a:p>
            <a:pPr algn="l"/>
            <a:r>
              <a:rPr sz="1500" b="0" i="0">
                <a:solidFill>
                  <a:srgbClr val="0B1F3A"/>
                </a:solidFill>
                <a:latin typeface="Segoe UI Semibold"/>
              </a:rPr>
              <a:t>FAISS</a:t>
            </a:r>
          </a:p>
        </p:txBody>
      </p:sp>
      <p:sp>
        <p:nvSpPr>
          <p:cNvPr id="23" name="TextBox 22"/>
          <p:cNvSpPr txBox="1"/>
          <p:nvPr/>
        </p:nvSpPr>
        <p:spPr>
          <a:xfrm>
            <a:off x="8321040" y="2926080"/>
            <a:ext cx="3017520" cy="777240"/>
          </a:xfrm>
          <a:prstGeom prst="rect">
            <a:avLst/>
          </a:prstGeom>
          <a:noFill/>
        </p:spPr>
        <p:txBody>
          <a:bodyPr wrap="square" lIns="0" rIns="0" tIns="0" bIns="0" anchor="t">
            <a:spAutoFit/>
          </a:bodyPr>
          <a:lstStyle/>
          <a:p>
            <a:pPr algn="l"/>
            <a:r>
              <a:rPr sz="1250" b="0" i="0">
                <a:solidFill>
                  <a:srgbClr val="475569"/>
                </a:solidFill>
                <a:latin typeface="Segoe UI"/>
              </a:rPr>
              <a:t>Índice de 75 chunks con metadata: título, tema, posición y link</a:t>
            </a:r>
          </a:p>
        </p:txBody>
      </p:sp>
      <p:sp>
        <p:nvSpPr>
          <p:cNvPr id="24" name="Rounded Rectangle 23"/>
          <p:cNvSpPr/>
          <p:nvPr/>
        </p:nvSpPr>
        <p:spPr>
          <a:xfrm>
            <a:off x="548640" y="4023360"/>
            <a:ext cx="3520440" cy="2057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22959" y="4297680"/>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rayo.png"/>
          <p:cNvPicPr>
            <a:picLocks noChangeAspect="1"/>
          </p:cNvPicPr>
          <p:nvPr/>
        </p:nvPicPr>
        <p:blipFill>
          <a:blip r:embed="rId6"/>
          <a:stretch>
            <a:fillRect/>
          </a:stretch>
        </p:blipFill>
        <p:spPr>
          <a:xfrm>
            <a:off x="936345" y="4411065"/>
            <a:ext cx="340156" cy="340156"/>
          </a:xfrm>
          <a:prstGeom prst="rect">
            <a:avLst/>
          </a:prstGeom>
        </p:spPr>
      </p:pic>
      <p:sp>
        <p:nvSpPr>
          <p:cNvPr id="27" name="TextBox 26"/>
          <p:cNvSpPr txBox="1"/>
          <p:nvPr/>
        </p:nvSpPr>
        <p:spPr>
          <a:xfrm>
            <a:off x="1554480" y="4297680"/>
            <a:ext cx="2377440" cy="274320"/>
          </a:xfrm>
          <a:prstGeom prst="rect">
            <a:avLst/>
          </a:prstGeom>
          <a:noFill/>
        </p:spPr>
        <p:txBody>
          <a:bodyPr wrap="square" lIns="0" rIns="0" tIns="0" bIns="0" anchor="t">
            <a:spAutoFit/>
          </a:bodyPr>
          <a:lstStyle/>
          <a:p>
            <a:pPr algn="l"/>
            <a:r>
              <a:rPr sz="1100" b="1" i="0">
                <a:solidFill>
                  <a:srgbClr val="0E9F8E"/>
                </a:solidFill>
                <a:latin typeface="Segoe UI Semibold"/>
              </a:rPr>
              <a:t>EMBEDDINGS</a:t>
            </a:r>
          </a:p>
        </p:txBody>
      </p:sp>
      <p:sp>
        <p:nvSpPr>
          <p:cNvPr id="28" name="TextBox 27"/>
          <p:cNvSpPr txBox="1"/>
          <p:nvPr/>
        </p:nvSpPr>
        <p:spPr>
          <a:xfrm>
            <a:off x="1554480" y="4553712"/>
            <a:ext cx="2377440" cy="548640"/>
          </a:xfrm>
          <a:prstGeom prst="rect">
            <a:avLst/>
          </a:prstGeom>
          <a:noFill/>
        </p:spPr>
        <p:txBody>
          <a:bodyPr wrap="square" lIns="0" rIns="0" tIns="0" bIns="0" anchor="t">
            <a:spAutoFit/>
          </a:bodyPr>
          <a:lstStyle/>
          <a:p>
            <a:pPr algn="l"/>
            <a:r>
              <a:rPr sz="1500" b="0" i="0">
                <a:solidFill>
                  <a:srgbClr val="0B1F3A"/>
                </a:solidFill>
                <a:latin typeface="Segoe UI Semibold"/>
              </a:rPr>
              <a:t>Qwen3-Embedding 4B · Ollama</a:t>
            </a:r>
          </a:p>
        </p:txBody>
      </p:sp>
      <p:sp>
        <p:nvSpPr>
          <p:cNvPr id="29" name="TextBox 28"/>
          <p:cNvSpPr txBox="1"/>
          <p:nvPr/>
        </p:nvSpPr>
        <p:spPr>
          <a:xfrm>
            <a:off x="822959" y="5212080"/>
            <a:ext cx="3017520" cy="777240"/>
          </a:xfrm>
          <a:prstGeom prst="rect">
            <a:avLst/>
          </a:prstGeom>
          <a:noFill/>
        </p:spPr>
        <p:txBody>
          <a:bodyPr wrap="square" lIns="0" rIns="0" tIns="0" bIns="0" anchor="t">
            <a:spAutoFit/>
          </a:bodyPr>
          <a:lstStyle/>
          <a:p>
            <a:pPr algn="l"/>
            <a:r>
              <a:rPr sz="1250" b="0" i="0">
                <a:solidFill>
                  <a:srgbClr val="475569"/>
                </a:solidFill>
                <a:latin typeface="Segoe UI"/>
              </a:rPr>
              <a:t>Vectores de 2560 dimensiones, en CPU, con instrucción en la consulta</a:t>
            </a:r>
          </a:p>
        </p:txBody>
      </p:sp>
      <p:sp>
        <p:nvSpPr>
          <p:cNvPr id="30" name="Rounded Rectangle 29"/>
          <p:cNvSpPr/>
          <p:nvPr/>
        </p:nvSpPr>
        <p:spPr>
          <a:xfrm>
            <a:off x="4297679" y="4023360"/>
            <a:ext cx="3520440" cy="2057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4571999" y="4297680"/>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robot.png"/>
          <p:cNvPicPr>
            <a:picLocks noChangeAspect="1"/>
          </p:cNvPicPr>
          <p:nvPr/>
        </p:nvPicPr>
        <p:blipFill>
          <a:blip r:embed="rId7"/>
          <a:stretch>
            <a:fillRect/>
          </a:stretch>
        </p:blipFill>
        <p:spPr>
          <a:xfrm>
            <a:off x="4685385" y="4411065"/>
            <a:ext cx="340156" cy="340156"/>
          </a:xfrm>
          <a:prstGeom prst="rect">
            <a:avLst/>
          </a:prstGeom>
        </p:spPr>
      </p:pic>
      <p:sp>
        <p:nvSpPr>
          <p:cNvPr id="33" name="TextBox 32"/>
          <p:cNvSpPr txBox="1"/>
          <p:nvPr/>
        </p:nvSpPr>
        <p:spPr>
          <a:xfrm>
            <a:off x="5303519" y="4297680"/>
            <a:ext cx="2377440" cy="274320"/>
          </a:xfrm>
          <a:prstGeom prst="rect">
            <a:avLst/>
          </a:prstGeom>
          <a:noFill/>
        </p:spPr>
        <p:txBody>
          <a:bodyPr wrap="square" lIns="0" rIns="0" tIns="0" bIns="0" anchor="t">
            <a:spAutoFit/>
          </a:bodyPr>
          <a:lstStyle/>
          <a:p>
            <a:pPr algn="l"/>
            <a:r>
              <a:rPr sz="1100" b="1" i="0">
                <a:solidFill>
                  <a:srgbClr val="0E9F8E"/>
                </a:solidFill>
                <a:latin typeface="Segoe UI Semibold"/>
              </a:rPr>
              <a:t>LLM</a:t>
            </a:r>
          </a:p>
        </p:txBody>
      </p:sp>
      <p:sp>
        <p:nvSpPr>
          <p:cNvPr id="34" name="TextBox 33"/>
          <p:cNvSpPr txBox="1"/>
          <p:nvPr/>
        </p:nvSpPr>
        <p:spPr>
          <a:xfrm>
            <a:off x="5303519" y="4553712"/>
            <a:ext cx="2377440" cy="548640"/>
          </a:xfrm>
          <a:prstGeom prst="rect">
            <a:avLst/>
          </a:prstGeom>
          <a:noFill/>
        </p:spPr>
        <p:txBody>
          <a:bodyPr wrap="square" lIns="0" rIns="0" tIns="0" bIns="0" anchor="t">
            <a:spAutoFit/>
          </a:bodyPr>
          <a:lstStyle/>
          <a:p>
            <a:pPr algn="l"/>
            <a:r>
              <a:rPr sz="1500" b="0" i="0">
                <a:solidFill>
                  <a:srgbClr val="0B1F3A"/>
                </a:solidFill>
                <a:latin typeface="Segoe UI Semibold"/>
              </a:rPr>
              <a:t>Qwen3.5-4B + QLoRA (Unsloth)</a:t>
            </a:r>
          </a:p>
        </p:txBody>
      </p:sp>
      <p:sp>
        <p:nvSpPr>
          <p:cNvPr id="35" name="TextBox 34"/>
          <p:cNvSpPr txBox="1"/>
          <p:nvPr/>
        </p:nvSpPr>
        <p:spPr>
          <a:xfrm>
            <a:off x="4571999" y="5212080"/>
            <a:ext cx="3017520" cy="777240"/>
          </a:xfrm>
          <a:prstGeom prst="rect">
            <a:avLst/>
          </a:prstGeom>
          <a:noFill/>
        </p:spPr>
        <p:txBody>
          <a:bodyPr wrap="square" lIns="0" rIns="0" tIns="0" bIns="0" anchor="t">
            <a:spAutoFit/>
          </a:bodyPr>
          <a:lstStyle/>
          <a:p>
            <a:pPr algn="l"/>
            <a:r>
              <a:rPr sz="1250" b="0" i="0">
                <a:solidFill>
                  <a:srgbClr val="475569"/>
                </a:solidFill>
                <a:latin typeface="Segoe UI"/>
              </a:rPr>
              <a:t>Fine-tuned para el rol del asistente y para usar solo las fichas</a:t>
            </a:r>
          </a:p>
        </p:txBody>
      </p:sp>
      <p:sp>
        <p:nvSpPr>
          <p:cNvPr id="36" name="Rounded Rectangle 35"/>
          <p:cNvSpPr/>
          <p:nvPr/>
        </p:nvSpPr>
        <p:spPr>
          <a:xfrm>
            <a:off x="8046719" y="4023360"/>
            <a:ext cx="3520440" cy="20574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8321040" y="4297680"/>
            <a:ext cx="566928" cy="566928"/>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8" name="Picture 37" descr="chip.png"/>
          <p:cNvPicPr>
            <a:picLocks noChangeAspect="1"/>
          </p:cNvPicPr>
          <p:nvPr/>
        </p:nvPicPr>
        <p:blipFill>
          <a:blip r:embed="rId8"/>
          <a:stretch>
            <a:fillRect/>
          </a:stretch>
        </p:blipFill>
        <p:spPr>
          <a:xfrm>
            <a:off x="8434425" y="4411065"/>
            <a:ext cx="340156" cy="340156"/>
          </a:xfrm>
          <a:prstGeom prst="rect">
            <a:avLst/>
          </a:prstGeom>
        </p:spPr>
      </p:pic>
      <p:sp>
        <p:nvSpPr>
          <p:cNvPr id="39" name="TextBox 38"/>
          <p:cNvSpPr txBox="1"/>
          <p:nvPr/>
        </p:nvSpPr>
        <p:spPr>
          <a:xfrm>
            <a:off x="9052559" y="4297680"/>
            <a:ext cx="2377440" cy="274320"/>
          </a:xfrm>
          <a:prstGeom prst="rect">
            <a:avLst/>
          </a:prstGeom>
          <a:noFill/>
        </p:spPr>
        <p:txBody>
          <a:bodyPr wrap="square" lIns="0" rIns="0" tIns="0" bIns="0" anchor="t">
            <a:spAutoFit/>
          </a:bodyPr>
          <a:lstStyle/>
          <a:p>
            <a:pPr algn="l"/>
            <a:r>
              <a:rPr sz="1100" b="1" i="0">
                <a:solidFill>
                  <a:srgbClr val="0E9F8E"/>
                </a:solidFill>
                <a:latin typeface="Segoe UI Semibold"/>
              </a:rPr>
              <a:t>INFRAESTRUCTURA</a:t>
            </a:r>
          </a:p>
        </p:txBody>
      </p:sp>
      <p:sp>
        <p:nvSpPr>
          <p:cNvPr id="40" name="TextBox 39"/>
          <p:cNvSpPr txBox="1"/>
          <p:nvPr/>
        </p:nvSpPr>
        <p:spPr>
          <a:xfrm>
            <a:off x="9052559" y="4553712"/>
            <a:ext cx="2377440" cy="548640"/>
          </a:xfrm>
          <a:prstGeom prst="rect">
            <a:avLst/>
          </a:prstGeom>
          <a:noFill/>
        </p:spPr>
        <p:txBody>
          <a:bodyPr wrap="square" lIns="0" rIns="0" tIns="0" bIns="0" anchor="t">
            <a:spAutoFit/>
          </a:bodyPr>
          <a:lstStyle/>
          <a:p>
            <a:pPr algn="l"/>
            <a:r>
              <a:rPr sz="1500" b="0" i="0">
                <a:solidFill>
                  <a:srgbClr val="0B1F3A"/>
                </a:solidFill>
                <a:latin typeface="Segoe UI Semibold"/>
              </a:rPr>
              <a:t>GPU RTX 5050 8 GB · CUDA 13</a:t>
            </a:r>
          </a:p>
        </p:txBody>
      </p:sp>
      <p:sp>
        <p:nvSpPr>
          <p:cNvPr id="41" name="TextBox 40"/>
          <p:cNvSpPr txBox="1"/>
          <p:nvPr/>
        </p:nvSpPr>
        <p:spPr>
          <a:xfrm>
            <a:off x="8321040" y="5212080"/>
            <a:ext cx="3017520" cy="777240"/>
          </a:xfrm>
          <a:prstGeom prst="rect">
            <a:avLst/>
          </a:prstGeom>
          <a:noFill/>
        </p:spPr>
        <p:txBody>
          <a:bodyPr wrap="square" lIns="0" rIns="0" tIns="0" bIns="0" anchor="t">
            <a:spAutoFit/>
          </a:bodyPr>
          <a:lstStyle/>
          <a:p>
            <a:pPr algn="l"/>
            <a:r>
              <a:rPr sz="1250" b="0" i="0">
                <a:solidFill>
                  <a:srgbClr val="475569"/>
                </a:solidFill>
                <a:latin typeface="Segoe UI"/>
              </a:rPr>
              <a:t>PyTorch 2.14, bitsandbytes 4 bits, todo en una laptop con Windows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ORQUESTACIÓN</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LangChain orquesta el sistema RAG</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12</a:t>
            </a:r>
          </a:p>
        </p:txBody>
      </p:sp>
      <p:sp>
        <p:nvSpPr>
          <p:cNvPr id="6" name="Rounded Rectangle 5"/>
          <p:cNvSpPr/>
          <p:nvPr/>
        </p:nvSpPr>
        <p:spPr>
          <a:xfrm>
            <a:off x="1234440" y="1783080"/>
            <a:ext cx="640080" cy="6400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pagina.png"/>
          <p:cNvPicPr>
            <a:picLocks noChangeAspect="1"/>
          </p:cNvPicPr>
          <p:nvPr/>
        </p:nvPicPr>
        <p:blipFill>
          <a:blip r:embed="rId3"/>
          <a:stretch>
            <a:fillRect/>
          </a:stretch>
        </p:blipFill>
        <p:spPr>
          <a:xfrm>
            <a:off x="1362456" y="1911095"/>
            <a:ext cx="384048" cy="384048"/>
          </a:xfrm>
          <a:prstGeom prst="rect">
            <a:avLst/>
          </a:prstGeom>
        </p:spPr>
      </p:pic>
      <p:sp>
        <p:nvSpPr>
          <p:cNvPr id="8" name="TextBox 7"/>
          <p:cNvSpPr txBox="1"/>
          <p:nvPr/>
        </p:nvSpPr>
        <p:spPr>
          <a:xfrm>
            <a:off x="548640" y="2560320"/>
            <a:ext cx="2011680" cy="365760"/>
          </a:xfrm>
          <a:prstGeom prst="rect">
            <a:avLst/>
          </a:prstGeom>
          <a:noFill/>
        </p:spPr>
        <p:txBody>
          <a:bodyPr wrap="square" lIns="0" rIns="0" tIns="0" bIns="0" anchor="t">
            <a:spAutoFit/>
          </a:bodyPr>
          <a:lstStyle/>
          <a:p>
            <a:pPr algn="ctr"/>
            <a:r>
              <a:rPr sz="1600" b="0" i="0">
                <a:solidFill>
                  <a:srgbClr val="0B1F3A"/>
                </a:solidFill>
                <a:latin typeface="Segoe UI Semibold"/>
              </a:rPr>
              <a:t>Lectura</a:t>
            </a:r>
          </a:p>
        </p:txBody>
      </p:sp>
      <p:sp>
        <p:nvSpPr>
          <p:cNvPr id="9" name="TextBox 8"/>
          <p:cNvSpPr txBox="1"/>
          <p:nvPr/>
        </p:nvSpPr>
        <p:spPr>
          <a:xfrm>
            <a:off x="594360" y="2971800"/>
            <a:ext cx="1920240" cy="1097280"/>
          </a:xfrm>
          <a:prstGeom prst="rect">
            <a:avLst/>
          </a:prstGeom>
          <a:noFill/>
        </p:spPr>
        <p:txBody>
          <a:bodyPr wrap="square" lIns="0" rIns="0" tIns="0" bIns="0" anchor="t">
            <a:spAutoFit/>
          </a:bodyPr>
          <a:lstStyle/>
          <a:p>
            <a:pPr algn="ctr"/>
            <a:r>
              <a:rPr sz="1250" b="0" i="0">
                <a:solidFill>
                  <a:srgbClr val="475569"/>
                </a:solidFill>
                <a:latin typeface="Segoe UI"/>
              </a:rPr>
              <a:t>PDFReader con pypdf: texto con tildes y puntuación, título y link de Dropbox</a:t>
            </a:r>
          </a:p>
        </p:txBody>
      </p:sp>
      <p:cxnSp>
        <p:nvCxnSpPr>
          <p:cNvPr id="10" name="Connector 9"/>
          <p:cNvCxnSpPr/>
          <p:nvPr/>
        </p:nvCxnSpPr>
        <p:spPr>
          <a:xfrm>
            <a:off x="2011680" y="2103120"/>
            <a:ext cx="1353312"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502152" y="1783080"/>
            <a:ext cx="640080" cy="6400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2" name="Picture 11" descr="documento.png"/>
          <p:cNvPicPr>
            <a:picLocks noChangeAspect="1"/>
          </p:cNvPicPr>
          <p:nvPr/>
        </p:nvPicPr>
        <p:blipFill>
          <a:blip r:embed="rId4"/>
          <a:stretch>
            <a:fillRect/>
          </a:stretch>
        </p:blipFill>
        <p:spPr>
          <a:xfrm>
            <a:off x="3630168" y="1911095"/>
            <a:ext cx="384048" cy="384048"/>
          </a:xfrm>
          <a:prstGeom prst="rect">
            <a:avLst/>
          </a:prstGeom>
        </p:spPr>
      </p:pic>
      <p:sp>
        <p:nvSpPr>
          <p:cNvPr id="13" name="TextBox 12"/>
          <p:cNvSpPr txBox="1"/>
          <p:nvPr/>
        </p:nvSpPr>
        <p:spPr>
          <a:xfrm>
            <a:off x="2816352" y="2560320"/>
            <a:ext cx="2011680" cy="365760"/>
          </a:xfrm>
          <a:prstGeom prst="rect">
            <a:avLst/>
          </a:prstGeom>
          <a:noFill/>
        </p:spPr>
        <p:txBody>
          <a:bodyPr wrap="square" lIns="0" rIns="0" tIns="0" bIns="0" anchor="t">
            <a:spAutoFit/>
          </a:bodyPr>
          <a:lstStyle/>
          <a:p>
            <a:pPr algn="ctr"/>
            <a:r>
              <a:rPr sz="1600" b="0" i="0">
                <a:solidFill>
                  <a:srgbClr val="0B1F3A"/>
                </a:solidFill>
                <a:latin typeface="Segoe UI Semibold"/>
              </a:rPr>
              <a:t>Document</a:t>
            </a:r>
          </a:p>
        </p:txBody>
      </p:sp>
      <p:sp>
        <p:nvSpPr>
          <p:cNvPr id="14" name="TextBox 13"/>
          <p:cNvSpPr txBox="1"/>
          <p:nvPr/>
        </p:nvSpPr>
        <p:spPr>
          <a:xfrm>
            <a:off x="2862072" y="2971800"/>
            <a:ext cx="1920240" cy="1097280"/>
          </a:xfrm>
          <a:prstGeom prst="rect">
            <a:avLst/>
          </a:prstGeom>
          <a:noFill/>
        </p:spPr>
        <p:txBody>
          <a:bodyPr wrap="square" lIns="0" rIns="0" tIns="0" bIns="0" anchor="t">
            <a:spAutoFit/>
          </a:bodyPr>
          <a:lstStyle/>
          <a:p>
            <a:pPr algn="ctr"/>
            <a:r>
              <a:rPr sz="1250" b="0" i="0">
                <a:solidFill>
                  <a:srgbClr val="475569"/>
                </a:solidFill>
                <a:latin typeface="Segoe UI"/>
              </a:rPr>
              <a:t>Cada ficha pasa a un Document de LangChain con su metadata</a:t>
            </a:r>
          </a:p>
        </p:txBody>
      </p:sp>
      <p:cxnSp>
        <p:nvCxnSpPr>
          <p:cNvPr id="15" name="Connector 14"/>
          <p:cNvCxnSpPr/>
          <p:nvPr/>
        </p:nvCxnSpPr>
        <p:spPr>
          <a:xfrm>
            <a:off x="4279392" y="2103120"/>
            <a:ext cx="1353312"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769864" y="1783080"/>
            <a:ext cx="640080" cy="6400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iltro.png"/>
          <p:cNvPicPr>
            <a:picLocks noChangeAspect="1"/>
          </p:cNvPicPr>
          <p:nvPr/>
        </p:nvPicPr>
        <p:blipFill>
          <a:blip r:embed="rId5"/>
          <a:stretch>
            <a:fillRect/>
          </a:stretch>
        </p:blipFill>
        <p:spPr>
          <a:xfrm>
            <a:off x="5897879" y="1911095"/>
            <a:ext cx="384048" cy="384048"/>
          </a:xfrm>
          <a:prstGeom prst="rect">
            <a:avLst/>
          </a:prstGeom>
        </p:spPr>
      </p:pic>
      <p:sp>
        <p:nvSpPr>
          <p:cNvPr id="18" name="TextBox 17"/>
          <p:cNvSpPr txBox="1"/>
          <p:nvPr/>
        </p:nvSpPr>
        <p:spPr>
          <a:xfrm>
            <a:off x="5084064" y="2560320"/>
            <a:ext cx="2011680" cy="365760"/>
          </a:xfrm>
          <a:prstGeom prst="rect">
            <a:avLst/>
          </a:prstGeom>
          <a:noFill/>
        </p:spPr>
        <p:txBody>
          <a:bodyPr wrap="square" lIns="0" rIns="0" tIns="0" bIns="0" anchor="t">
            <a:spAutoFit/>
          </a:bodyPr>
          <a:lstStyle/>
          <a:p>
            <a:pPr algn="ctr"/>
            <a:r>
              <a:rPr sz="1600" b="0" i="0">
                <a:solidFill>
                  <a:srgbClr val="0B1F3A"/>
                </a:solidFill>
                <a:latin typeface="Segoe UI Semibold"/>
              </a:rPr>
              <a:t>Chunks</a:t>
            </a:r>
          </a:p>
        </p:txBody>
      </p:sp>
      <p:sp>
        <p:nvSpPr>
          <p:cNvPr id="19" name="TextBox 18"/>
          <p:cNvSpPr txBox="1"/>
          <p:nvPr/>
        </p:nvSpPr>
        <p:spPr>
          <a:xfrm>
            <a:off x="5129783" y="2971800"/>
            <a:ext cx="1920240" cy="1097280"/>
          </a:xfrm>
          <a:prstGeom prst="rect">
            <a:avLst/>
          </a:prstGeom>
          <a:noFill/>
        </p:spPr>
        <p:txBody>
          <a:bodyPr wrap="square" lIns="0" rIns="0" tIns="0" bIns="0" anchor="t">
            <a:spAutoFit/>
          </a:bodyPr>
          <a:lstStyle/>
          <a:p>
            <a:pPr algn="ctr"/>
            <a:r>
              <a:rPr sz="1250" b="0" i="0">
                <a:solidFill>
                  <a:srgbClr val="475569"/>
                </a:solidFill>
                <a:latin typeface="Segoe UI"/>
              </a:rPr>
              <a:t>Splitter recursivo: 900 caracteres, 100 de solape, 75 chunks</a:t>
            </a:r>
          </a:p>
        </p:txBody>
      </p:sp>
      <p:cxnSp>
        <p:nvCxnSpPr>
          <p:cNvPr id="20" name="Connector 19"/>
          <p:cNvCxnSpPr/>
          <p:nvPr/>
        </p:nvCxnSpPr>
        <p:spPr>
          <a:xfrm>
            <a:off x="6547104" y="2103120"/>
            <a:ext cx="1353312"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37575" y="1783080"/>
            <a:ext cx="640080" cy="6400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libros.png"/>
          <p:cNvPicPr>
            <a:picLocks noChangeAspect="1"/>
          </p:cNvPicPr>
          <p:nvPr/>
        </p:nvPicPr>
        <p:blipFill>
          <a:blip r:embed="rId6"/>
          <a:stretch>
            <a:fillRect/>
          </a:stretch>
        </p:blipFill>
        <p:spPr>
          <a:xfrm>
            <a:off x="8165592" y="1911095"/>
            <a:ext cx="384048" cy="384048"/>
          </a:xfrm>
          <a:prstGeom prst="rect">
            <a:avLst/>
          </a:prstGeom>
        </p:spPr>
      </p:pic>
      <p:sp>
        <p:nvSpPr>
          <p:cNvPr id="23" name="TextBox 22"/>
          <p:cNvSpPr txBox="1"/>
          <p:nvPr/>
        </p:nvSpPr>
        <p:spPr>
          <a:xfrm>
            <a:off x="7351775" y="2560320"/>
            <a:ext cx="2011680" cy="365760"/>
          </a:xfrm>
          <a:prstGeom prst="rect">
            <a:avLst/>
          </a:prstGeom>
          <a:noFill/>
        </p:spPr>
        <p:txBody>
          <a:bodyPr wrap="square" lIns="0" rIns="0" tIns="0" bIns="0" anchor="t">
            <a:spAutoFit/>
          </a:bodyPr>
          <a:lstStyle/>
          <a:p>
            <a:pPr algn="ctr"/>
            <a:r>
              <a:rPr sz="1600" b="0" i="0">
                <a:solidFill>
                  <a:srgbClr val="0B1F3A"/>
                </a:solidFill>
                <a:latin typeface="Segoe UI Semibold"/>
              </a:rPr>
              <a:t>Vector store</a:t>
            </a:r>
          </a:p>
        </p:txBody>
      </p:sp>
      <p:sp>
        <p:nvSpPr>
          <p:cNvPr id="24" name="TextBox 23"/>
          <p:cNvSpPr txBox="1"/>
          <p:nvPr/>
        </p:nvSpPr>
        <p:spPr>
          <a:xfrm>
            <a:off x="7397496" y="2971800"/>
            <a:ext cx="1920240" cy="1097280"/>
          </a:xfrm>
          <a:prstGeom prst="rect">
            <a:avLst/>
          </a:prstGeom>
          <a:noFill/>
        </p:spPr>
        <p:txBody>
          <a:bodyPr wrap="square" lIns="0" rIns="0" tIns="0" bIns="0" anchor="t">
            <a:spAutoFit/>
          </a:bodyPr>
          <a:lstStyle/>
          <a:p>
            <a:pPr algn="ctr"/>
            <a:r>
              <a:rPr sz="1250" b="0" i="0">
                <a:solidFill>
                  <a:srgbClr val="475569"/>
                </a:solidFill>
                <a:latin typeface="Segoe UI"/>
              </a:rPr>
              <a:t>FAISS con embeddings de Qwen3, guardado en disco</a:t>
            </a:r>
          </a:p>
        </p:txBody>
      </p:sp>
      <p:cxnSp>
        <p:nvCxnSpPr>
          <p:cNvPr id="25" name="Connector 24"/>
          <p:cNvCxnSpPr/>
          <p:nvPr/>
        </p:nvCxnSpPr>
        <p:spPr>
          <a:xfrm>
            <a:off x="8814815" y="2103120"/>
            <a:ext cx="1353313"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10305288" y="1783080"/>
            <a:ext cx="640080" cy="6400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buscar.png"/>
          <p:cNvPicPr>
            <a:picLocks noChangeAspect="1"/>
          </p:cNvPicPr>
          <p:nvPr/>
        </p:nvPicPr>
        <p:blipFill>
          <a:blip r:embed="rId7"/>
          <a:stretch>
            <a:fillRect/>
          </a:stretch>
        </p:blipFill>
        <p:spPr>
          <a:xfrm>
            <a:off x="10433304" y="1911095"/>
            <a:ext cx="384048" cy="384048"/>
          </a:xfrm>
          <a:prstGeom prst="rect">
            <a:avLst/>
          </a:prstGeom>
        </p:spPr>
      </p:pic>
      <p:sp>
        <p:nvSpPr>
          <p:cNvPr id="28" name="TextBox 27"/>
          <p:cNvSpPr txBox="1"/>
          <p:nvPr/>
        </p:nvSpPr>
        <p:spPr>
          <a:xfrm>
            <a:off x="9619488" y="2560320"/>
            <a:ext cx="2011680" cy="365760"/>
          </a:xfrm>
          <a:prstGeom prst="rect">
            <a:avLst/>
          </a:prstGeom>
          <a:noFill/>
        </p:spPr>
        <p:txBody>
          <a:bodyPr wrap="square" lIns="0" rIns="0" tIns="0" bIns="0" anchor="t">
            <a:spAutoFit/>
          </a:bodyPr>
          <a:lstStyle/>
          <a:p>
            <a:pPr algn="ctr"/>
            <a:r>
              <a:rPr sz="1600" b="0" i="0">
                <a:solidFill>
                  <a:srgbClr val="0B1F3A"/>
                </a:solidFill>
                <a:latin typeface="Segoe UI Semibold"/>
              </a:rPr>
              <a:t>Búsqueda</a:t>
            </a:r>
          </a:p>
        </p:txBody>
      </p:sp>
      <p:sp>
        <p:nvSpPr>
          <p:cNvPr id="29" name="TextBox 28"/>
          <p:cNvSpPr txBox="1"/>
          <p:nvPr/>
        </p:nvSpPr>
        <p:spPr>
          <a:xfrm>
            <a:off x="9665208" y="2971800"/>
            <a:ext cx="1920240" cy="1097280"/>
          </a:xfrm>
          <a:prstGeom prst="rect">
            <a:avLst/>
          </a:prstGeom>
          <a:noFill/>
        </p:spPr>
        <p:txBody>
          <a:bodyPr wrap="square" lIns="0" rIns="0" tIns="0" bIns="0" anchor="t">
            <a:spAutoFit/>
          </a:bodyPr>
          <a:lstStyle/>
          <a:p>
            <a:pPr algn="ctr"/>
            <a:r>
              <a:rPr sz="1250" b="0" i="0">
                <a:solidFill>
                  <a:srgbClr val="475569"/>
                </a:solidFill>
                <a:latin typeface="Segoe UI"/>
              </a:rPr>
              <a:t>Búsqueda con score sobre todos los chunks del índice</a:t>
            </a:r>
          </a:p>
        </p:txBody>
      </p:sp>
      <p:sp>
        <p:nvSpPr>
          <p:cNvPr id="30" name="Rounded Rectangle 29"/>
          <p:cNvSpPr/>
          <p:nvPr/>
        </p:nvSpPr>
        <p:spPr>
          <a:xfrm>
            <a:off x="548640" y="4343400"/>
            <a:ext cx="11064240" cy="178308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68680" y="4526280"/>
            <a:ext cx="4572000" cy="365760"/>
          </a:xfrm>
          <a:prstGeom prst="rect">
            <a:avLst/>
          </a:prstGeom>
          <a:noFill/>
        </p:spPr>
        <p:txBody>
          <a:bodyPr wrap="square" lIns="0" rIns="0" tIns="0" bIns="0" anchor="t">
            <a:spAutoFit/>
          </a:bodyPr>
          <a:lstStyle/>
          <a:p>
            <a:pPr algn="l"/>
            <a:r>
              <a:rPr sz="1600" b="0" i="0">
                <a:solidFill>
                  <a:srgbClr val="FFFFFF"/>
                </a:solidFill>
                <a:latin typeface="Segoe UI Semibold"/>
              </a:rPr>
              <a:t>Metadata de cada chunk</a:t>
            </a:r>
          </a:p>
        </p:txBody>
      </p:sp>
      <p:sp>
        <p:nvSpPr>
          <p:cNvPr id="32" name="TextBox 31"/>
          <p:cNvSpPr txBox="1"/>
          <p:nvPr/>
        </p:nvSpPr>
        <p:spPr>
          <a:xfrm>
            <a:off x="868680" y="4937760"/>
            <a:ext cx="10424160" cy="1097280"/>
          </a:xfrm>
          <a:prstGeom prst="rect">
            <a:avLst/>
          </a:prstGeom>
          <a:noFill/>
        </p:spPr>
        <p:txBody>
          <a:bodyPr wrap="square" lIns="0" rIns="0" tIns="0" bIns="0" anchor="t">
            <a:spAutoFit/>
          </a:bodyPr>
          <a:lstStyle/>
          <a:p>
            <a:pPr algn="l">
              <a:spcAft>
                <a:spcPts val="800"/>
              </a:spcAft>
            </a:pPr>
            <a:r>
              <a:rPr sz="1500" b="0" i="0">
                <a:solidFill>
                  <a:srgbClr val="5EEAD4"/>
                </a:solidFill>
                <a:latin typeface="Consolas"/>
              </a:rPr>
              <a:t>source  ·  dataset  ·  title  ·  category  ·  dropbox_link  ·  chunk_id</a:t>
            </a:r>
          </a:p>
          <a:p>
            <a:pPr algn="l">
              <a:spcAft>
                <a:spcPts val="800"/>
              </a:spcAft>
            </a:pPr>
            <a:r>
              <a:rPr sz="1300" b="0" i="0">
                <a:solidFill>
                  <a:srgbClr val="CBD5E1"/>
                </a:solidFill>
                <a:latin typeface="Segoe UI"/>
              </a:rPr>
              <a:t>El chunk_id permite agregar la ficha rápida (chunk 0) de cada base recuperada y evitar repetir texto.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EMBEDDINGS</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Embeddings: Qwen3-Embedding 4B servido con Ollama</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13</a:t>
            </a:r>
          </a:p>
        </p:txBody>
      </p:sp>
      <p:sp>
        <p:nvSpPr>
          <p:cNvPr id="6" name="Rounded Rectangle 5"/>
          <p:cNvSpPr/>
          <p:nvPr/>
        </p:nvSpPr>
        <p:spPr>
          <a:xfrm>
            <a:off x="548640" y="1737360"/>
            <a:ext cx="2606040" cy="16002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874519"/>
            <a:ext cx="2194560" cy="822960"/>
          </a:xfrm>
          <a:prstGeom prst="rect">
            <a:avLst/>
          </a:prstGeom>
          <a:noFill/>
        </p:spPr>
        <p:txBody>
          <a:bodyPr wrap="square" lIns="0" rIns="0" tIns="0" bIns="0" anchor="ctr">
            <a:spAutoFit/>
          </a:bodyPr>
          <a:lstStyle/>
          <a:p>
            <a:pPr algn="l"/>
            <a:r>
              <a:rPr sz="3800" b="0" i="0">
                <a:solidFill>
                  <a:srgbClr val="0E9F8E"/>
                </a:solidFill>
                <a:latin typeface="Segoe UI Semibold"/>
              </a:rPr>
              <a:t>2560</a:t>
            </a:r>
          </a:p>
        </p:txBody>
      </p:sp>
      <p:sp>
        <p:nvSpPr>
          <p:cNvPr id="8" name="TextBox 7"/>
          <p:cNvSpPr txBox="1"/>
          <p:nvPr/>
        </p:nvSpPr>
        <p:spPr>
          <a:xfrm>
            <a:off x="822959" y="2697480"/>
            <a:ext cx="2194560" cy="457200"/>
          </a:xfrm>
          <a:prstGeom prst="rect">
            <a:avLst/>
          </a:prstGeom>
          <a:noFill/>
        </p:spPr>
        <p:txBody>
          <a:bodyPr wrap="square" lIns="0" rIns="0" tIns="0" bIns="0" anchor="t">
            <a:spAutoFit/>
          </a:bodyPr>
          <a:lstStyle/>
          <a:p>
            <a:pPr algn="l"/>
            <a:r>
              <a:rPr sz="1300" b="0" i="0">
                <a:solidFill>
                  <a:srgbClr val="475569"/>
                </a:solidFill>
                <a:latin typeface="Segoe UI"/>
              </a:rPr>
              <a:t>dimensiones por vector</a:t>
            </a:r>
          </a:p>
        </p:txBody>
      </p:sp>
      <p:sp>
        <p:nvSpPr>
          <p:cNvPr id="9" name="Rounded Rectangle 8"/>
          <p:cNvSpPr/>
          <p:nvPr/>
        </p:nvSpPr>
        <p:spPr>
          <a:xfrm>
            <a:off x="3364992" y="1737360"/>
            <a:ext cx="2606040" cy="16002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39312" y="1874519"/>
            <a:ext cx="2194560" cy="822960"/>
          </a:xfrm>
          <a:prstGeom prst="rect">
            <a:avLst/>
          </a:prstGeom>
          <a:noFill/>
        </p:spPr>
        <p:txBody>
          <a:bodyPr wrap="square" lIns="0" rIns="0" tIns="0" bIns="0" anchor="ctr">
            <a:spAutoFit/>
          </a:bodyPr>
          <a:lstStyle/>
          <a:p>
            <a:pPr algn="l"/>
            <a:r>
              <a:rPr sz="3800" b="0" i="0">
                <a:solidFill>
                  <a:srgbClr val="0E9F8E"/>
                </a:solidFill>
                <a:latin typeface="Segoe UI Semibold"/>
              </a:rPr>
              <a:t>1.0</a:t>
            </a:r>
          </a:p>
        </p:txBody>
      </p:sp>
      <p:sp>
        <p:nvSpPr>
          <p:cNvPr id="11" name="TextBox 10"/>
          <p:cNvSpPr txBox="1"/>
          <p:nvPr/>
        </p:nvSpPr>
        <p:spPr>
          <a:xfrm>
            <a:off x="3639312" y="2697480"/>
            <a:ext cx="2194560" cy="457200"/>
          </a:xfrm>
          <a:prstGeom prst="rect">
            <a:avLst/>
          </a:prstGeom>
          <a:noFill/>
        </p:spPr>
        <p:txBody>
          <a:bodyPr wrap="square" lIns="0" rIns="0" tIns="0" bIns="0" anchor="t">
            <a:spAutoFit/>
          </a:bodyPr>
          <a:lstStyle/>
          <a:p>
            <a:pPr algn="l"/>
            <a:r>
              <a:rPr sz="1300" b="0" i="0">
                <a:solidFill>
                  <a:srgbClr val="475569"/>
                </a:solidFill>
                <a:latin typeface="Segoe UI"/>
              </a:rPr>
              <a:t>norma de cada vector</a:t>
            </a:r>
          </a:p>
        </p:txBody>
      </p:sp>
      <p:sp>
        <p:nvSpPr>
          <p:cNvPr id="12" name="Rounded Rectangle 11"/>
          <p:cNvSpPr/>
          <p:nvPr/>
        </p:nvSpPr>
        <p:spPr>
          <a:xfrm>
            <a:off x="6181344" y="1737360"/>
            <a:ext cx="2606040" cy="16002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55664" y="1874519"/>
            <a:ext cx="2194560" cy="822960"/>
          </a:xfrm>
          <a:prstGeom prst="rect">
            <a:avLst/>
          </a:prstGeom>
          <a:noFill/>
        </p:spPr>
        <p:txBody>
          <a:bodyPr wrap="square" lIns="0" rIns="0" tIns="0" bIns="0" anchor="ctr">
            <a:spAutoFit/>
          </a:bodyPr>
          <a:lstStyle/>
          <a:p>
            <a:pPr algn="l"/>
            <a:r>
              <a:rPr sz="3800" b="0" i="0">
                <a:solidFill>
                  <a:srgbClr val="0E9F8E"/>
                </a:solidFill>
                <a:latin typeface="Segoe UI Semibold"/>
              </a:rPr>
              <a:t>0.24 s</a:t>
            </a:r>
          </a:p>
        </p:txBody>
      </p:sp>
      <p:sp>
        <p:nvSpPr>
          <p:cNvPr id="14" name="TextBox 13"/>
          <p:cNvSpPr txBox="1"/>
          <p:nvPr/>
        </p:nvSpPr>
        <p:spPr>
          <a:xfrm>
            <a:off x="6455664" y="2697480"/>
            <a:ext cx="2194560" cy="457200"/>
          </a:xfrm>
          <a:prstGeom prst="rect">
            <a:avLst/>
          </a:prstGeom>
          <a:noFill/>
        </p:spPr>
        <p:txBody>
          <a:bodyPr wrap="square" lIns="0" rIns="0" tIns="0" bIns="0" anchor="t">
            <a:spAutoFit/>
          </a:bodyPr>
          <a:lstStyle/>
          <a:p>
            <a:pPr algn="l"/>
            <a:r>
              <a:rPr sz="1300" b="0" i="0">
                <a:solidFill>
                  <a:srgbClr val="475569"/>
                </a:solidFill>
                <a:latin typeface="Segoe UI"/>
              </a:rPr>
              <a:t>por consulta en CPU</a:t>
            </a:r>
          </a:p>
        </p:txBody>
      </p:sp>
      <p:sp>
        <p:nvSpPr>
          <p:cNvPr id="15" name="Rounded Rectangle 14"/>
          <p:cNvSpPr/>
          <p:nvPr/>
        </p:nvSpPr>
        <p:spPr>
          <a:xfrm>
            <a:off x="8997696" y="1737360"/>
            <a:ext cx="2606040" cy="160020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72016" y="1874519"/>
            <a:ext cx="2194560" cy="822960"/>
          </a:xfrm>
          <a:prstGeom prst="rect">
            <a:avLst/>
          </a:prstGeom>
          <a:noFill/>
        </p:spPr>
        <p:txBody>
          <a:bodyPr wrap="square" lIns="0" rIns="0" tIns="0" bIns="0" anchor="ctr">
            <a:spAutoFit/>
          </a:bodyPr>
          <a:lstStyle/>
          <a:p>
            <a:pPr algn="l"/>
            <a:r>
              <a:rPr sz="3800" b="0" i="0">
                <a:solidFill>
                  <a:srgbClr val="0E9F8E"/>
                </a:solidFill>
                <a:latin typeface="Segoe UI Semibold"/>
              </a:rPr>
              <a:t>4B</a:t>
            </a:r>
          </a:p>
        </p:txBody>
      </p:sp>
      <p:sp>
        <p:nvSpPr>
          <p:cNvPr id="17" name="TextBox 16"/>
          <p:cNvSpPr txBox="1"/>
          <p:nvPr/>
        </p:nvSpPr>
        <p:spPr>
          <a:xfrm>
            <a:off x="9272016" y="2697480"/>
            <a:ext cx="2194560" cy="457200"/>
          </a:xfrm>
          <a:prstGeom prst="rect">
            <a:avLst/>
          </a:prstGeom>
          <a:noFill/>
        </p:spPr>
        <p:txBody>
          <a:bodyPr wrap="square" lIns="0" rIns="0" tIns="0" bIns="0" anchor="t">
            <a:spAutoFit/>
          </a:bodyPr>
          <a:lstStyle/>
          <a:p>
            <a:pPr algn="l"/>
            <a:r>
              <a:rPr sz="1300" b="0" i="0">
                <a:solidFill>
                  <a:srgbClr val="475569"/>
                </a:solidFill>
                <a:latin typeface="Segoe UI"/>
              </a:rPr>
              <a:t>parámetros del modelo</a:t>
            </a:r>
          </a:p>
        </p:txBody>
      </p:sp>
      <p:sp>
        <p:nvSpPr>
          <p:cNvPr id="18" name="Rounded Rectangle 17"/>
          <p:cNvSpPr/>
          <p:nvPr/>
        </p:nvSpPr>
        <p:spPr>
          <a:xfrm>
            <a:off x="548640" y="3611880"/>
            <a:ext cx="5394960" cy="2514600"/>
          </a:xfrm>
          <a:prstGeom prst="roundRect">
            <a:avLst>
              <a:gd name="adj" fmla="val 60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822960" y="384048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descargar.png"/>
          <p:cNvPicPr>
            <a:picLocks noChangeAspect="1"/>
          </p:cNvPicPr>
          <p:nvPr/>
        </p:nvPicPr>
        <p:blipFill>
          <a:blip r:embed="rId3"/>
          <a:stretch>
            <a:fillRect/>
          </a:stretch>
        </p:blipFill>
        <p:spPr>
          <a:xfrm>
            <a:off x="923544" y="3941064"/>
            <a:ext cx="301752" cy="301752"/>
          </a:xfrm>
          <a:prstGeom prst="rect">
            <a:avLst/>
          </a:prstGeom>
        </p:spPr>
      </p:pic>
      <p:sp>
        <p:nvSpPr>
          <p:cNvPr id="21" name="TextBox 20"/>
          <p:cNvSpPr txBox="1"/>
          <p:nvPr/>
        </p:nvSpPr>
        <p:spPr>
          <a:xfrm>
            <a:off x="1463040" y="3886200"/>
            <a:ext cx="4297680" cy="411480"/>
          </a:xfrm>
          <a:prstGeom prst="rect">
            <a:avLst/>
          </a:prstGeom>
          <a:noFill/>
        </p:spPr>
        <p:txBody>
          <a:bodyPr wrap="square" lIns="0" rIns="0" tIns="0" bIns="0" anchor="t">
            <a:spAutoFit/>
          </a:bodyPr>
          <a:lstStyle/>
          <a:p>
            <a:pPr algn="l"/>
            <a:r>
              <a:rPr sz="1600" b="0" i="0">
                <a:solidFill>
                  <a:srgbClr val="0B1F3A"/>
                </a:solidFill>
                <a:latin typeface="Segoe UI Semibold"/>
              </a:rPr>
              <a:t>Descargado con Ollama</a:t>
            </a:r>
          </a:p>
        </p:txBody>
      </p:sp>
      <p:sp>
        <p:nvSpPr>
          <p:cNvPr id="22" name="TextBox 21"/>
          <p:cNvSpPr txBox="1"/>
          <p:nvPr/>
        </p:nvSpPr>
        <p:spPr>
          <a:xfrm>
            <a:off x="822960" y="4572000"/>
            <a:ext cx="4937760" cy="411480"/>
          </a:xfrm>
          <a:prstGeom prst="rect">
            <a:avLst/>
          </a:prstGeom>
          <a:noFill/>
        </p:spPr>
        <p:txBody>
          <a:bodyPr wrap="square" lIns="0" rIns="0" tIns="0" bIns="0" anchor="t">
            <a:spAutoFit/>
          </a:bodyPr>
          <a:lstStyle/>
          <a:p>
            <a:pPr algn="l"/>
            <a:r>
              <a:rPr sz="1400" b="0" i="0">
                <a:solidFill>
                  <a:srgbClr val="0E9F8E"/>
                </a:solidFill>
                <a:latin typeface="Consolas"/>
              </a:rPr>
              <a:t>ollama pull qwen3-embedding:4b</a:t>
            </a:r>
          </a:p>
        </p:txBody>
      </p:sp>
      <p:sp>
        <p:nvSpPr>
          <p:cNvPr id="23" name="TextBox 22"/>
          <p:cNvSpPr txBox="1"/>
          <p:nvPr/>
        </p:nvSpPr>
        <p:spPr>
          <a:xfrm>
            <a:off x="822960" y="5029200"/>
            <a:ext cx="4937760" cy="1005840"/>
          </a:xfrm>
          <a:prstGeom prst="rect">
            <a:avLst/>
          </a:prstGeom>
          <a:noFill/>
        </p:spPr>
        <p:txBody>
          <a:bodyPr wrap="square" lIns="0" rIns="0" tIns="0" bIns="0" anchor="t">
            <a:spAutoFit/>
          </a:bodyPr>
          <a:lstStyle/>
          <a:p>
            <a:pPr algn="l"/>
            <a:r>
              <a:rPr sz="1300" b="0" i="0">
                <a:solidFill>
                  <a:srgbClr val="475569"/>
                </a:solidFill>
                <a:latin typeface="Segoe UI"/>
              </a:rPr>
              <a:t>Ollama sirve el modelo en local; Python lo llama con ollama.embed en lotes de 10 textos.</a:t>
            </a:r>
          </a:p>
        </p:txBody>
      </p:sp>
      <p:sp>
        <p:nvSpPr>
          <p:cNvPr id="24" name="Rounded Rectangle 23"/>
          <p:cNvSpPr/>
          <p:nvPr/>
        </p:nvSpPr>
        <p:spPr>
          <a:xfrm>
            <a:off x="6217920" y="3611880"/>
            <a:ext cx="5394960" cy="2514600"/>
          </a:xfrm>
          <a:prstGeom prst="roundRect">
            <a:avLst>
              <a:gd name="adj" fmla="val 60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492240" y="384048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buscar.png"/>
          <p:cNvPicPr>
            <a:picLocks noChangeAspect="1"/>
          </p:cNvPicPr>
          <p:nvPr/>
        </p:nvPicPr>
        <p:blipFill>
          <a:blip r:embed="rId4"/>
          <a:stretch>
            <a:fillRect/>
          </a:stretch>
        </p:blipFill>
        <p:spPr>
          <a:xfrm>
            <a:off x="6592824" y="3941064"/>
            <a:ext cx="301752" cy="301752"/>
          </a:xfrm>
          <a:prstGeom prst="rect">
            <a:avLst/>
          </a:prstGeom>
        </p:spPr>
      </p:pic>
      <p:sp>
        <p:nvSpPr>
          <p:cNvPr id="27" name="TextBox 26"/>
          <p:cNvSpPr txBox="1"/>
          <p:nvPr/>
        </p:nvSpPr>
        <p:spPr>
          <a:xfrm>
            <a:off x="7132320" y="3886200"/>
            <a:ext cx="4297680" cy="411480"/>
          </a:xfrm>
          <a:prstGeom prst="rect">
            <a:avLst/>
          </a:prstGeom>
          <a:noFill/>
        </p:spPr>
        <p:txBody>
          <a:bodyPr wrap="square" lIns="0" rIns="0" tIns="0" bIns="0" anchor="t">
            <a:spAutoFit/>
          </a:bodyPr>
          <a:lstStyle/>
          <a:p>
            <a:pPr algn="l"/>
            <a:r>
              <a:rPr sz="1600" b="0" i="0">
                <a:solidFill>
                  <a:srgbClr val="0B1F3A"/>
                </a:solidFill>
                <a:latin typeface="Segoe UI Semibold"/>
              </a:rPr>
              <a:t>Instrucción en la consulta</a:t>
            </a:r>
          </a:p>
        </p:txBody>
      </p:sp>
      <p:sp>
        <p:nvSpPr>
          <p:cNvPr id="28" name="TextBox 27"/>
          <p:cNvSpPr txBox="1"/>
          <p:nvPr/>
        </p:nvSpPr>
        <p:spPr>
          <a:xfrm>
            <a:off x="6492240" y="4572000"/>
            <a:ext cx="4937760" cy="1463040"/>
          </a:xfrm>
          <a:prstGeom prst="rect">
            <a:avLst/>
          </a:prstGeom>
          <a:noFill/>
        </p:spPr>
        <p:txBody>
          <a:bodyPr wrap="square" lIns="0" rIns="0" tIns="0" bIns="0" anchor="t">
            <a:spAutoFit/>
          </a:bodyPr>
          <a:lstStyle/>
          <a:p>
            <a:pPr algn="l"/>
            <a:r>
              <a:rPr sz="1300" b="0" i="0">
                <a:solidFill>
                  <a:srgbClr val="475569"/>
                </a:solidFill>
                <a:latin typeface="Segoe UI"/>
              </a:rPr>
              <a:t>Las fichas se vectorizan tal cual; cada consulta lleva una instrucción de búsqueda. Así se separan mejor las consultas reales de los saludos o temas ajenos.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SCORE DE SIMILITUD</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Búsqueda por similitud: cómo se elige el contexto</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14</a:t>
            </a:r>
          </a:p>
        </p:txBody>
      </p:sp>
      <p:sp>
        <p:nvSpPr>
          <p:cNvPr id="6" name="Rounded Rectangle 5"/>
          <p:cNvSpPr/>
          <p:nvPr/>
        </p:nvSpPr>
        <p:spPr>
          <a:xfrm>
            <a:off x="548640" y="1691640"/>
            <a:ext cx="5120640" cy="1874519"/>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74519"/>
            <a:ext cx="4572000" cy="320040"/>
          </a:xfrm>
          <a:prstGeom prst="rect">
            <a:avLst/>
          </a:prstGeom>
          <a:noFill/>
        </p:spPr>
        <p:txBody>
          <a:bodyPr wrap="square" lIns="0" rIns="0" tIns="0" bIns="0" anchor="t">
            <a:spAutoFit/>
          </a:bodyPr>
          <a:lstStyle/>
          <a:p>
            <a:pPr algn="l"/>
            <a:r>
              <a:rPr sz="1200" b="1" i="0">
                <a:solidFill>
                  <a:srgbClr val="5EEAD4"/>
                </a:solidFill>
                <a:latin typeface="Segoe UI Semibold"/>
              </a:rPr>
              <a:t>SIMILITUD COSENO</a:t>
            </a:r>
          </a:p>
        </p:txBody>
      </p:sp>
      <p:sp>
        <p:nvSpPr>
          <p:cNvPr id="8" name="TextBox 7"/>
          <p:cNvSpPr txBox="1"/>
          <p:nvPr/>
        </p:nvSpPr>
        <p:spPr>
          <a:xfrm>
            <a:off x="868680" y="2194560"/>
            <a:ext cx="4572000" cy="731520"/>
          </a:xfrm>
          <a:prstGeom prst="rect">
            <a:avLst/>
          </a:prstGeom>
          <a:noFill/>
        </p:spPr>
        <p:txBody>
          <a:bodyPr wrap="square" lIns="0" rIns="0" tIns="0" bIns="0" anchor="t">
            <a:spAutoFit/>
          </a:bodyPr>
          <a:lstStyle/>
          <a:p>
            <a:pPr algn="l"/>
            <a:r>
              <a:rPr sz="3000" b="0" i="0">
                <a:solidFill>
                  <a:srgbClr val="FFFFFF"/>
                </a:solidFill>
                <a:latin typeface="Segoe UI Semibold"/>
              </a:rPr>
              <a:t>similitud = 1 − d² / 2</a:t>
            </a:r>
          </a:p>
        </p:txBody>
      </p:sp>
      <p:sp>
        <p:nvSpPr>
          <p:cNvPr id="9" name="TextBox 8"/>
          <p:cNvSpPr txBox="1"/>
          <p:nvPr/>
        </p:nvSpPr>
        <p:spPr>
          <a:xfrm>
            <a:off x="868680" y="2926080"/>
            <a:ext cx="4572000" cy="548640"/>
          </a:xfrm>
          <a:prstGeom prst="rect">
            <a:avLst/>
          </a:prstGeom>
          <a:noFill/>
        </p:spPr>
        <p:txBody>
          <a:bodyPr wrap="square" lIns="0" rIns="0" tIns="0" bIns="0" anchor="t">
            <a:spAutoFit/>
          </a:bodyPr>
          <a:lstStyle/>
          <a:p>
            <a:pPr algn="l"/>
            <a:r>
              <a:rPr sz="1250" b="0" i="0">
                <a:solidFill>
                  <a:srgbClr val="CBD5E1"/>
                </a:solidFill>
                <a:latin typeface="Segoe UI"/>
              </a:rPr>
              <a:t>d² es la distancia L2 al cuadrado que devuelve FAISS; con vectores de norma 1 equivale al coseno.</a:t>
            </a:r>
          </a:p>
        </p:txBody>
      </p:sp>
      <p:sp>
        <p:nvSpPr>
          <p:cNvPr id="10" name="Rounded Rectangle 9"/>
          <p:cNvSpPr/>
          <p:nvPr/>
        </p:nvSpPr>
        <p:spPr>
          <a:xfrm>
            <a:off x="6035040" y="173736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filtro.png"/>
          <p:cNvPicPr>
            <a:picLocks noChangeAspect="1"/>
          </p:cNvPicPr>
          <p:nvPr/>
        </p:nvPicPr>
        <p:blipFill>
          <a:blip r:embed="rId3"/>
          <a:stretch>
            <a:fillRect/>
          </a:stretch>
        </p:blipFill>
        <p:spPr>
          <a:xfrm>
            <a:off x="6135624" y="1837944"/>
            <a:ext cx="301752" cy="301752"/>
          </a:xfrm>
          <a:prstGeom prst="rect">
            <a:avLst/>
          </a:prstGeom>
        </p:spPr>
      </p:pic>
      <p:sp>
        <p:nvSpPr>
          <p:cNvPr id="12" name="TextBox 11"/>
          <p:cNvSpPr txBox="1"/>
          <p:nvPr/>
        </p:nvSpPr>
        <p:spPr>
          <a:xfrm>
            <a:off x="6720840" y="1691640"/>
            <a:ext cx="2103120" cy="365760"/>
          </a:xfrm>
          <a:prstGeom prst="rect">
            <a:avLst/>
          </a:prstGeom>
          <a:noFill/>
        </p:spPr>
        <p:txBody>
          <a:bodyPr wrap="square" lIns="0" rIns="0" tIns="0" bIns="0" anchor="t">
            <a:spAutoFit/>
          </a:bodyPr>
          <a:lstStyle/>
          <a:p>
            <a:pPr algn="l"/>
            <a:r>
              <a:rPr sz="1500" b="0" i="0">
                <a:solidFill>
                  <a:srgbClr val="0B1F3A"/>
                </a:solidFill>
                <a:latin typeface="Segoe UI Semibold"/>
              </a:rPr>
              <a:t>Umbral 0.53</a:t>
            </a:r>
          </a:p>
        </p:txBody>
      </p:sp>
      <p:sp>
        <p:nvSpPr>
          <p:cNvPr id="13" name="TextBox 12"/>
          <p:cNvSpPr txBox="1"/>
          <p:nvPr/>
        </p:nvSpPr>
        <p:spPr>
          <a:xfrm>
            <a:off x="6720840" y="2039112"/>
            <a:ext cx="2103120" cy="502920"/>
          </a:xfrm>
          <a:prstGeom prst="rect">
            <a:avLst/>
          </a:prstGeom>
          <a:noFill/>
        </p:spPr>
        <p:txBody>
          <a:bodyPr wrap="square" lIns="0" rIns="0" tIns="0" bIns="0" anchor="t">
            <a:spAutoFit/>
          </a:bodyPr>
          <a:lstStyle/>
          <a:p>
            <a:pPr algn="l"/>
            <a:r>
              <a:rPr sz="1200" b="0" i="0">
                <a:solidFill>
                  <a:srgbClr val="475569"/>
                </a:solidFill>
                <a:latin typeface="Segoe UI"/>
              </a:rPr>
              <a:t>Mínimo para usar una ficha</a:t>
            </a:r>
          </a:p>
        </p:txBody>
      </p:sp>
      <p:sp>
        <p:nvSpPr>
          <p:cNvPr id="14" name="Rounded Rectangle 13"/>
          <p:cNvSpPr/>
          <p:nvPr/>
        </p:nvSpPr>
        <p:spPr>
          <a:xfrm>
            <a:off x="8869680" y="173736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sliders.png"/>
          <p:cNvPicPr>
            <a:picLocks noChangeAspect="1"/>
          </p:cNvPicPr>
          <p:nvPr/>
        </p:nvPicPr>
        <p:blipFill>
          <a:blip r:embed="rId4"/>
          <a:stretch>
            <a:fillRect/>
          </a:stretch>
        </p:blipFill>
        <p:spPr>
          <a:xfrm>
            <a:off x="8970263" y="1837944"/>
            <a:ext cx="301752" cy="301752"/>
          </a:xfrm>
          <a:prstGeom prst="rect">
            <a:avLst/>
          </a:prstGeom>
        </p:spPr>
      </p:pic>
      <p:sp>
        <p:nvSpPr>
          <p:cNvPr id="16" name="TextBox 15"/>
          <p:cNvSpPr txBox="1"/>
          <p:nvPr/>
        </p:nvSpPr>
        <p:spPr>
          <a:xfrm>
            <a:off x="9555480" y="1691640"/>
            <a:ext cx="2103120" cy="365760"/>
          </a:xfrm>
          <a:prstGeom prst="rect">
            <a:avLst/>
          </a:prstGeom>
          <a:noFill/>
        </p:spPr>
        <p:txBody>
          <a:bodyPr wrap="square" lIns="0" rIns="0" tIns="0" bIns="0" anchor="t">
            <a:spAutoFit/>
          </a:bodyPr>
          <a:lstStyle/>
          <a:p>
            <a:pPr algn="l"/>
            <a:r>
              <a:rPr sz="1500" b="0" i="0">
                <a:solidFill>
                  <a:srgbClr val="0B1F3A"/>
                </a:solidFill>
                <a:latin typeface="Segoe UI Semibold"/>
              </a:rPr>
              <a:t>Margen 0.10</a:t>
            </a:r>
          </a:p>
        </p:txBody>
      </p:sp>
      <p:sp>
        <p:nvSpPr>
          <p:cNvPr id="17" name="TextBox 16"/>
          <p:cNvSpPr txBox="1"/>
          <p:nvPr/>
        </p:nvSpPr>
        <p:spPr>
          <a:xfrm>
            <a:off x="9555480" y="2039112"/>
            <a:ext cx="2103120" cy="502920"/>
          </a:xfrm>
          <a:prstGeom prst="rect">
            <a:avLst/>
          </a:prstGeom>
          <a:noFill/>
        </p:spPr>
        <p:txBody>
          <a:bodyPr wrap="square" lIns="0" rIns="0" tIns="0" bIns="0" anchor="t">
            <a:spAutoFit/>
          </a:bodyPr>
          <a:lstStyle/>
          <a:p>
            <a:pPr algn="l"/>
            <a:r>
              <a:rPr sz="1200" b="0" i="0">
                <a:solidFill>
                  <a:srgbClr val="475569"/>
                </a:solidFill>
                <a:latin typeface="Segoe UI"/>
              </a:rPr>
              <a:t>Respecto a la mejor base</a:t>
            </a:r>
          </a:p>
        </p:txBody>
      </p:sp>
      <p:sp>
        <p:nvSpPr>
          <p:cNvPr id="18" name="Rounded Rectangle 17"/>
          <p:cNvSpPr/>
          <p:nvPr/>
        </p:nvSpPr>
        <p:spPr>
          <a:xfrm>
            <a:off x="6035040" y="269748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libros.png"/>
          <p:cNvPicPr>
            <a:picLocks noChangeAspect="1"/>
          </p:cNvPicPr>
          <p:nvPr/>
        </p:nvPicPr>
        <p:blipFill>
          <a:blip r:embed="rId5"/>
          <a:stretch>
            <a:fillRect/>
          </a:stretch>
        </p:blipFill>
        <p:spPr>
          <a:xfrm>
            <a:off x="6135624" y="2798064"/>
            <a:ext cx="301752" cy="301752"/>
          </a:xfrm>
          <a:prstGeom prst="rect">
            <a:avLst/>
          </a:prstGeom>
        </p:spPr>
      </p:pic>
      <p:sp>
        <p:nvSpPr>
          <p:cNvPr id="20" name="TextBox 19"/>
          <p:cNvSpPr txBox="1"/>
          <p:nvPr/>
        </p:nvSpPr>
        <p:spPr>
          <a:xfrm>
            <a:off x="6720840" y="2651760"/>
            <a:ext cx="2103120" cy="365760"/>
          </a:xfrm>
          <a:prstGeom prst="rect">
            <a:avLst/>
          </a:prstGeom>
          <a:noFill/>
        </p:spPr>
        <p:txBody>
          <a:bodyPr wrap="square" lIns="0" rIns="0" tIns="0" bIns="0" anchor="t">
            <a:spAutoFit/>
          </a:bodyPr>
          <a:lstStyle/>
          <a:p>
            <a:pPr algn="l"/>
            <a:r>
              <a:rPr sz="1500" b="0" i="0">
                <a:solidFill>
                  <a:srgbClr val="0B1F3A"/>
                </a:solidFill>
                <a:latin typeface="Segoe UI Semibold"/>
              </a:rPr>
              <a:t>Máx. 3 bases</a:t>
            </a:r>
          </a:p>
        </p:txBody>
      </p:sp>
      <p:sp>
        <p:nvSpPr>
          <p:cNvPr id="21" name="TextBox 20"/>
          <p:cNvSpPr txBox="1"/>
          <p:nvPr/>
        </p:nvSpPr>
        <p:spPr>
          <a:xfrm>
            <a:off x="6720840" y="2999232"/>
            <a:ext cx="2103120" cy="502920"/>
          </a:xfrm>
          <a:prstGeom prst="rect">
            <a:avLst/>
          </a:prstGeom>
          <a:noFill/>
        </p:spPr>
        <p:txBody>
          <a:bodyPr wrap="square" lIns="0" rIns="0" tIns="0" bIns="0" anchor="t">
            <a:spAutoFit/>
          </a:bodyPr>
          <a:lstStyle/>
          <a:p>
            <a:pPr algn="l"/>
            <a:r>
              <a:rPr sz="1200" b="0" i="0">
                <a:solidFill>
                  <a:srgbClr val="475569"/>
                </a:solidFill>
                <a:latin typeface="Segoe UI"/>
              </a:rPr>
              <a:t>Distintas, sin repetir texto</a:t>
            </a:r>
          </a:p>
        </p:txBody>
      </p:sp>
      <p:sp>
        <p:nvSpPr>
          <p:cNvPr id="22" name="Rounded Rectangle 21"/>
          <p:cNvSpPr/>
          <p:nvPr/>
        </p:nvSpPr>
        <p:spPr>
          <a:xfrm>
            <a:off x="8869680" y="2697480"/>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documento.png"/>
          <p:cNvPicPr>
            <a:picLocks noChangeAspect="1"/>
          </p:cNvPicPr>
          <p:nvPr/>
        </p:nvPicPr>
        <p:blipFill>
          <a:blip r:embed="rId6"/>
          <a:stretch>
            <a:fillRect/>
          </a:stretch>
        </p:blipFill>
        <p:spPr>
          <a:xfrm>
            <a:off x="8970263" y="2798064"/>
            <a:ext cx="301752" cy="301752"/>
          </a:xfrm>
          <a:prstGeom prst="rect">
            <a:avLst/>
          </a:prstGeom>
        </p:spPr>
      </p:pic>
      <p:sp>
        <p:nvSpPr>
          <p:cNvPr id="24" name="TextBox 23"/>
          <p:cNvSpPr txBox="1"/>
          <p:nvPr/>
        </p:nvSpPr>
        <p:spPr>
          <a:xfrm>
            <a:off x="9555480" y="2651760"/>
            <a:ext cx="2103120" cy="365760"/>
          </a:xfrm>
          <a:prstGeom prst="rect">
            <a:avLst/>
          </a:prstGeom>
          <a:noFill/>
        </p:spPr>
        <p:txBody>
          <a:bodyPr wrap="square" lIns="0" rIns="0" tIns="0" bIns="0" anchor="t">
            <a:spAutoFit/>
          </a:bodyPr>
          <a:lstStyle/>
          <a:p>
            <a:pPr algn="l"/>
            <a:r>
              <a:rPr sz="1500" b="0" i="0">
                <a:solidFill>
                  <a:srgbClr val="0B1F3A"/>
                </a:solidFill>
                <a:latin typeface="Segoe UI Semibold"/>
              </a:rPr>
              <a:t>Ficha + chunk</a:t>
            </a:r>
          </a:p>
        </p:txBody>
      </p:sp>
      <p:sp>
        <p:nvSpPr>
          <p:cNvPr id="25" name="TextBox 24"/>
          <p:cNvSpPr txBox="1"/>
          <p:nvPr/>
        </p:nvSpPr>
        <p:spPr>
          <a:xfrm>
            <a:off x="9555480" y="2999232"/>
            <a:ext cx="2103120" cy="502920"/>
          </a:xfrm>
          <a:prstGeom prst="rect">
            <a:avLst/>
          </a:prstGeom>
          <a:noFill/>
        </p:spPr>
        <p:txBody>
          <a:bodyPr wrap="square" lIns="0" rIns="0" tIns="0" bIns="0" anchor="t">
            <a:spAutoFit/>
          </a:bodyPr>
          <a:lstStyle/>
          <a:p>
            <a:pPr algn="l"/>
            <a:r>
              <a:rPr sz="1200" b="0" i="0">
                <a:solidFill>
                  <a:srgbClr val="475569"/>
                </a:solidFill>
                <a:latin typeface="Segoe UI"/>
              </a:rPr>
              <a:t>Ficha rápida y fragmento más parecido</a:t>
            </a:r>
          </a:p>
        </p:txBody>
      </p:sp>
      <p:sp>
        <p:nvSpPr>
          <p:cNvPr id="26" name="TextBox 25"/>
          <p:cNvSpPr txBox="1"/>
          <p:nvPr/>
        </p:nvSpPr>
        <p:spPr>
          <a:xfrm>
            <a:off x="548640" y="3931920"/>
            <a:ext cx="10972800" cy="365760"/>
          </a:xfrm>
          <a:prstGeom prst="rect">
            <a:avLst/>
          </a:prstGeom>
          <a:noFill/>
        </p:spPr>
        <p:txBody>
          <a:bodyPr wrap="square" lIns="0" rIns="0" tIns="0" bIns="0" anchor="t">
            <a:spAutoFit/>
          </a:bodyPr>
          <a:lstStyle/>
          <a:p>
            <a:pPr algn="l"/>
            <a:r>
              <a:rPr sz="1600" b="0" i="0">
                <a:solidFill>
                  <a:srgbClr val="0B1F3A"/>
                </a:solidFill>
                <a:latin typeface="Segoe UI Semibold"/>
              </a:rPr>
              <a:t>Scores medidos sobre el índice actual</a:t>
            </a:r>
          </a:p>
        </p:txBody>
      </p:sp>
      <p:sp>
        <p:nvSpPr>
          <p:cNvPr id="27" name="Rounded Rectangle 26"/>
          <p:cNvSpPr/>
          <p:nvPr/>
        </p:nvSpPr>
        <p:spPr>
          <a:xfrm>
            <a:off x="548640" y="4617720"/>
            <a:ext cx="11064240" cy="384048"/>
          </a:xfrm>
          <a:prstGeom prst="roundRect">
            <a:avLst>
              <a:gd name="adj" fmla="val 50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1338942" y="4617720"/>
            <a:ext cx="3477332" cy="384048"/>
          </a:xfrm>
          <a:prstGeom prst="roundRect">
            <a:avLst>
              <a:gd name="adj" fmla="val 50000"/>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871062" y="4617720"/>
            <a:ext cx="4267635" cy="384048"/>
          </a:xfrm>
          <a:prstGeom prst="roundRect">
            <a:avLst>
              <a:gd name="adj" fmla="val 50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ctangle 29"/>
          <p:cNvSpPr/>
          <p:nvPr/>
        </p:nvSpPr>
        <p:spPr>
          <a:xfrm>
            <a:off x="5746350" y="4434840"/>
            <a:ext cx="36576" cy="749808"/>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1338942" y="5138928"/>
            <a:ext cx="2926080" cy="548640"/>
          </a:xfrm>
          <a:prstGeom prst="rect">
            <a:avLst/>
          </a:prstGeom>
          <a:noFill/>
        </p:spPr>
        <p:txBody>
          <a:bodyPr wrap="square" lIns="0" rIns="0" tIns="0" bIns="0" anchor="t">
            <a:spAutoFit/>
          </a:bodyPr>
          <a:lstStyle/>
          <a:p>
            <a:pPr algn="l"/>
            <a:r>
              <a:rPr sz="1250" b="1" i="0">
                <a:solidFill>
                  <a:srgbClr val="0B1F3A"/>
                </a:solidFill>
                <a:latin typeface="Segoe UI"/>
              </a:rPr>
              <a:t>Saludos y temas ajenos</a:t>
            </a:r>
          </a:p>
          <a:p>
            <a:pPr algn="l"/>
            <a:r>
              <a:rPr sz="1250" b="0" i="0">
                <a:solidFill>
                  <a:srgbClr val="475569"/>
                </a:solidFill>
                <a:latin typeface="Segoe UI"/>
              </a:rPr>
              <a:t>0.25 a 0.47</a:t>
            </a:r>
          </a:p>
        </p:txBody>
      </p:sp>
      <p:sp>
        <p:nvSpPr>
          <p:cNvPr id="32" name="TextBox 31"/>
          <p:cNvSpPr txBox="1"/>
          <p:nvPr/>
        </p:nvSpPr>
        <p:spPr>
          <a:xfrm>
            <a:off x="4941678" y="5138928"/>
            <a:ext cx="1645920" cy="548640"/>
          </a:xfrm>
          <a:prstGeom prst="rect">
            <a:avLst/>
          </a:prstGeom>
          <a:noFill/>
        </p:spPr>
        <p:txBody>
          <a:bodyPr wrap="square" lIns="0" rIns="0" tIns="0" bIns="0" anchor="t">
            <a:spAutoFit/>
          </a:bodyPr>
          <a:lstStyle/>
          <a:p>
            <a:pPr algn="ctr"/>
            <a:r>
              <a:rPr sz="1250" b="1" i="0">
                <a:solidFill>
                  <a:srgbClr val="F59E0B"/>
                </a:solidFill>
                <a:latin typeface="Segoe UI"/>
              </a:rPr>
              <a:t>Umbral</a:t>
            </a:r>
          </a:p>
          <a:p>
            <a:pPr algn="ctr"/>
            <a:r>
              <a:rPr sz="1250" b="0" i="0">
                <a:solidFill>
                  <a:srgbClr val="475569"/>
                </a:solidFill>
                <a:latin typeface="Segoe UI"/>
              </a:rPr>
              <a:t>0.53</a:t>
            </a:r>
          </a:p>
        </p:txBody>
      </p:sp>
      <p:sp>
        <p:nvSpPr>
          <p:cNvPr id="33" name="TextBox 32"/>
          <p:cNvSpPr txBox="1"/>
          <p:nvPr/>
        </p:nvSpPr>
        <p:spPr>
          <a:xfrm>
            <a:off x="6871062" y="5138928"/>
            <a:ext cx="3291840" cy="548640"/>
          </a:xfrm>
          <a:prstGeom prst="rect">
            <a:avLst/>
          </a:prstGeom>
          <a:noFill/>
        </p:spPr>
        <p:txBody>
          <a:bodyPr wrap="square" lIns="0" rIns="0" tIns="0" bIns="0" anchor="t">
            <a:spAutoFit/>
          </a:bodyPr>
          <a:lstStyle/>
          <a:p>
            <a:pPr algn="l"/>
            <a:r>
              <a:rPr sz="1250" b="1" i="0">
                <a:solidFill>
                  <a:srgbClr val="0B1F3A"/>
                </a:solidFill>
                <a:latin typeface="Segoe UI"/>
              </a:rPr>
              <a:t>Consultas de investigación</a:t>
            </a:r>
          </a:p>
          <a:p>
            <a:pPr algn="l"/>
            <a:r>
              <a:rPr sz="1250" b="0" i="0">
                <a:solidFill>
                  <a:srgbClr val="475569"/>
                </a:solidFill>
                <a:latin typeface="Segoe UI"/>
              </a:rPr>
              <a:t>0.60 a 0.87 (mediana 0.73)</a:t>
            </a:r>
          </a:p>
        </p:txBody>
      </p:sp>
      <p:sp>
        <p:nvSpPr>
          <p:cNvPr id="34" name="TextBox 33"/>
          <p:cNvSpPr txBox="1"/>
          <p:nvPr/>
        </p:nvSpPr>
        <p:spPr>
          <a:xfrm>
            <a:off x="548640" y="4343400"/>
            <a:ext cx="457200" cy="274320"/>
          </a:xfrm>
          <a:prstGeom prst="rect">
            <a:avLst/>
          </a:prstGeom>
          <a:noFill/>
        </p:spPr>
        <p:txBody>
          <a:bodyPr wrap="square" lIns="0" rIns="0" tIns="0" bIns="0" anchor="t">
            <a:spAutoFit/>
          </a:bodyPr>
          <a:lstStyle/>
          <a:p>
            <a:pPr algn="l"/>
            <a:r>
              <a:rPr sz="1100" b="0" i="0">
                <a:solidFill>
                  <a:srgbClr val="475569"/>
                </a:solidFill>
                <a:latin typeface="Segoe UI"/>
              </a:rPr>
              <a:t>0.2</a:t>
            </a:r>
          </a:p>
        </p:txBody>
      </p:sp>
      <p:sp>
        <p:nvSpPr>
          <p:cNvPr id="35" name="TextBox 34"/>
          <p:cNvSpPr txBox="1"/>
          <p:nvPr/>
        </p:nvSpPr>
        <p:spPr>
          <a:xfrm>
            <a:off x="11155680" y="4343400"/>
            <a:ext cx="457200" cy="274320"/>
          </a:xfrm>
          <a:prstGeom prst="rect">
            <a:avLst/>
          </a:prstGeom>
          <a:noFill/>
        </p:spPr>
        <p:txBody>
          <a:bodyPr wrap="square" lIns="0" rIns="0" tIns="0" bIns="0" anchor="t">
            <a:spAutoFit/>
          </a:bodyPr>
          <a:lstStyle/>
          <a:p>
            <a:pPr algn="r"/>
            <a:r>
              <a:rPr sz="1100" b="0" i="0">
                <a:solidFill>
                  <a:srgbClr val="475569"/>
                </a:solidFill>
                <a:latin typeface="Segoe UI"/>
              </a:rPr>
              <a:t>0.9</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MODELO DE LENGUAJE</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LLM: Qwen3.5-4B, un modelo híbrido y eficiente</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15</a:t>
            </a:r>
          </a:p>
        </p:txBody>
      </p:sp>
      <p:sp>
        <p:nvSpPr>
          <p:cNvPr id="6" name="Rounded Rectangle 5"/>
          <p:cNvSpPr/>
          <p:nvPr/>
        </p:nvSpPr>
        <p:spPr>
          <a:xfrm>
            <a:off x="548640" y="1737360"/>
            <a:ext cx="2606040" cy="16459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59" y="1847088"/>
            <a:ext cx="2194560" cy="777240"/>
          </a:xfrm>
          <a:prstGeom prst="rect">
            <a:avLst/>
          </a:prstGeom>
          <a:noFill/>
        </p:spPr>
        <p:txBody>
          <a:bodyPr wrap="square" lIns="0" rIns="0" tIns="0" bIns="0" anchor="ctr">
            <a:spAutoFit/>
          </a:bodyPr>
          <a:lstStyle/>
          <a:p>
            <a:pPr algn="l"/>
            <a:r>
              <a:rPr sz="3400" b="0" i="0">
                <a:solidFill>
                  <a:srgbClr val="0E9F8E"/>
                </a:solidFill>
                <a:latin typeface="Segoe UI Semibold"/>
              </a:rPr>
              <a:t>4.54B</a:t>
            </a:r>
          </a:p>
        </p:txBody>
      </p:sp>
      <p:sp>
        <p:nvSpPr>
          <p:cNvPr id="8" name="TextBox 7"/>
          <p:cNvSpPr txBox="1"/>
          <p:nvPr/>
        </p:nvSpPr>
        <p:spPr>
          <a:xfrm>
            <a:off x="822959" y="2651760"/>
            <a:ext cx="2194560" cy="640080"/>
          </a:xfrm>
          <a:prstGeom prst="rect">
            <a:avLst/>
          </a:prstGeom>
          <a:noFill/>
        </p:spPr>
        <p:txBody>
          <a:bodyPr wrap="square" lIns="0" rIns="0" tIns="0" bIns="0" anchor="t">
            <a:spAutoFit/>
          </a:bodyPr>
          <a:lstStyle/>
          <a:p>
            <a:pPr algn="l"/>
            <a:r>
              <a:rPr sz="1250" b="0" i="0">
                <a:solidFill>
                  <a:srgbClr val="475569"/>
                </a:solidFill>
                <a:latin typeface="Segoe UI"/>
              </a:rPr>
              <a:t>parámetros</a:t>
            </a:r>
          </a:p>
        </p:txBody>
      </p:sp>
      <p:sp>
        <p:nvSpPr>
          <p:cNvPr id="9" name="Rounded Rectangle 8"/>
          <p:cNvSpPr/>
          <p:nvPr/>
        </p:nvSpPr>
        <p:spPr>
          <a:xfrm>
            <a:off x="3364992" y="1737360"/>
            <a:ext cx="2606040" cy="16459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639312" y="1847088"/>
            <a:ext cx="2194560" cy="777240"/>
          </a:xfrm>
          <a:prstGeom prst="rect">
            <a:avLst/>
          </a:prstGeom>
          <a:noFill/>
        </p:spPr>
        <p:txBody>
          <a:bodyPr wrap="square" lIns="0" rIns="0" tIns="0" bIns="0" anchor="ctr">
            <a:spAutoFit/>
          </a:bodyPr>
          <a:lstStyle/>
          <a:p>
            <a:pPr algn="l"/>
            <a:r>
              <a:rPr sz="3400" b="0" i="0">
                <a:solidFill>
                  <a:srgbClr val="0E9F8E"/>
                </a:solidFill>
                <a:latin typeface="Segoe UI Semibold"/>
              </a:rPr>
              <a:t>32</a:t>
            </a:r>
          </a:p>
        </p:txBody>
      </p:sp>
      <p:sp>
        <p:nvSpPr>
          <p:cNvPr id="11" name="TextBox 10"/>
          <p:cNvSpPr txBox="1"/>
          <p:nvPr/>
        </p:nvSpPr>
        <p:spPr>
          <a:xfrm>
            <a:off x="3639312" y="2651760"/>
            <a:ext cx="2194560" cy="640080"/>
          </a:xfrm>
          <a:prstGeom prst="rect">
            <a:avLst/>
          </a:prstGeom>
          <a:noFill/>
        </p:spPr>
        <p:txBody>
          <a:bodyPr wrap="square" lIns="0" rIns="0" tIns="0" bIns="0" anchor="t">
            <a:spAutoFit/>
          </a:bodyPr>
          <a:lstStyle/>
          <a:p>
            <a:pPr algn="l"/>
            <a:r>
              <a:rPr sz="1250" b="0" i="0">
                <a:solidFill>
                  <a:srgbClr val="475569"/>
                </a:solidFill>
                <a:latin typeface="Segoe UI"/>
              </a:rPr>
              <a:t>capas: 8 de atención completa y 24 lineales</a:t>
            </a:r>
          </a:p>
        </p:txBody>
      </p:sp>
      <p:sp>
        <p:nvSpPr>
          <p:cNvPr id="12" name="Rounded Rectangle 11"/>
          <p:cNvSpPr/>
          <p:nvPr/>
        </p:nvSpPr>
        <p:spPr>
          <a:xfrm>
            <a:off x="6181344" y="1737360"/>
            <a:ext cx="2606040" cy="16459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455664" y="1847088"/>
            <a:ext cx="2194560" cy="777240"/>
          </a:xfrm>
          <a:prstGeom prst="rect">
            <a:avLst/>
          </a:prstGeom>
          <a:noFill/>
        </p:spPr>
        <p:txBody>
          <a:bodyPr wrap="square" lIns="0" rIns="0" tIns="0" bIns="0" anchor="ctr">
            <a:spAutoFit/>
          </a:bodyPr>
          <a:lstStyle/>
          <a:p>
            <a:pPr algn="l"/>
            <a:r>
              <a:rPr sz="3400" b="0" i="0">
                <a:solidFill>
                  <a:srgbClr val="0E9F8E"/>
                </a:solidFill>
                <a:latin typeface="Segoe UI Semibold"/>
              </a:rPr>
              <a:t>~3.5 GB</a:t>
            </a:r>
          </a:p>
        </p:txBody>
      </p:sp>
      <p:sp>
        <p:nvSpPr>
          <p:cNvPr id="14" name="TextBox 13"/>
          <p:cNvSpPr txBox="1"/>
          <p:nvPr/>
        </p:nvSpPr>
        <p:spPr>
          <a:xfrm>
            <a:off x="6455664" y="2651760"/>
            <a:ext cx="2194560" cy="640080"/>
          </a:xfrm>
          <a:prstGeom prst="rect">
            <a:avLst/>
          </a:prstGeom>
          <a:noFill/>
        </p:spPr>
        <p:txBody>
          <a:bodyPr wrap="square" lIns="0" rIns="0" tIns="0" bIns="0" anchor="t">
            <a:spAutoFit/>
          </a:bodyPr>
          <a:lstStyle/>
          <a:p>
            <a:pPr algn="l"/>
            <a:r>
              <a:rPr sz="1250" b="0" i="0">
                <a:solidFill>
                  <a:srgbClr val="475569"/>
                </a:solidFill>
                <a:latin typeface="Segoe UI"/>
              </a:rPr>
              <a:t>de VRAM en 4 bits NF4</a:t>
            </a:r>
          </a:p>
        </p:txBody>
      </p:sp>
      <p:sp>
        <p:nvSpPr>
          <p:cNvPr id="15" name="Rounded Rectangle 14"/>
          <p:cNvSpPr/>
          <p:nvPr/>
        </p:nvSpPr>
        <p:spPr>
          <a:xfrm>
            <a:off x="8997696" y="1737360"/>
            <a:ext cx="2606040" cy="16459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272016" y="1847088"/>
            <a:ext cx="2194560" cy="777240"/>
          </a:xfrm>
          <a:prstGeom prst="rect">
            <a:avLst/>
          </a:prstGeom>
          <a:noFill/>
        </p:spPr>
        <p:txBody>
          <a:bodyPr wrap="square" lIns="0" rIns="0" tIns="0" bIns="0" anchor="ctr">
            <a:spAutoFit/>
          </a:bodyPr>
          <a:lstStyle/>
          <a:p>
            <a:pPr algn="l"/>
            <a:r>
              <a:rPr sz="3400" b="0" i="0">
                <a:solidFill>
                  <a:srgbClr val="0E9F8E"/>
                </a:solidFill>
                <a:latin typeface="Segoe UI Semibold"/>
              </a:rPr>
              <a:t>0.2</a:t>
            </a:r>
          </a:p>
        </p:txBody>
      </p:sp>
      <p:sp>
        <p:nvSpPr>
          <p:cNvPr id="17" name="TextBox 16"/>
          <p:cNvSpPr txBox="1"/>
          <p:nvPr/>
        </p:nvSpPr>
        <p:spPr>
          <a:xfrm>
            <a:off x="9272016" y="2651760"/>
            <a:ext cx="2194560" cy="640080"/>
          </a:xfrm>
          <a:prstGeom prst="rect">
            <a:avLst/>
          </a:prstGeom>
          <a:noFill/>
        </p:spPr>
        <p:txBody>
          <a:bodyPr wrap="square" lIns="0" rIns="0" tIns="0" bIns="0" anchor="t">
            <a:spAutoFit/>
          </a:bodyPr>
          <a:lstStyle/>
          <a:p>
            <a:pPr algn="l"/>
            <a:r>
              <a:rPr sz="1250" b="0" i="0">
                <a:solidFill>
                  <a:srgbClr val="475569"/>
                </a:solidFill>
                <a:latin typeface="Segoe UI"/>
              </a:rPr>
              <a:t>temperatura: respuestas consistentes</a:t>
            </a:r>
          </a:p>
        </p:txBody>
      </p:sp>
      <p:sp>
        <p:nvSpPr>
          <p:cNvPr id="18" name="TextBox 17"/>
          <p:cNvSpPr txBox="1"/>
          <p:nvPr/>
        </p:nvSpPr>
        <p:spPr>
          <a:xfrm>
            <a:off x="548640" y="3703320"/>
            <a:ext cx="10972800" cy="365760"/>
          </a:xfrm>
          <a:prstGeom prst="rect">
            <a:avLst/>
          </a:prstGeom>
          <a:noFill/>
        </p:spPr>
        <p:txBody>
          <a:bodyPr wrap="square" lIns="0" rIns="0" tIns="0" bIns="0" anchor="t">
            <a:spAutoFit/>
          </a:bodyPr>
          <a:lstStyle/>
          <a:p>
            <a:pPr algn="l"/>
            <a:r>
              <a:rPr sz="1600" b="0" i="0">
                <a:solidFill>
                  <a:srgbClr val="0B1F3A"/>
                </a:solidFill>
                <a:latin typeface="Segoe UI Semibold"/>
              </a:rPr>
              <a:t>Arquitectura híbrida: una capa de atención completa cada cuatro</a:t>
            </a:r>
          </a:p>
        </p:txBody>
      </p:sp>
      <p:sp>
        <p:nvSpPr>
          <p:cNvPr id="19" name="Rounded Rectangle 18"/>
          <p:cNvSpPr/>
          <p:nvPr/>
        </p:nvSpPr>
        <p:spPr>
          <a:xfrm>
            <a:off x="548640"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94283"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1239926"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1585569"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1931212"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2276856"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2622499"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2968142"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3313785"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3659428"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005072"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4350715"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4696358"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5042001"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5387644"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ounded Rectangle 33"/>
          <p:cNvSpPr/>
          <p:nvPr/>
        </p:nvSpPr>
        <p:spPr>
          <a:xfrm>
            <a:off x="5733288"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unded Rectangle 34"/>
          <p:cNvSpPr/>
          <p:nvPr/>
        </p:nvSpPr>
        <p:spPr>
          <a:xfrm>
            <a:off x="6078931"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6424574"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770217"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ounded Rectangle 37"/>
          <p:cNvSpPr/>
          <p:nvPr/>
        </p:nvSpPr>
        <p:spPr>
          <a:xfrm>
            <a:off x="7115860"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7461504"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Rounded Rectangle 39"/>
          <p:cNvSpPr/>
          <p:nvPr/>
        </p:nvSpPr>
        <p:spPr>
          <a:xfrm>
            <a:off x="7807147"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unded Rectangle 40"/>
          <p:cNvSpPr/>
          <p:nvPr/>
        </p:nvSpPr>
        <p:spPr>
          <a:xfrm>
            <a:off x="8152790"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le 41"/>
          <p:cNvSpPr/>
          <p:nvPr/>
        </p:nvSpPr>
        <p:spPr>
          <a:xfrm>
            <a:off x="8498433"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unded Rectangle 42"/>
          <p:cNvSpPr/>
          <p:nvPr/>
        </p:nvSpPr>
        <p:spPr>
          <a:xfrm>
            <a:off x="8844076"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ounded Rectangle 43"/>
          <p:cNvSpPr/>
          <p:nvPr/>
        </p:nvSpPr>
        <p:spPr>
          <a:xfrm>
            <a:off x="9189719"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unded Rectangle 44"/>
          <p:cNvSpPr/>
          <p:nvPr/>
        </p:nvSpPr>
        <p:spPr>
          <a:xfrm>
            <a:off x="9535363"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Rounded Rectangle 45"/>
          <p:cNvSpPr/>
          <p:nvPr/>
        </p:nvSpPr>
        <p:spPr>
          <a:xfrm>
            <a:off x="9881006"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unded Rectangle 46"/>
          <p:cNvSpPr/>
          <p:nvPr/>
        </p:nvSpPr>
        <p:spPr>
          <a:xfrm>
            <a:off x="10226649"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Rounded Rectangle 47"/>
          <p:cNvSpPr/>
          <p:nvPr/>
        </p:nvSpPr>
        <p:spPr>
          <a:xfrm>
            <a:off x="10572292"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10917936" y="4206240"/>
            <a:ext cx="292608" cy="685800"/>
          </a:xfrm>
          <a:prstGeom prst="roundRect">
            <a:avLst>
              <a:gd name="adj" fmla="val 25000"/>
            </a:avLst>
          </a:prstGeom>
          <a:solidFill>
            <a:srgbClr val="E6F6F4"/>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Rounded Rectangle 49"/>
          <p:cNvSpPr/>
          <p:nvPr/>
        </p:nvSpPr>
        <p:spPr>
          <a:xfrm>
            <a:off x="11263579" y="4206240"/>
            <a:ext cx="292608" cy="685800"/>
          </a:xfrm>
          <a:prstGeom prst="roundRect">
            <a:avLst>
              <a:gd name="adj" fmla="val 25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548640" y="5074920"/>
            <a:ext cx="5120640" cy="548640"/>
          </a:xfrm>
          <a:prstGeom prst="rect">
            <a:avLst/>
          </a:prstGeom>
          <a:noFill/>
        </p:spPr>
        <p:txBody>
          <a:bodyPr wrap="square" lIns="0" rIns="0" tIns="0" bIns="0" anchor="t">
            <a:spAutoFit/>
          </a:bodyPr>
          <a:lstStyle/>
          <a:p>
            <a:pPr algn="l"/>
            <a:r>
              <a:rPr sz="1300" b="0" i="0">
                <a:solidFill>
                  <a:srgbClr val="F59E0B"/>
                </a:solidFill>
                <a:latin typeface="Segoe UI"/>
              </a:rPr>
              <a:t>■ </a:t>
            </a:r>
            <a:r>
              <a:rPr sz="1300" b="0" i="0">
                <a:solidFill>
                  <a:srgbClr val="1E293B"/>
                </a:solidFill>
                <a:latin typeface="Segoe UI"/>
              </a:rPr>
              <a:t>Atención completa (8): q, k, v, o</a:t>
            </a:r>
          </a:p>
        </p:txBody>
      </p:sp>
      <p:sp>
        <p:nvSpPr>
          <p:cNvPr id="52" name="TextBox 51"/>
          <p:cNvSpPr txBox="1"/>
          <p:nvPr/>
        </p:nvSpPr>
        <p:spPr>
          <a:xfrm>
            <a:off x="5669280" y="5074920"/>
            <a:ext cx="5943600" cy="548640"/>
          </a:xfrm>
          <a:prstGeom prst="rect">
            <a:avLst/>
          </a:prstGeom>
          <a:noFill/>
        </p:spPr>
        <p:txBody>
          <a:bodyPr wrap="square" lIns="0" rIns="0" tIns="0" bIns="0" anchor="t">
            <a:spAutoFit/>
          </a:bodyPr>
          <a:lstStyle/>
          <a:p>
            <a:pPr algn="l"/>
            <a:r>
              <a:rPr sz="1300" b="0" i="0">
                <a:solidFill>
                  <a:srgbClr val="0E9F8E"/>
                </a:solidFill>
                <a:latin typeface="Segoe UI"/>
              </a:rPr>
              <a:t>■ </a:t>
            </a:r>
            <a:r>
              <a:rPr sz="1300" b="0" i="0">
                <a:solidFill>
                  <a:srgbClr val="1E293B"/>
                </a:solidFill>
                <a:latin typeface="Segoe UI"/>
              </a:rPr>
              <a:t>Atención lineal (24): in_proj_qkv, in_proj_z, out_proj</a:t>
            </a:r>
          </a:p>
        </p:txBody>
      </p:sp>
      <p:sp>
        <p:nvSpPr>
          <p:cNvPr id="53" name="TextBox 52"/>
          <p:cNvSpPr txBox="1"/>
          <p:nvPr/>
        </p:nvSpPr>
        <p:spPr>
          <a:xfrm>
            <a:off x="548640" y="5532120"/>
            <a:ext cx="11064240" cy="548640"/>
          </a:xfrm>
          <a:prstGeom prst="rect">
            <a:avLst/>
          </a:prstGeom>
          <a:noFill/>
        </p:spPr>
        <p:txBody>
          <a:bodyPr wrap="square" lIns="0" rIns="0" tIns="0" bIns="0" anchor="t">
            <a:spAutoFit/>
          </a:bodyPr>
          <a:lstStyle/>
          <a:p>
            <a:pPr algn="l"/>
            <a:r>
              <a:rPr sz="1300" b="0" i="0">
                <a:solidFill>
                  <a:srgbClr val="475569"/>
                </a:solidFill>
                <a:latin typeface="Segoe UI"/>
              </a:rPr>
              <a:t>Todas las capas tienen MLP (gate_proj, up_proj, down_proj). Modo no thinking: la plantilla de chat guardada nunca genera bloques de razonamiento.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FINE-TUNING</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Fine-tuning con QLoRA y Unsloth</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16</a:t>
            </a:r>
          </a:p>
        </p:txBody>
      </p:sp>
      <p:sp>
        <p:nvSpPr>
          <p:cNvPr id="6" name="Rounded Rectangle 5"/>
          <p:cNvSpPr/>
          <p:nvPr/>
        </p:nvSpPr>
        <p:spPr>
          <a:xfrm>
            <a:off x="548640" y="1691640"/>
            <a:ext cx="4846320" cy="443484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20240"/>
            <a:ext cx="4297680" cy="320040"/>
          </a:xfrm>
          <a:prstGeom prst="rect">
            <a:avLst/>
          </a:prstGeom>
          <a:noFill/>
        </p:spPr>
        <p:txBody>
          <a:bodyPr wrap="square" lIns="0" rIns="0" tIns="0" bIns="0" anchor="t">
            <a:spAutoFit/>
          </a:bodyPr>
          <a:lstStyle/>
          <a:p>
            <a:pPr algn="l"/>
            <a:r>
              <a:rPr sz="1200" b="1" i="0">
                <a:solidFill>
                  <a:srgbClr val="5EEAD4"/>
                </a:solidFill>
                <a:latin typeface="Segoe UI Semibold"/>
              </a:rPr>
              <a:t>LA IDEA</a:t>
            </a:r>
          </a:p>
        </p:txBody>
      </p:sp>
      <p:sp>
        <p:nvSpPr>
          <p:cNvPr id="8" name="TextBox 7"/>
          <p:cNvSpPr txBox="1"/>
          <p:nvPr/>
        </p:nvSpPr>
        <p:spPr>
          <a:xfrm>
            <a:off x="868680" y="2240280"/>
            <a:ext cx="4297680" cy="731520"/>
          </a:xfrm>
          <a:prstGeom prst="rect">
            <a:avLst/>
          </a:prstGeom>
          <a:noFill/>
        </p:spPr>
        <p:txBody>
          <a:bodyPr wrap="square" lIns="0" rIns="0" tIns="0" bIns="0" anchor="t">
            <a:spAutoFit/>
          </a:bodyPr>
          <a:lstStyle/>
          <a:p>
            <a:pPr algn="l"/>
            <a:r>
              <a:rPr sz="2800" b="0" i="0">
                <a:solidFill>
                  <a:srgbClr val="FFFFFF"/>
                </a:solidFill>
                <a:latin typeface="Segoe UI Semibold"/>
              </a:rPr>
              <a:t>W·x + (α / r)·B·A·x</a:t>
            </a:r>
          </a:p>
        </p:txBody>
      </p:sp>
      <p:sp>
        <p:nvSpPr>
          <p:cNvPr id="9" name="TextBox 8"/>
          <p:cNvSpPr txBox="1"/>
          <p:nvPr/>
        </p:nvSpPr>
        <p:spPr>
          <a:xfrm>
            <a:off x="868680" y="3108960"/>
            <a:ext cx="4297680" cy="2926080"/>
          </a:xfrm>
          <a:prstGeom prst="rect">
            <a:avLst/>
          </a:prstGeom>
          <a:noFill/>
        </p:spPr>
        <p:txBody>
          <a:bodyPr wrap="square" lIns="0" rIns="0" tIns="0" bIns="0">
            <a:spAutoFit/>
          </a:bodyPr>
          <a:lstStyle/>
          <a:p>
            <a:pPr>
              <a:spcAft>
                <a:spcPts val="800"/>
              </a:spcAft>
            </a:pPr>
            <a:r>
              <a:rPr sz="1350" b="1">
                <a:solidFill>
                  <a:srgbClr val="F59E0B"/>
                </a:solidFill>
                <a:latin typeface="Segoe UI"/>
              </a:rPr>
              <a:t>•  </a:t>
            </a:r>
            <a:r>
              <a:rPr sz="1350" b="1">
                <a:solidFill>
                  <a:srgbClr val="FFFFFF"/>
                </a:solidFill>
                <a:latin typeface="Segoe UI"/>
              </a:rPr>
              <a:t>W </a:t>
            </a:r>
            <a:r>
              <a:rPr sz="1350">
                <a:solidFill>
                  <a:srgbClr val="FFFFFF"/>
                </a:solidFill>
                <a:latin typeface="Segoe UI"/>
              </a:rPr>
              <a:t>pesos del modelo base: congelados en 4 bits NF4</a:t>
            </a:r>
          </a:p>
          <a:p>
            <a:pPr>
              <a:spcAft>
                <a:spcPts val="800"/>
              </a:spcAft>
            </a:pPr>
            <a:r>
              <a:rPr sz="1350" b="1">
                <a:solidFill>
                  <a:srgbClr val="F59E0B"/>
                </a:solidFill>
                <a:latin typeface="Segoe UI"/>
              </a:rPr>
              <a:t>•  </a:t>
            </a:r>
            <a:r>
              <a:rPr sz="1350" b="1">
                <a:solidFill>
                  <a:srgbClr val="FFFFFF"/>
                </a:solidFill>
                <a:latin typeface="Segoe UI"/>
              </a:rPr>
              <a:t>A, B </a:t>
            </a:r>
            <a:r>
              <a:rPr sz="1350">
                <a:solidFill>
                  <a:srgbClr val="FFFFFF"/>
                </a:solidFill>
                <a:latin typeface="Segoe UI"/>
              </a:rPr>
              <a:t>matrices LoRA de rango r = 16: lo único que se entrena</a:t>
            </a:r>
          </a:p>
          <a:p>
            <a:pPr>
              <a:spcAft>
                <a:spcPts val="800"/>
              </a:spcAft>
            </a:pPr>
            <a:r>
              <a:rPr sz="1350" b="1">
                <a:solidFill>
                  <a:srgbClr val="F59E0B"/>
                </a:solidFill>
                <a:latin typeface="Segoe UI"/>
              </a:rPr>
              <a:t>•  </a:t>
            </a:r>
            <a:r>
              <a:rPr sz="1350" b="1">
                <a:solidFill>
                  <a:srgbClr val="FFFFFF"/>
                </a:solidFill>
                <a:latin typeface="Segoe UI"/>
              </a:rPr>
              <a:t>α / r </a:t>
            </a:r>
            <a:r>
              <a:rPr sz="1350">
                <a:solidFill>
                  <a:srgbClr val="FFFFFF"/>
                </a:solidFill>
                <a:latin typeface="Segoe UI"/>
              </a:rPr>
              <a:t>escala de la actualización (alpha 16 o 32)</a:t>
            </a:r>
          </a:p>
          <a:p>
            <a:pPr>
              <a:spcAft>
                <a:spcPts val="800"/>
              </a:spcAft>
            </a:pPr>
            <a:r>
              <a:rPr sz="1350" b="1">
                <a:solidFill>
                  <a:srgbClr val="F59E0B"/>
                </a:solidFill>
                <a:latin typeface="Segoe UI"/>
              </a:rPr>
              <a:t>•  </a:t>
            </a:r>
            <a:r>
              <a:rPr sz="1350" b="1">
                <a:solidFill>
                  <a:srgbClr val="FFFFFF"/>
                </a:solidFill>
                <a:latin typeface="Segoe UI"/>
              </a:rPr>
              <a:t>0.07% </a:t>
            </a:r>
            <a:r>
              <a:rPr sz="1350">
                <a:solidFill>
                  <a:srgbClr val="FFFFFF"/>
                </a:solidFill>
                <a:latin typeface="Segoe UI"/>
              </a:rPr>
              <a:t>de los parámetros si LoRA va solo en atención</a:t>
            </a:r>
          </a:p>
        </p:txBody>
      </p:sp>
      <p:graphicFrame>
        <p:nvGraphicFramePr>
          <p:cNvPr id="10" name="Table 9"/>
          <p:cNvGraphicFramePr>
            <a:graphicFrameLocks noGrp="1"/>
          </p:cNvGraphicFramePr>
          <p:nvPr/>
        </p:nvGraphicFramePr>
        <p:xfrm>
          <a:off x="5669280" y="1691640"/>
          <a:ext cx="5943600" cy="4434840"/>
        </p:xfrm>
        <a:graphic>
          <a:graphicData uri="http://schemas.openxmlformats.org/drawingml/2006/table">
            <a:tbl>
              <a:tblPr firstRow="1" bandRow="1">
                <a:tableStyleId>{5C22544A-7EE6-4342-B048-85BDC9FD1C3A}</a:tableStyleId>
              </a:tblPr>
              <a:tblGrid>
                <a:gridCol w="2011680"/>
                <a:gridCol w="3931920"/>
              </a:tblGrid>
              <a:tr h="492760">
                <a:tc>
                  <a:txBody>
                    <a:bodyPr/>
                    <a:lstStyle/>
                    <a:p>
                      <a:r>
                        <a:rPr sz="1300">
                          <a:solidFill>
                            <a:srgbClr val="0B1F3A"/>
                          </a:solidFill>
                          <a:latin typeface="Segoe UI Semibold"/>
                        </a:rPr>
                        <a:t>Rango LoRA (r)</a:t>
                      </a:r>
                    </a:p>
                  </a:txBody>
                  <a:tcPr marL="137160" anchor="ctr">
                    <a:solidFill>
                      <a:srgbClr val="F4F7FB"/>
                    </a:solidFill>
                  </a:tcPr>
                </a:tc>
                <a:tc>
                  <a:txBody>
                    <a:bodyPr/>
                    <a:lstStyle/>
                    <a:p>
                      <a:r>
                        <a:rPr sz="1300">
                          <a:solidFill>
                            <a:srgbClr val="1E293B"/>
                          </a:solidFill>
                          <a:latin typeface="Segoe UI"/>
                        </a:rPr>
                        <a:t>16</a:t>
                      </a:r>
                    </a:p>
                  </a:txBody>
                  <a:tcPr marL="137160" anchor="ctr">
                    <a:solidFill>
                      <a:srgbClr val="F4F7FB"/>
                    </a:solidFill>
                  </a:tcPr>
                </a:tc>
              </a:tr>
              <a:tr h="492760">
                <a:tc>
                  <a:txBody>
                    <a:bodyPr/>
                    <a:lstStyle/>
                    <a:p>
                      <a:r>
                        <a:rPr sz="1300">
                          <a:solidFill>
                            <a:srgbClr val="0B1F3A"/>
                          </a:solidFill>
                          <a:latin typeface="Segoe UI Semibold"/>
                        </a:rPr>
                        <a:t>Dropout LoRA</a:t>
                      </a:r>
                    </a:p>
                  </a:txBody>
                  <a:tcPr marL="137160" anchor="ctr">
                    <a:solidFill>
                      <a:srgbClr val="FFFFFF"/>
                    </a:solidFill>
                  </a:tcPr>
                </a:tc>
                <a:tc>
                  <a:txBody>
                    <a:bodyPr/>
                    <a:lstStyle/>
                    <a:p>
                      <a:r>
                        <a:rPr sz="1300">
                          <a:solidFill>
                            <a:srgbClr val="1E293B"/>
                          </a:solidFill>
                          <a:latin typeface="Segoe UI"/>
                        </a:rPr>
                        <a:t>0.05</a:t>
                      </a:r>
                    </a:p>
                  </a:txBody>
                  <a:tcPr marL="137160" anchor="ctr">
                    <a:solidFill>
                      <a:srgbClr val="FFFFFF"/>
                    </a:solidFill>
                  </a:tcPr>
                </a:tc>
              </a:tr>
              <a:tr h="492760">
                <a:tc>
                  <a:txBody>
                    <a:bodyPr/>
                    <a:lstStyle/>
                    <a:p>
                      <a:r>
                        <a:rPr sz="1300">
                          <a:solidFill>
                            <a:srgbClr val="0B1F3A"/>
                          </a:solidFill>
                          <a:latin typeface="Segoe UI Semibold"/>
                        </a:rPr>
                        <a:t>Learning rate</a:t>
                      </a:r>
                    </a:p>
                  </a:txBody>
                  <a:tcPr marL="137160" anchor="ctr">
                    <a:solidFill>
                      <a:srgbClr val="F4F7FB"/>
                    </a:solidFill>
                  </a:tcPr>
                </a:tc>
                <a:tc>
                  <a:txBody>
                    <a:bodyPr/>
                    <a:lstStyle/>
                    <a:p>
                      <a:r>
                        <a:rPr sz="1300">
                          <a:solidFill>
                            <a:srgbClr val="1E293B"/>
                          </a:solidFill>
                          <a:latin typeface="Segoe UI"/>
                        </a:rPr>
                        <a:t>4e-4</a:t>
                      </a:r>
                    </a:p>
                  </a:txBody>
                  <a:tcPr marL="137160" anchor="ctr">
                    <a:solidFill>
                      <a:srgbClr val="F4F7FB"/>
                    </a:solidFill>
                  </a:tcPr>
                </a:tc>
              </a:tr>
              <a:tr h="492760">
                <a:tc>
                  <a:txBody>
                    <a:bodyPr/>
                    <a:lstStyle/>
                    <a:p>
                      <a:r>
                        <a:rPr sz="1300">
                          <a:solidFill>
                            <a:srgbClr val="0B1F3A"/>
                          </a:solidFill>
                          <a:latin typeface="Segoe UI Semibold"/>
                        </a:rPr>
                        <a:t>Optimizador</a:t>
                      </a:r>
                    </a:p>
                  </a:txBody>
                  <a:tcPr marL="137160" anchor="ctr">
                    <a:solidFill>
                      <a:srgbClr val="FFFFFF"/>
                    </a:solidFill>
                  </a:tcPr>
                </a:tc>
                <a:tc>
                  <a:txBody>
                    <a:bodyPr/>
                    <a:lstStyle/>
                    <a:p>
                      <a:r>
                        <a:rPr sz="1300">
                          <a:solidFill>
                            <a:srgbClr val="1E293B"/>
                          </a:solidFill>
                          <a:latin typeface="Segoe UI"/>
                        </a:rPr>
                        <a:t>AdamW 8 bits · scheduler lineal</a:t>
                      </a:r>
                    </a:p>
                  </a:txBody>
                  <a:tcPr marL="137160" anchor="ctr">
                    <a:solidFill>
                      <a:srgbClr val="FFFFFF"/>
                    </a:solidFill>
                  </a:tcPr>
                </a:tc>
              </a:tr>
              <a:tr h="492760">
                <a:tc>
                  <a:txBody>
                    <a:bodyPr/>
                    <a:lstStyle/>
                    <a:p>
                      <a:r>
                        <a:rPr sz="1300">
                          <a:solidFill>
                            <a:srgbClr val="0B1F3A"/>
                          </a:solidFill>
                          <a:latin typeface="Segoe UI Semibold"/>
                        </a:rPr>
                        <a:t>Batch</a:t>
                      </a:r>
                    </a:p>
                  </a:txBody>
                  <a:tcPr marL="137160" anchor="ctr">
                    <a:solidFill>
                      <a:srgbClr val="F4F7FB"/>
                    </a:solidFill>
                  </a:tcPr>
                </a:tc>
                <a:tc>
                  <a:txBody>
                    <a:bodyPr/>
                    <a:lstStyle/>
                    <a:p>
                      <a:r>
                        <a:rPr sz="1300">
                          <a:solidFill>
                            <a:srgbClr val="1E293B"/>
                          </a:solidFill>
                          <a:latin typeface="Segoe UI"/>
                        </a:rPr>
                        <a:t>1 por paso + acumulación de gradientes</a:t>
                      </a:r>
                    </a:p>
                  </a:txBody>
                  <a:tcPr marL="137160" anchor="ctr">
                    <a:solidFill>
                      <a:srgbClr val="F4F7FB"/>
                    </a:solidFill>
                  </a:tcPr>
                </a:tc>
              </a:tr>
              <a:tr h="492760">
                <a:tc>
                  <a:txBody>
                    <a:bodyPr/>
                    <a:lstStyle/>
                    <a:p>
                      <a:r>
                        <a:rPr sz="1300">
                          <a:solidFill>
                            <a:srgbClr val="0B1F3A"/>
                          </a:solidFill>
                          <a:latin typeface="Segoe UI Semibold"/>
                        </a:rPr>
                        <a:t>Largo máximo</a:t>
                      </a:r>
                    </a:p>
                  </a:txBody>
                  <a:tcPr marL="137160" anchor="ctr">
                    <a:solidFill>
                      <a:srgbClr val="FFFFFF"/>
                    </a:solidFill>
                  </a:tcPr>
                </a:tc>
                <a:tc>
                  <a:txBody>
                    <a:bodyPr/>
                    <a:lstStyle/>
                    <a:p>
                      <a:r>
                        <a:rPr sz="1300">
                          <a:solidFill>
                            <a:srgbClr val="1E293B"/>
                          </a:solidFill>
                          <a:latin typeface="Segoe UI"/>
                        </a:rPr>
                        <a:t>2560 tokens</a:t>
                      </a:r>
                    </a:p>
                  </a:txBody>
                  <a:tcPr marL="137160" anchor="ctr">
                    <a:solidFill>
                      <a:srgbClr val="FFFFFF"/>
                    </a:solidFill>
                  </a:tcPr>
                </a:tc>
              </a:tr>
              <a:tr h="492760">
                <a:tc>
                  <a:txBody>
                    <a:bodyPr/>
                    <a:lstStyle/>
                    <a:p>
                      <a:r>
                        <a:rPr sz="1300">
                          <a:solidFill>
                            <a:srgbClr val="0B1F3A"/>
                          </a:solidFill>
                          <a:latin typeface="Segoe UI Semibold"/>
                        </a:rPr>
                        <a:t>Precisión</a:t>
                      </a:r>
                    </a:p>
                  </a:txBody>
                  <a:tcPr marL="137160" anchor="ctr">
                    <a:solidFill>
                      <a:srgbClr val="F4F7FB"/>
                    </a:solidFill>
                  </a:tcPr>
                </a:tc>
                <a:tc>
                  <a:txBody>
                    <a:bodyPr/>
                    <a:lstStyle/>
                    <a:p>
                      <a:r>
                        <a:rPr sz="1300">
                          <a:solidFill>
                            <a:srgbClr val="1E293B"/>
                          </a:solidFill>
                          <a:latin typeface="Segoe UI"/>
                        </a:rPr>
                        <a:t>bf16 · gradient checkpointing de Unsloth</a:t>
                      </a:r>
                    </a:p>
                  </a:txBody>
                  <a:tcPr marL="137160" anchor="ctr">
                    <a:solidFill>
                      <a:srgbClr val="F4F7FB"/>
                    </a:solidFill>
                  </a:tcPr>
                </a:tc>
              </a:tr>
              <a:tr h="492760">
                <a:tc>
                  <a:txBody>
                    <a:bodyPr/>
                    <a:lstStyle/>
                    <a:p>
                      <a:r>
                        <a:rPr sz="1300">
                          <a:solidFill>
                            <a:srgbClr val="0B1F3A"/>
                          </a:solidFill>
                          <a:latin typeface="Segoe UI Semibold"/>
                        </a:rPr>
                        <a:t>Loss</a:t>
                      </a:r>
                    </a:p>
                  </a:txBody>
                  <a:tcPr marL="137160" anchor="ctr">
                    <a:solidFill>
                      <a:srgbClr val="FFFFFF"/>
                    </a:solidFill>
                  </a:tcPr>
                </a:tc>
                <a:tc>
                  <a:txBody>
                    <a:bodyPr/>
                    <a:lstStyle/>
                    <a:p>
                      <a:r>
                        <a:rPr sz="1300">
                          <a:solidFill>
                            <a:srgbClr val="1E293B"/>
                          </a:solidFill>
                          <a:latin typeface="Segoe UI"/>
                        </a:rPr>
                        <a:t>solo en las respuestas del asistente</a:t>
                      </a:r>
                    </a:p>
                  </a:txBody>
                  <a:tcPr marL="137160" anchor="ctr">
                    <a:solidFill>
                      <a:srgbClr val="FFFFFF"/>
                    </a:solidFill>
                  </a:tcPr>
                </a:tc>
              </a:tr>
              <a:tr h="492760">
                <a:tc>
                  <a:txBody>
                    <a:bodyPr/>
                    <a:lstStyle/>
                    <a:p>
                      <a:r>
                        <a:rPr sz="1300">
                          <a:solidFill>
                            <a:srgbClr val="0B1F3A"/>
                          </a:solidFill>
                          <a:latin typeface="Segoe UI Semibold"/>
                        </a:rPr>
                        <a:t>Datos</a:t>
                      </a:r>
                    </a:p>
                  </a:txBody>
                  <a:tcPr marL="137160" anchor="ctr">
                    <a:solidFill>
                      <a:srgbClr val="F4F7FB"/>
                    </a:solidFill>
                  </a:tcPr>
                </a:tc>
                <a:tc>
                  <a:txBody>
                    <a:bodyPr/>
                    <a:lstStyle/>
                    <a:p>
                      <a:r>
                        <a:rPr sz="1300">
                          <a:solidFill>
                            <a:srgbClr val="1E293B"/>
                          </a:solidFill>
                          <a:latin typeface="Segoe UI"/>
                        </a:rPr>
                        <a:t>split 80 / 10 / 10 · semilla 3407</a:t>
                      </a:r>
                    </a:p>
                  </a:txBody>
                  <a:tcPr marL="137160" anchor="ctr">
                    <a:solidFill>
                      <a:srgbClr val="F4F7FB"/>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EXPERIMENTOS</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Diseño experimental: dos rondas, una sola carga del modelo</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17</a:t>
            </a:r>
          </a:p>
        </p:txBody>
      </p:sp>
      <p:sp>
        <p:nvSpPr>
          <p:cNvPr id="6" name="Rounded Rectangle 5"/>
          <p:cNvSpPr/>
          <p:nvPr/>
        </p:nvSpPr>
        <p:spPr>
          <a:xfrm>
            <a:off x="548640" y="1691640"/>
            <a:ext cx="5669280" cy="4434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1874519"/>
            <a:ext cx="5120640" cy="365760"/>
          </a:xfrm>
          <a:prstGeom prst="rect">
            <a:avLst/>
          </a:prstGeom>
          <a:noFill/>
        </p:spPr>
        <p:txBody>
          <a:bodyPr wrap="square" lIns="0" rIns="0" tIns="0" bIns="0" anchor="t">
            <a:spAutoFit/>
          </a:bodyPr>
          <a:lstStyle/>
          <a:p>
            <a:pPr algn="l"/>
            <a:r>
              <a:rPr sz="1200" b="1" i="0">
                <a:solidFill>
                  <a:srgbClr val="0E9F8E"/>
                </a:solidFill>
                <a:latin typeface="Segoe UI Semibold"/>
              </a:rPr>
              <a:t>RONDA A · HIPERPARÁMETROS</a:t>
            </a:r>
          </a:p>
        </p:txBody>
      </p:sp>
      <p:graphicFrame>
        <p:nvGraphicFramePr>
          <p:cNvPr id="8" name="Table 7"/>
          <p:cNvGraphicFramePr>
            <a:graphicFrameLocks noGrp="1"/>
          </p:cNvGraphicFramePr>
          <p:nvPr/>
        </p:nvGraphicFramePr>
        <p:xfrm>
          <a:off x="822960" y="2331720"/>
          <a:ext cx="5120640" cy="2743200"/>
        </p:xfrm>
        <a:graphic>
          <a:graphicData uri="http://schemas.openxmlformats.org/drawingml/2006/table">
            <a:tbl>
              <a:tblPr firstRow="1" bandRow="1">
                <a:tableStyleId>{5C22544A-7EE6-4342-B048-85BDC9FD1C3A}</a:tableStyleId>
              </a:tblPr>
              <a:tblGrid>
                <a:gridCol w="1828800"/>
                <a:gridCol w="1645920"/>
                <a:gridCol w="1645920"/>
              </a:tblGrid>
              <a:tr h="457200">
                <a:tc>
                  <a:txBody>
                    <a:bodyPr/>
                    <a:lstStyle/>
                    <a:p>
                      <a:pPr algn="l"/>
                      <a:r>
                        <a:rPr sz="1300">
                          <a:solidFill>
                            <a:srgbClr val="FFFFFF"/>
                          </a:solidFill>
                          <a:latin typeface="Segoe UI Semibold"/>
                        </a:rPr>
                        <a:t/>
                      </a:r>
                    </a:p>
                  </a:txBody>
                  <a:tcPr anchor="ctr">
                    <a:solidFill>
                      <a:srgbClr val="0B1F3A"/>
                    </a:solidFill>
                  </a:tcPr>
                </a:tc>
                <a:tc>
                  <a:txBody>
                    <a:bodyPr/>
                    <a:lstStyle/>
                    <a:p>
                      <a:pPr algn="ctr"/>
                      <a:r>
                        <a:rPr sz="1300">
                          <a:solidFill>
                            <a:srgbClr val="FFFFFF"/>
                          </a:solidFill>
                          <a:latin typeface="Segoe UI Semibold"/>
                        </a:rPr>
                        <a:t>3 épocas</a:t>
                      </a:r>
                    </a:p>
                  </a:txBody>
                  <a:tcPr anchor="ctr">
                    <a:solidFill>
                      <a:srgbClr val="0B1F3A"/>
                    </a:solidFill>
                  </a:tcPr>
                </a:tc>
                <a:tc>
                  <a:txBody>
                    <a:bodyPr/>
                    <a:lstStyle/>
                    <a:p>
                      <a:pPr algn="ctr"/>
                      <a:r>
                        <a:rPr sz="1300">
                          <a:solidFill>
                            <a:srgbClr val="FFFFFF"/>
                          </a:solidFill>
                          <a:latin typeface="Segoe UI Semibold"/>
                        </a:rPr>
                        <a:t>6 épocas</a:t>
                      </a:r>
                    </a:p>
                  </a:txBody>
                  <a:tcPr anchor="ctr">
                    <a:solidFill>
                      <a:srgbClr val="0B1F3A"/>
                    </a:solidFill>
                  </a:tcPr>
                </a:tc>
              </a:tr>
              <a:tr h="457200">
                <a:tc>
                  <a:txBody>
                    <a:bodyPr/>
                    <a:lstStyle/>
                    <a:p>
                      <a:pPr algn="l"/>
                      <a:r>
                        <a:rPr sz="1300">
                          <a:solidFill>
                            <a:srgbClr val="0B1F3A"/>
                          </a:solidFill>
                          <a:latin typeface="Segoe UI Semibold"/>
                        </a:rPr>
                        <a:t>Batch efectivo</a:t>
                      </a:r>
                    </a:p>
                  </a:txBody>
                  <a:tcPr anchor="ctr">
                    <a:solidFill>
                      <a:srgbClr val="FFFFFF"/>
                    </a:solidFill>
                  </a:tcPr>
                </a:tc>
                <a:tc>
                  <a:txBody>
                    <a:bodyPr/>
                    <a:lstStyle/>
                    <a:p>
                      <a:pPr algn="ctr"/>
                      <a:r>
                        <a:rPr sz="1300">
                          <a:solidFill>
                            <a:srgbClr val="1E293B"/>
                          </a:solidFill>
                          <a:latin typeface="Segoe UI"/>
                        </a:rPr>
                        <a:t>8</a:t>
                      </a:r>
                    </a:p>
                  </a:txBody>
                  <a:tcPr anchor="ctr">
                    <a:solidFill>
                      <a:srgbClr val="FFFFFF"/>
                    </a:solidFill>
                  </a:tcPr>
                </a:tc>
                <a:tc>
                  <a:txBody>
                    <a:bodyPr/>
                    <a:lstStyle/>
                    <a:p>
                      <a:pPr algn="ctr"/>
                      <a:r>
                        <a:rPr sz="1300">
                          <a:solidFill>
                            <a:srgbClr val="1E293B"/>
                          </a:solidFill>
                          <a:latin typeface="Segoe UI"/>
                        </a:rPr>
                        <a:t>16</a:t>
                      </a:r>
                    </a:p>
                  </a:txBody>
                  <a:tcPr anchor="ctr">
                    <a:solidFill>
                      <a:srgbClr val="FFFFFF"/>
                    </a:solidFill>
                  </a:tcPr>
                </a:tc>
              </a:tr>
              <a:tr h="457200">
                <a:tc>
                  <a:txBody>
                    <a:bodyPr/>
                    <a:lstStyle/>
                    <a:p>
                      <a:pPr algn="l"/>
                      <a:r>
                        <a:rPr sz="1300">
                          <a:solidFill>
                            <a:srgbClr val="0B1F3A"/>
                          </a:solidFill>
                          <a:latin typeface="Segoe UI Semibold"/>
                        </a:rPr>
                        <a:t>lora_alpha</a:t>
                      </a:r>
                    </a:p>
                  </a:txBody>
                  <a:tcPr anchor="ctr">
                    <a:solidFill>
                      <a:srgbClr val="FFFFFF"/>
                    </a:solidFill>
                  </a:tcPr>
                </a:tc>
                <a:tc>
                  <a:txBody>
                    <a:bodyPr/>
                    <a:lstStyle/>
                    <a:p>
                      <a:pPr algn="ctr"/>
                      <a:r>
                        <a:rPr sz="1300">
                          <a:solidFill>
                            <a:srgbClr val="1E293B"/>
                          </a:solidFill>
                          <a:latin typeface="Segoe UI"/>
                        </a:rPr>
                        <a:t>16</a:t>
                      </a:r>
                    </a:p>
                  </a:txBody>
                  <a:tcPr anchor="ctr">
                    <a:solidFill>
                      <a:srgbClr val="FFFFFF"/>
                    </a:solidFill>
                  </a:tcPr>
                </a:tc>
                <a:tc>
                  <a:txBody>
                    <a:bodyPr/>
                    <a:lstStyle/>
                    <a:p>
                      <a:pPr algn="ctr"/>
                      <a:r>
                        <a:rPr sz="1300">
                          <a:solidFill>
                            <a:srgbClr val="1E293B"/>
                          </a:solidFill>
                          <a:latin typeface="Segoe UI"/>
                        </a:rPr>
                        <a:t>32</a:t>
                      </a:r>
                    </a:p>
                  </a:txBody>
                  <a:tcPr anchor="ctr">
                    <a:solidFill>
                      <a:srgbClr val="FFFFFF"/>
                    </a:solidFill>
                  </a:tcPr>
                </a:tc>
              </a:tr>
              <a:tr h="457200">
                <a:tc>
                  <a:txBody>
                    <a:bodyPr/>
                    <a:lstStyle/>
                    <a:p>
                      <a:pPr algn="l"/>
                      <a:r>
                        <a:rPr sz="1300">
                          <a:solidFill>
                            <a:srgbClr val="0B1F3A"/>
                          </a:solidFill>
                          <a:latin typeface="Segoe UI Semibold"/>
                        </a:rPr>
                        <a:t>Warmup</a:t>
                      </a:r>
                    </a:p>
                  </a:txBody>
                  <a:tcPr anchor="ctr">
                    <a:solidFill>
                      <a:srgbClr val="FFFFFF"/>
                    </a:solidFill>
                  </a:tcPr>
                </a:tc>
                <a:tc>
                  <a:txBody>
                    <a:bodyPr/>
                    <a:lstStyle/>
                    <a:p>
                      <a:pPr algn="ctr"/>
                      <a:r>
                        <a:rPr sz="1300">
                          <a:solidFill>
                            <a:srgbClr val="1E293B"/>
                          </a:solidFill>
                          <a:latin typeface="Segoe UI"/>
                        </a:rPr>
                        <a:t>10 pasos</a:t>
                      </a:r>
                    </a:p>
                  </a:txBody>
                  <a:tcPr anchor="ctr">
                    <a:solidFill>
                      <a:srgbClr val="FFFFFF"/>
                    </a:solidFill>
                  </a:tcPr>
                </a:tc>
                <a:tc>
                  <a:txBody>
                    <a:bodyPr/>
                    <a:lstStyle/>
                    <a:p>
                      <a:pPr algn="ctr"/>
                      <a:r>
                        <a:rPr sz="1300">
                          <a:solidFill>
                            <a:srgbClr val="1E293B"/>
                          </a:solidFill>
                          <a:latin typeface="Segoe UI"/>
                        </a:rPr>
                        <a:t>20 pasos</a:t>
                      </a:r>
                    </a:p>
                  </a:txBody>
                  <a:tcPr anchor="ctr">
                    <a:solidFill>
                      <a:srgbClr val="FFFFFF"/>
                    </a:solidFill>
                  </a:tcPr>
                </a:tc>
              </a:tr>
              <a:tr h="457200">
                <a:tc>
                  <a:txBody>
                    <a:bodyPr/>
                    <a:lstStyle/>
                    <a:p>
                      <a:pPr algn="l"/>
                      <a:r>
                        <a:rPr sz="1300">
                          <a:solidFill>
                            <a:srgbClr val="0B1F3A"/>
                          </a:solidFill>
                          <a:latin typeface="Segoe UI Semibold"/>
                        </a:rPr>
                        <a:t>Weight decay</a:t>
                      </a:r>
                    </a:p>
                  </a:txBody>
                  <a:tcPr anchor="ctr">
                    <a:solidFill>
                      <a:srgbClr val="FFFFFF"/>
                    </a:solidFill>
                  </a:tcPr>
                </a:tc>
                <a:tc>
                  <a:txBody>
                    <a:bodyPr/>
                    <a:lstStyle/>
                    <a:p>
                      <a:pPr algn="ctr"/>
                      <a:r>
                        <a:rPr sz="1300">
                          <a:solidFill>
                            <a:srgbClr val="1E293B"/>
                          </a:solidFill>
                          <a:latin typeface="Segoe UI"/>
                        </a:rPr>
                        <a:t>0.01</a:t>
                      </a:r>
                    </a:p>
                  </a:txBody>
                  <a:tcPr anchor="ctr">
                    <a:solidFill>
                      <a:srgbClr val="FFFFFF"/>
                    </a:solidFill>
                  </a:tcPr>
                </a:tc>
                <a:tc>
                  <a:txBody>
                    <a:bodyPr/>
                    <a:lstStyle/>
                    <a:p>
                      <a:pPr algn="ctr"/>
                      <a:r>
                        <a:rPr sz="1300">
                          <a:solidFill>
                            <a:srgbClr val="1E293B"/>
                          </a:solidFill>
                          <a:latin typeface="Segoe UI"/>
                        </a:rPr>
                        <a:t>0.1</a:t>
                      </a:r>
                    </a:p>
                  </a:txBody>
                  <a:tcPr anchor="ctr">
                    <a:solidFill>
                      <a:srgbClr val="FFFFFF"/>
                    </a:solidFill>
                  </a:tcPr>
                </a:tc>
              </a:tr>
              <a:tr h="457200">
                <a:tc>
                  <a:txBody>
                    <a:bodyPr/>
                    <a:lstStyle/>
                    <a:p>
                      <a:pPr algn="l"/>
                      <a:r>
                        <a:rPr sz="1300">
                          <a:solidFill>
                            <a:srgbClr val="0B1F3A"/>
                          </a:solidFill>
                          <a:latin typeface="Segoe UI Semibold"/>
                        </a:rPr>
                        <a:t>Capas LoRA</a:t>
                      </a:r>
                    </a:p>
                  </a:txBody>
                  <a:tcPr anchor="ctr">
                    <a:solidFill>
                      <a:srgbClr val="FFFFFF"/>
                    </a:solidFill>
                  </a:tcPr>
                </a:tc>
                <a:tc>
                  <a:txBody>
                    <a:bodyPr/>
                    <a:lstStyle/>
                    <a:p>
                      <a:pPr algn="ctr"/>
                      <a:r>
                        <a:rPr sz="1300">
                          <a:solidFill>
                            <a:srgbClr val="1E293B"/>
                          </a:solidFill>
                          <a:latin typeface="Segoe UI"/>
                        </a:rPr>
                        <a:t>atención</a:t>
                      </a:r>
                    </a:p>
                  </a:txBody>
                  <a:tcPr anchor="ctr">
                    <a:solidFill>
                      <a:srgbClr val="FFFFFF"/>
                    </a:solidFill>
                  </a:tcPr>
                </a:tc>
                <a:tc>
                  <a:txBody>
                    <a:bodyPr/>
                    <a:lstStyle/>
                    <a:p>
                      <a:pPr algn="ctr"/>
                      <a:r>
                        <a:rPr sz="1300">
                          <a:solidFill>
                            <a:srgbClr val="1E293B"/>
                          </a:solidFill>
                          <a:latin typeface="Segoe UI"/>
                        </a:rPr>
                        <a:t>atención</a:t>
                      </a:r>
                    </a:p>
                  </a:txBody>
                  <a:tcPr anchor="ctr">
                    <a:solidFill>
                      <a:srgbClr val="FFFFFF"/>
                    </a:solidFill>
                  </a:tcPr>
                </a:tc>
              </a:tr>
            </a:tbl>
          </a:graphicData>
        </a:graphic>
      </p:graphicFrame>
      <p:sp>
        <p:nvSpPr>
          <p:cNvPr id="9" name="TextBox 8"/>
          <p:cNvSpPr txBox="1"/>
          <p:nvPr/>
        </p:nvSpPr>
        <p:spPr>
          <a:xfrm>
            <a:off x="822960" y="5257800"/>
            <a:ext cx="5120640" cy="731520"/>
          </a:xfrm>
          <a:prstGeom prst="rect">
            <a:avLst/>
          </a:prstGeom>
          <a:noFill/>
        </p:spPr>
        <p:txBody>
          <a:bodyPr wrap="square" lIns="0" rIns="0" tIns="0" bIns="0" anchor="t">
            <a:spAutoFit/>
          </a:bodyPr>
          <a:lstStyle/>
          <a:p>
            <a:pPr algn="l"/>
            <a:r>
              <a:rPr sz="1250" b="0" i="0">
                <a:solidFill>
                  <a:srgbClr val="475569"/>
                </a:solidFill>
                <a:latin typeface="Segoe UI"/>
              </a:rPr>
              <a:t>Mismo número de pasos de optimización: 6 épocas con batch 16 = 3 épocas con batch 8.</a:t>
            </a:r>
          </a:p>
        </p:txBody>
      </p:sp>
      <p:sp>
        <p:nvSpPr>
          <p:cNvPr id="10" name="Rounded Rectangle 9"/>
          <p:cNvSpPr/>
          <p:nvPr/>
        </p:nvSpPr>
        <p:spPr>
          <a:xfrm>
            <a:off x="6492240" y="1691640"/>
            <a:ext cx="5120640" cy="4434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766560" y="1874519"/>
            <a:ext cx="4572000" cy="365760"/>
          </a:xfrm>
          <a:prstGeom prst="rect">
            <a:avLst/>
          </a:prstGeom>
          <a:noFill/>
        </p:spPr>
        <p:txBody>
          <a:bodyPr wrap="square" lIns="0" rIns="0" tIns="0" bIns="0" anchor="t">
            <a:spAutoFit/>
          </a:bodyPr>
          <a:lstStyle/>
          <a:p>
            <a:pPr algn="l"/>
            <a:r>
              <a:rPr sz="1200" b="1" i="0">
                <a:solidFill>
                  <a:srgbClr val="0E9F8E"/>
                </a:solidFill>
                <a:latin typeface="Segoe UI Semibold"/>
              </a:rPr>
              <a:t>RONDA B · CAPAS CON LoRA</a:t>
            </a:r>
          </a:p>
        </p:txBody>
      </p:sp>
      <p:sp>
        <p:nvSpPr>
          <p:cNvPr id="12" name="TextBox 11"/>
          <p:cNvSpPr txBox="1"/>
          <p:nvPr/>
        </p:nvSpPr>
        <p:spPr>
          <a:xfrm>
            <a:off x="6766560" y="2377440"/>
            <a:ext cx="2011680" cy="731520"/>
          </a:xfrm>
          <a:prstGeom prst="rect">
            <a:avLst/>
          </a:prstGeom>
          <a:noFill/>
        </p:spPr>
        <p:txBody>
          <a:bodyPr wrap="square" lIns="0" rIns="0" tIns="0" bIns="0" anchor="ctr">
            <a:spAutoFit/>
          </a:bodyPr>
          <a:lstStyle/>
          <a:p>
            <a:pPr algn="l"/>
            <a:r>
              <a:rPr sz="3200" b="0" i="0">
                <a:solidFill>
                  <a:srgbClr val="0E9F8E"/>
                </a:solidFill>
                <a:latin typeface="Segoe UI Semibold"/>
              </a:rPr>
              <a:t>3.1 M</a:t>
            </a:r>
          </a:p>
        </p:txBody>
      </p:sp>
      <p:sp>
        <p:nvSpPr>
          <p:cNvPr id="13" name="TextBox 12"/>
          <p:cNvSpPr txBox="1"/>
          <p:nvPr/>
        </p:nvSpPr>
        <p:spPr>
          <a:xfrm>
            <a:off x="8778240" y="2395728"/>
            <a:ext cx="2651760" cy="365760"/>
          </a:xfrm>
          <a:prstGeom prst="rect">
            <a:avLst/>
          </a:prstGeom>
          <a:noFill/>
        </p:spPr>
        <p:txBody>
          <a:bodyPr wrap="square" lIns="0" rIns="0" tIns="0" bIns="0" anchor="t">
            <a:spAutoFit/>
          </a:bodyPr>
          <a:lstStyle/>
          <a:p>
            <a:pPr algn="l"/>
            <a:r>
              <a:rPr sz="1600" b="0" i="0">
                <a:solidFill>
                  <a:srgbClr val="0B1F3A"/>
                </a:solidFill>
                <a:latin typeface="Segoe UI Semibold"/>
              </a:rPr>
              <a:t>Solo atención</a:t>
            </a:r>
          </a:p>
        </p:txBody>
      </p:sp>
      <p:sp>
        <p:nvSpPr>
          <p:cNvPr id="14" name="TextBox 13"/>
          <p:cNvSpPr txBox="1"/>
          <p:nvPr/>
        </p:nvSpPr>
        <p:spPr>
          <a:xfrm>
            <a:off x="8778240" y="2761488"/>
            <a:ext cx="2651760" cy="731520"/>
          </a:xfrm>
          <a:prstGeom prst="rect">
            <a:avLst/>
          </a:prstGeom>
          <a:noFill/>
        </p:spPr>
        <p:txBody>
          <a:bodyPr wrap="square" lIns="0" rIns="0" tIns="0" bIns="0" anchor="t">
            <a:spAutoFit/>
          </a:bodyPr>
          <a:lstStyle/>
          <a:p>
            <a:pPr algn="l"/>
            <a:r>
              <a:rPr sz="1250" b="0" i="0">
                <a:solidFill>
                  <a:srgbClr val="475569"/>
                </a:solidFill>
                <a:latin typeface="Segoe UI"/>
              </a:rPr>
              <a:t>q, k, v, o en las 8 capas de atención completa</a:t>
            </a:r>
          </a:p>
        </p:txBody>
      </p:sp>
      <p:sp>
        <p:nvSpPr>
          <p:cNvPr id="15" name="TextBox 14"/>
          <p:cNvSpPr txBox="1"/>
          <p:nvPr/>
        </p:nvSpPr>
        <p:spPr>
          <a:xfrm>
            <a:off x="6766560" y="3840480"/>
            <a:ext cx="2011680" cy="731520"/>
          </a:xfrm>
          <a:prstGeom prst="rect">
            <a:avLst/>
          </a:prstGeom>
          <a:noFill/>
        </p:spPr>
        <p:txBody>
          <a:bodyPr wrap="square" lIns="0" rIns="0" tIns="0" bIns="0" anchor="ctr">
            <a:spAutoFit/>
          </a:bodyPr>
          <a:lstStyle/>
          <a:p>
            <a:pPr algn="l"/>
            <a:r>
              <a:rPr sz="3200" b="0" i="0">
                <a:solidFill>
                  <a:srgbClr val="F59E0B"/>
                </a:solidFill>
                <a:latin typeface="Segoe UI Semibold"/>
              </a:rPr>
              <a:t>30.5 M</a:t>
            </a:r>
          </a:p>
        </p:txBody>
      </p:sp>
      <p:sp>
        <p:nvSpPr>
          <p:cNvPr id="16" name="TextBox 15"/>
          <p:cNvSpPr txBox="1"/>
          <p:nvPr/>
        </p:nvSpPr>
        <p:spPr>
          <a:xfrm>
            <a:off x="8778240" y="3858768"/>
            <a:ext cx="2651760" cy="365760"/>
          </a:xfrm>
          <a:prstGeom prst="rect">
            <a:avLst/>
          </a:prstGeom>
          <a:noFill/>
        </p:spPr>
        <p:txBody>
          <a:bodyPr wrap="square" lIns="0" rIns="0" tIns="0" bIns="0" anchor="t">
            <a:spAutoFit/>
          </a:bodyPr>
          <a:lstStyle/>
          <a:p>
            <a:pPr algn="l"/>
            <a:r>
              <a:rPr sz="1600" b="0" i="0">
                <a:solidFill>
                  <a:srgbClr val="0B1F3A"/>
                </a:solidFill>
                <a:latin typeface="Segoe UI Semibold"/>
              </a:rPr>
              <a:t>Todas las capas</a:t>
            </a:r>
          </a:p>
        </p:txBody>
      </p:sp>
      <p:sp>
        <p:nvSpPr>
          <p:cNvPr id="17" name="TextBox 16"/>
          <p:cNvSpPr txBox="1"/>
          <p:nvPr/>
        </p:nvSpPr>
        <p:spPr>
          <a:xfrm>
            <a:off x="8778240" y="4224528"/>
            <a:ext cx="2651760" cy="731520"/>
          </a:xfrm>
          <a:prstGeom prst="rect">
            <a:avLst/>
          </a:prstGeom>
          <a:noFill/>
        </p:spPr>
        <p:txBody>
          <a:bodyPr wrap="square" lIns="0" rIns="0" tIns="0" bIns="0" anchor="t">
            <a:spAutoFit/>
          </a:bodyPr>
          <a:lstStyle/>
          <a:p>
            <a:pPr algn="l"/>
            <a:r>
              <a:rPr sz="1250" b="0" i="0">
                <a:solidFill>
                  <a:srgbClr val="475569"/>
                </a:solidFill>
                <a:latin typeface="Segoe UI"/>
              </a:rPr>
              <a:t>+ atención lineal en 24 capas + MLP en las 32</a:t>
            </a:r>
          </a:p>
        </p:txBody>
      </p:sp>
      <p:sp>
        <p:nvSpPr>
          <p:cNvPr id="18" name="TextBox 17"/>
          <p:cNvSpPr txBox="1"/>
          <p:nvPr/>
        </p:nvSpPr>
        <p:spPr>
          <a:xfrm>
            <a:off x="6766560" y="5257800"/>
            <a:ext cx="4572000" cy="731520"/>
          </a:xfrm>
          <a:prstGeom prst="rect">
            <a:avLst/>
          </a:prstGeom>
          <a:noFill/>
        </p:spPr>
        <p:txBody>
          <a:bodyPr wrap="square" lIns="0" rIns="0" tIns="0" bIns="0" anchor="t">
            <a:spAutoFit/>
          </a:bodyPr>
          <a:lstStyle/>
          <a:p>
            <a:pPr algn="l"/>
            <a:r>
              <a:rPr sz="1250" b="0" i="0">
                <a:solidFill>
                  <a:srgbClr val="475569"/>
                </a:solidFill>
                <a:latin typeface="Segoe UI"/>
              </a:rPr>
              <a:t>Parámetros entrenables. Pico de VRAM medido con todas las capas: 4.8 GB.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03 · INFRAESTRUCTURA</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Entorno local con GPU: lo que hay que saber de CUDA</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18</a:t>
            </a:r>
          </a:p>
        </p:txBody>
      </p:sp>
      <p:sp>
        <p:nvSpPr>
          <p:cNvPr id="6" name="Rounded Rectangle 5"/>
          <p:cNvSpPr/>
          <p:nvPr/>
        </p:nvSpPr>
        <p:spPr>
          <a:xfrm>
            <a:off x="548640" y="17373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7" name="Picture 6" descr="chip.png"/>
          <p:cNvPicPr>
            <a:picLocks noChangeAspect="1"/>
          </p:cNvPicPr>
          <p:nvPr/>
        </p:nvPicPr>
        <p:blipFill>
          <a:blip r:embed="rId3"/>
          <a:stretch>
            <a:fillRect/>
          </a:stretch>
        </p:blipFill>
        <p:spPr>
          <a:xfrm>
            <a:off x="658368" y="1847088"/>
            <a:ext cx="329184" cy="329184"/>
          </a:xfrm>
          <a:prstGeom prst="rect">
            <a:avLst/>
          </a:prstGeom>
        </p:spPr>
      </p:pic>
      <p:sp>
        <p:nvSpPr>
          <p:cNvPr id="8" name="TextBox 7"/>
          <p:cNvSpPr txBox="1"/>
          <p:nvPr/>
        </p:nvSpPr>
        <p:spPr>
          <a:xfrm>
            <a:off x="1325880" y="1691640"/>
            <a:ext cx="4846320" cy="365760"/>
          </a:xfrm>
          <a:prstGeom prst="rect">
            <a:avLst/>
          </a:prstGeom>
          <a:noFill/>
        </p:spPr>
        <p:txBody>
          <a:bodyPr wrap="square" lIns="0" rIns="0" tIns="0" bIns="0" anchor="t">
            <a:spAutoFit/>
          </a:bodyPr>
          <a:lstStyle/>
          <a:p>
            <a:pPr algn="l"/>
            <a:r>
              <a:rPr sz="1600" b="0" i="0">
                <a:solidFill>
                  <a:srgbClr val="0B1F3A"/>
                </a:solidFill>
                <a:latin typeface="Segoe UI Semibold"/>
              </a:rPr>
              <a:t>GPU</a:t>
            </a:r>
          </a:p>
        </p:txBody>
      </p:sp>
      <p:sp>
        <p:nvSpPr>
          <p:cNvPr id="9" name="TextBox 8"/>
          <p:cNvSpPr txBox="1"/>
          <p:nvPr/>
        </p:nvSpPr>
        <p:spPr>
          <a:xfrm>
            <a:off x="1325880" y="2057400"/>
            <a:ext cx="4846320" cy="685800"/>
          </a:xfrm>
          <a:prstGeom prst="rect">
            <a:avLst/>
          </a:prstGeom>
          <a:noFill/>
        </p:spPr>
        <p:txBody>
          <a:bodyPr wrap="square" lIns="0" rIns="0" tIns="0" bIns="0" anchor="t">
            <a:spAutoFit/>
          </a:bodyPr>
          <a:lstStyle/>
          <a:p>
            <a:pPr algn="l"/>
            <a:r>
              <a:rPr sz="1300" b="0" i="0">
                <a:solidFill>
                  <a:srgbClr val="475569"/>
                </a:solidFill>
                <a:latin typeface="Segoe UI"/>
              </a:rPr>
              <a:t>RTX 5050 Laptop · 8 GB · Blackwell (sm_120)</a:t>
            </a:r>
          </a:p>
        </p:txBody>
      </p:sp>
      <p:sp>
        <p:nvSpPr>
          <p:cNvPr id="10" name="Rounded Rectangle 9"/>
          <p:cNvSpPr/>
          <p:nvPr/>
        </p:nvSpPr>
        <p:spPr>
          <a:xfrm>
            <a:off x="548640" y="2852928"/>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Picture 10" descr="engranaje.png"/>
          <p:cNvPicPr>
            <a:picLocks noChangeAspect="1"/>
          </p:cNvPicPr>
          <p:nvPr/>
        </p:nvPicPr>
        <p:blipFill>
          <a:blip r:embed="rId4"/>
          <a:stretch>
            <a:fillRect/>
          </a:stretch>
        </p:blipFill>
        <p:spPr>
          <a:xfrm>
            <a:off x="658368" y="2962656"/>
            <a:ext cx="329184" cy="329184"/>
          </a:xfrm>
          <a:prstGeom prst="rect">
            <a:avLst/>
          </a:prstGeom>
        </p:spPr>
      </p:pic>
      <p:sp>
        <p:nvSpPr>
          <p:cNvPr id="12" name="TextBox 11"/>
          <p:cNvSpPr txBox="1"/>
          <p:nvPr/>
        </p:nvSpPr>
        <p:spPr>
          <a:xfrm>
            <a:off x="1325880" y="2807208"/>
            <a:ext cx="4846320" cy="365760"/>
          </a:xfrm>
          <a:prstGeom prst="rect">
            <a:avLst/>
          </a:prstGeom>
          <a:noFill/>
        </p:spPr>
        <p:txBody>
          <a:bodyPr wrap="square" lIns="0" rIns="0" tIns="0" bIns="0" anchor="t">
            <a:spAutoFit/>
          </a:bodyPr>
          <a:lstStyle/>
          <a:p>
            <a:pPr algn="l"/>
            <a:r>
              <a:rPr sz="1600" b="0" i="0">
                <a:solidFill>
                  <a:srgbClr val="0B1F3A"/>
                </a:solidFill>
                <a:latin typeface="Segoe UI Semibold"/>
              </a:rPr>
              <a:t>CUDA y PyTorch</a:t>
            </a:r>
          </a:p>
        </p:txBody>
      </p:sp>
      <p:sp>
        <p:nvSpPr>
          <p:cNvPr id="13" name="TextBox 12"/>
          <p:cNvSpPr txBox="1"/>
          <p:nvPr/>
        </p:nvSpPr>
        <p:spPr>
          <a:xfrm>
            <a:off x="1325880" y="3172968"/>
            <a:ext cx="4846320" cy="685800"/>
          </a:xfrm>
          <a:prstGeom prst="rect">
            <a:avLst/>
          </a:prstGeom>
          <a:noFill/>
        </p:spPr>
        <p:txBody>
          <a:bodyPr wrap="square" lIns="0" rIns="0" tIns="0" bIns="0" anchor="t">
            <a:spAutoFit/>
          </a:bodyPr>
          <a:lstStyle/>
          <a:p>
            <a:pPr algn="l"/>
            <a:r>
              <a:rPr sz="1300" b="0" i="0">
                <a:solidFill>
                  <a:srgbClr val="475569"/>
                </a:solidFill>
                <a:latin typeface="Segoe UI"/>
              </a:rPr>
              <a:t>CUDA 13 (cu130) · PyTorch 2.14.1 · Triton para Windows 3.8</a:t>
            </a:r>
          </a:p>
        </p:txBody>
      </p:sp>
      <p:sp>
        <p:nvSpPr>
          <p:cNvPr id="14" name="Rounded Rectangle 13"/>
          <p:cNvSpPr/>
          <p:nvPr/>
        </p:nvSpPr>
        <p:spPr>
          <a:xfrm>
            <a:off x="548640" y="3968496"/>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cubo.png"/>
          <p:cNvPicPr>
            <a:picLocks noChangeAspect="1"/>
          </p:cNvPicPr>
          <p:nvPr/>
        </p:nvPicPr>
        <p:blipFill>
          <a:blip r:embed="rId5"/>
          <a:stretch>
            <a:fillRect/>
          </a:stretch>
        </p:blipFill>
        <p:spPr>
          <a:xfrm>
            <a:off x="658368" y="4078224"/>
            <a:ext cx="329184" cy="329184"/>
          </a:xfrm>
          <a:prstGeom prst="rect">
            <a:avLst/>
          </a:prstGeom>
        </p:spPr>
      </p:pic>
      <p:sp>
        <p:nvSpPr>
          <p:cNvPr id="16" name="TextBox 15"/>
          <p:cNvSpPr txBox="1"/>
          <p:nvPr/>
        </p:nvSpPr>
        <p:spPr>
          <a:xfrm>
            <a:off x="1325880" y="3922776"/>
            <a:ext cx="4846320" cy="365760"/>
          </a:xfrm>
          <a:prstGeom prst="rect">
            <a:avLst/>
          </a:prstGeom>
          <a:noFill/>
        </p:spPr>
        <p:txBody>
          <a:bodyPr wrap="square" lIns="0" rIns="0" tIns="0" bIns="0" anchor="t">
            <a:spAutoFit/>
          </a:bodyPr>
          <a:lstStyle/>
          <a:p>
            <a:pPr algn="l"/>
            <a:r>
              <a:rPr sz="1600" b="0" i="0">
                <a:solidFill>
                  <a:srgbClr val="0B1F3A"/>
                </a:solidFill>
                <a:latin typeface="Segoe UI Semibold"/>
              </a:rPr>
              <a:t>Librerías de IA</a:t>
            </a:r>
          </a:p>
        </p:txBody>
      </p:sp>
      <p:sp>
        <p:nvSpPr>
          <p:cNvPr id="17" name="TextBox 16"/>
          <p:cNvSpPr txBox="1"/>
          <p:nvPr/>
        </p:nvSpPr>
        <p:spPr>
          <a:xfrm>
            <a:off x="1325880" y="4288536"/>
            <a:ext cx="4846320" cy="685800"/>
          </a:xfrm>
          <a:prstGeom prst="rect">
            <a:avLst/>
          </a:prstGeom>
          <a:noFill/>
        </p:spPr>
        <p:txBody>
          <a:bodyPr wrap="square" lIns="0" rIns="0" tIns="0" bIns="0" anchor="t">
            <a:spAutoFit/>
          </a:bodyPr>
          <a:lstStyle/>
          <a:p>
            <a:pPr algn="l"/>
            <a:r>
              <a:rPr sz="1300" b="0" i="0">
                <a:solidFill>
                  <a:srgbClr val="475569"/>
                </a:solidFill>
                <a:latin typeface="Segoe UI"/>
              </a:rPr>
              <a:t>Unsloth 2026.10.6 · Transformers 5.20.1 · TRL 1.16 · PEFT 0.21</a:t>
            </a:r>
          </a:p>
        </p:txBody>
      </p:sp>
      <p:sp>
        <p:nvSpPr>
          <p:cNvPr id="18" name="Rounded Rectangle 17"/>
          <p:cNvSpPr/>
          <p:nvPr/>
        </p:nvSpPr>
        <p:spPr>
          <a:xfrm>
            <a:off x="548640" y="5084064"/>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velocidad.png"/>
          <p:cNvPicPr>
            <a:picLocks noChangeAspect="1"/>
          </p:cNvPicPr>
          <p:nvPr/>
        </p:nvPicPr>
        <p:blipFill>
          <a:blip r:embed="rId6"/>
          <a:stretch>
            <a:fillRect/>
          </a:stretch>
        </p:blipFill>
        <p:spPr>
          <a:xfrm>
            <a:off x="658368" y="5193792"/>
            <a:ext cx="329184" cy="329184"/>
          </a:xfrm>
          <a:prstGeom prst="rect">
            <a:avLst/>
          </a:prstGeom>
        </p:spPr>
      </p:pic>
      <p:sp>
        <p:nvSpPr>
          <p:cNvPr id="20" name="TextBox 19"/>
          <p:cNvSpPr txBox="1"/>
          <p:nvPr/>
        </p:nvSpPr>
        <p:spPr>
          <a:xfrm>
            <a:off x="1325880" y="5038344"/>
            <a:ext cx="4846320" cy="365760"/>
          </a:xfrm>
          <a:prstGeom prst="rect">
            <a:avLst/>
          </a:prstGeom>
          <a:noFill/>
        </p:spPr>
        <p:txBody>
          <a:bodyPr wrap="square" lIns="0" rIns="0" tIns="0" bIns="0" anchor="t">
            <a:spAutoFit/>
          </a:bodyPr>
          <a:lstStyle/>
          <a:p>
            <a:pPr algn="l"/>
            <a:r>
              <a:rPr sz="1600" b="0" i="0">
                <a:solidFill>
                  <a:srgbClr val="0B1F3A"/>
                </a:solidFill>
                <a:latin typeface="Segoe UI Semibold"/>
              </a:rPr>
              <a:t>Cuantización</a:t>
            </a:r>
          </a:p>
        </p:txBody>
      </p:sp>
      <p:sp>
        <p:nvSpPr>
          <p:cNvPr id="21" name="TextBox 20"/>
          <p:cNvSpPr txBox="1"/>
          <p:nvPr/>
        </p:nvSpPr>
        <p:spPr>
          <a:xfrm>
            <a:off x="1325880" y="5404104"/>
            <a:ext cx="4846320" cy="685800"/>
          </a:xfrm>
          <a:prstGeom prst="rect">
            <a:avLst/>
          </a:prstGeom>
          <a:noFill/>
        </p:spPr>
        <p:txBody>
          <a:bodyPr wrap="square" lIns="0" rIns="0" tIns="0" bIns="0" anchor="t">
            <a:spAutoFit/>
          </a:bodyPr>
          <a:lstStyle/>
          <a:p>
            <a:pPr algn="l"/>
            <a:r>
              <a:rPr sz="1300" b="0" i="0">
                <a:solidFill>
                  <a:srgbClr val="475569"/>
                </a:solidFill>
                <a:latin typeface="Segoe UI"/>
              </a:rPr>
              <a:t>bitsandbytes 0.50 · 4 bits NF4 · cómputo en bf16</a:t>
            </a:r>
          </a:p>
        </p:txBody>
      </p:sp>
      <p:sp>
        <p:nvSpPr>
          <p:cNvPr id="22" name="Rounded Rectangle 21"/>
          <p:cNvSpPr/>
          <p:nvPr/>
        </p:nvSpPr>
        <p:spPr>
          <a:xfrm>
            <a:off x="6492240" y="1691640"/>
            <a:ext cx="5120640" cy="443484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812280" y="1920240"/>
            <a:ext cx="4572000" cy="365760"/>
          </a:xfrm>
          <a:prstGeom prst="rect">
            <a:avLst/>
          </a:prstGeom>
          <a:noFill/>
        </p:spPr>
        <p:txBody>
          <a:bodyPr wrap="square" lIns="0" rIns="0" tIns="0" bIns="0" anchor="t">
            <a:spAutoFit/>
          </a:bodyPr>
          <a:lstStyle/>
          <a:p>
            <a:pPr algn="l"/>
            <a:r>
              <a:rPr sz="1800" b="0" i="0">
                <a:solidFill>
                  <a:srgbClr val="FFFFFF"/>
                </a:solidFill>
                <a:latin typeface="Segoe UI Semibold"/>
              </a:rPr>
              <a:t>Lecciones para 8 GB de VRAM</a:t>
            </a:r>
          </a:p>
        </p:txBody>
      </p:sp>
      <p:sp>
        <p:nvSpPr>
          <p:cNvPr id="24" name="TextBox 23"/>
          <p:cNvSpPr txBox="1"/>
          <p:nvPr/>
        </p:nvSpPr>
        <p:spPr>
          <a:xfrm>
            <a:off x="6812280" y="2468880"/>
            <a:ext cx="4572000" cy="3566160"/>
          </a:xfrm>
          <a:prstGeom prst="rect">
            <a:avLst/>
          </a:prstGeom>
          <a:noFill/>
        </p:spPr>
        <p:txBody>
          <a:bodyPr wrap="square" lIns="0" rIns="0" tIns="0" bIns="0">
            <a:spAutoFit/>
          </a:bodyPr>
          <a:lstStyle/>
          <a:p>
            <a:pPr>
              <a:spcAft>
                <a:spcPts val="1000"/>
              </a:spcAft>
            </a:pPr>
            <a:r>
              <a:rPr sz="1400" b="1">
                <a:solidFill>
                  <a:srgbClr val="F59E0B"/>
                </a:solidFill>
                <a:latin typeface="Segoe UI"/>
              </a:rPr>
              <a:t>•  </a:t>
            </a:r>
            <a:r>
              <a:rPr sz="1400" b="1">
                <a:solidFill>
                  <a:srgbClr val="FFFFFF"/>
                </a:solidFill>
                <a:latin typeface="Segoe UI"/>
              </a:rPr>
              <a:t>Una sola carga </a:t>
            </a:r>
            <a:r>
              <a:rPr sz="1400">
                <a:solidFill>
                  <a:srgbClr val="FFFFFF"/>
                </a:solidFill>
                <a:latin typeface="Segoe UI"/>
              </a:rPr>
              <a:t>del modelo por sesión: cada carga extra deja memoria retenida.</a:t>
            </a:r>
          </a:p>
          <a:p>
            <a:pPr>
              <a:spcAft>
                <a:spcPts val="1000"/>
              </a:spcAft>
            </a:pPr>
            <a:r>
              <a:rPr sz="1400" b="1">
                <a:solidFill>
                  <a:srgbClr val="F59E0B"/>
                </a:solidFill>
                <a:latin typeface="Segoe UI"/>
              </a:rPr>
              <a:t>•  </a:t>
            </a:r>
            <a:r>
              <a:rPr sz="1400" b="1">
                <a:solidFill>
                  <a:srgbClr val="FFFFFF"/>
                </a:solidFill>
                <a:latin typeface="Segoe UI"/>
              </a:rPr>
              <a:t>Embeddings en CPU: </a:t>
            </a:r>
            <a:r>
              <a:rPr sz="1400">
                <a:solidFill>
                  <a:srgbClr val="FFFFFF"/>
                </a:solidFill>
                <a:latin typeface="Segoe UI"/>
              </a:rPr>
              <a:t>el LLM conserva toda la GPU.</a:t>
            </a:r>
          </a:p>
          <a:p>
            <a:pPr>
              <a:spcAft>
                <a:spcPts val="1000"/>
              </a:spcAft>
            </a:pPr>
            <a:r>
              <a:rPr sz="1400" b="1">
                <a:solidFill>
                  <a:srgbClr val="F59E0B"/>
                </a:solidFill>
                <a:latin typeface="Segoe UI"/>
              </a:rPr>
              <a:t>•  </a:t>
            </a:r>
            <a:r>
              <a:rPr sz="1400" b="1">
                <a:solidFill>
                  <a:srgbClr val="FFFFFF"/>
                </a:solidFill>
                <a:latin typeface="Segoe UI"/>
              </a:rPr>
              <a:t>Cross-entropy por partes: </a:t>
            </a:r>
            <a:r>
              <a:rPr sz="1400">
                <a:solidFill>
                  <a:srgbClr val="FFFFFF"/>
                </a:solidFill>
                <a:latin typeface="Segoe UI"/>
              </a:rPr>
              <a:t>evita picos con el vocabulario de 248 mil tokens.</a:t>
            </a:r>
          </a:p>
          <a:p>
            <a:pPr>
              <a:spcAft>
                <a:spcPts val="1000"/>
              </a:spcAft>
            </a:pPr>
            <a:r>
              <a:rPr sz="1400" b="1">
                <a:solidFill>
                  <a:srgbClr val="F59E0B"/>
                </a:solidFill>
                <a:latin typeface="Segoe UI"/>
              </a:rPr>
              <a:t>•  </a:t>
            </a:r>
            <a:r>
              <a:rPr sz="1400" b="1">
                <a:solidFill>
                  <a:srgbClr val="FFFFFF"/>
                </a:solidFill>
                <a:latin typeface="Segoe UI"/>
              </a:rPr>
              <a:t>Medir antes de entrenar: </a:t>
            </a:r>
            <a:r>
              <a:rPr sz="1400">
                <a:solidFill>
                  <a:srgbClr val="FFFFFF"/>
                </a:solidFill>
                <a:latin typeface="Segoe UI"/>
              </a:rPr>
              <a:t>pico de 4.8 GB con 2,459 tokens.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04 · ARQUITECTURA</a:t>
            </a:r>
          </a:p>
        </p:txBody>
      </p:sp>
      <p:sp>
        <p:nvSpPr>
          <p:cNvPr id="3" name="Titulo"/>
          <p:cNvSpPr txBox="1"/>
          <p:nvPr/>
        </p:nvSpPr>
        <p:spPr>
          <a:xfrm>
            <a:off x="548640" y="530352"/>
            <a:ext cx="11064240" cy="548640"/>
          </a:xfrm>
          <a:prstGeom prst="rect">
            <a:avLst/>
          </a:prstGeom>
          <a:noFill/>
        </p:spPr>
        <p:txBody>
          <a:bodyPr wrap="square" lIns="0" rIns="0" tIns="0" bIns="0" anchor="t">
            <a:spAutoFit/>
          </a:bodyPr>
          <a:lstStyle/>
          <a:p>
            <a:pPr algn="l"/>
            <a:r>
              <a:rPr sz="2600" b="0" i="0">
                <a:solidFill>
                  <a:srgbClr val="0B1F3A"/>
                </a:solidFill>
                <a:latin typeface="Segoe UI Semibold"/>
              </a:rPr>
              <a:t>Del mensaje del usuario a la respuesta con acceso a los datos</a:t>
            </a:r>
          </a:p>
        </p:txBody>
      </p:sp>
      <p:pic>
        <p:nvPicPr>
          <p:cNvPr id="4" name="Picture 3" descr="arquitectura.png"/>
          <p:cNvPicPr>
            <a:picLocks noChangeAspect="1"/>
          </p:cNvPicPr>
          <p:nvPr/>
        </p:nvPicPr>
        <p:blipFill>
          <a:blip r:embed="rId2"/>
          <a:stretch>
            <a:fillRect/>
          </a:stretch>
        </p:blipFill>
        <p:spPr>
          <a:xfrm>
            <a:off x="1056487" y="1051560"/>
            <a:ext cx="10078720" cy="566928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04 · ARQUITECTURA PASO A PASO</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Recorrido de una consulta en 9 pasos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20</a:t>
            </a:r>
          </a:p>
        </p:txBody>
      </p:sp>
      <p:sp>
        <p:nvSpPr>
          <p:cNvPr id="6" name="Oval 5"/>
          <p:cNvSpPr/>
          <p:nvPr/>
        </p:nvSpPr>
        <p:spPr>
          <a:xfrm>
            <a:off x="548640" y="1764792"/>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1</a:t>
            </a:r>
          </a:p>
        </p:txBody>
      </p:sp>
      <p:sp>
        <p:nvSpPr>
          <p:cNvPr id="7" name="TextBox 6"/>
          <p:cNvSpPr txBox="1"/>
          <p:nvPr/>
        </p:nvSpPr>
        <p:spPr>
          <a:xfrm>
            <a:off x="1280160" y="1691640"/>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Usuario</a:t>
            </a:r>
          </a:p>
        </p:txBody>
      </p:sp>
      <p:sp>
        <p:nvSpPr>
          <p:cNvPr id="8" name="TextBox 7"/>
          <p:cNvSpPr txBox="1"/>
          <p:nvPr/>
        </p:nvSpPr>
        <p:spPr>
          <a:xfrm>
            <a:off x="1280160" y="2057400"/>
            <a:ext cx="4754880" cy="411480"/>
          </a:xfrm>
          <a:prstGeom prst="rect">
            <a:avLst/>
          </a:prstGeom>
          <a:noFill/>
        </p:spPr>
        <p:txBody>
          <a:bodyPr wrap="square" lIns="0" rIns="0" tIns="0" bIns="0" anchor="t">
            <a:spAutoFit/>
          </a:bodyPr>
          <a:lstStyle/>
          <a:p>
            <a:pPr algn="l"/>
            <a:r>
              <a:rPr sz="1300" b="0" i="0">
                <a:solidFill>
                  <a:srgbClr val="475569"/>
                </a:solidFill>
                <a:latin typeface="Segoe UI"/>
              </a:rPr>
              <a:t>Escribe su abstract, hipótesis u objetivo</a:t>
            </a:r>
          </a:p>
        </p:txBody>
      </p:sp>
      <p:sp>
        <p:nvSpPr>
          <p:cNvPr id="9" name="Oval 8"/>
          <p:cNvSpPr/>
          <p:nvPr/>
        </p:nvSpPr>
        <p:spPr>
          <a:xfrm>
            <a:off x="548640" y="2660904"/>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2</a:t>
            </a:r>
          </a:p>
        </p:txBody>
      </p:sp>
      <p:sp>
        <p:nvSpPr>
          <p:cNvPr id="10" name="TextBox 9"/>
          <p:cNvSpPr txBox="1"/>
          <p:nvPr/>
        </p:nvSpPr>
        <p:spPr>
          <a:xfrm>
            <a:off x="1280160" y="2587752"/>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Web en Streamlit</a:t>
            </a:r>
          </a:p>
        </p:txBody>
      </p:sp>
      <p:sp>
        <p:nvSpPr>
          <p:cNvPr id="11" name="TextBox 10"/>
          <p:cNvSpPr txBox="1"/>
          <p:nvPr/>
        </p:nvSpPr>
        <p:spPr>
          <a:xfrm>
            <a:off x="1280160" y="2953512"/>
            <a:ext cx="4754880" cy="411480"/>
          </a:xfrm>
          <a:prstGeom prst="rect">
            <a:avLst/>
          </a:prstGeom>
          <a:noFill/>
        </p:spPr>
        <p:txBody>
          <a:bodyPr wrap="square" lIns="0" rIns="0" tIns="0" bIns="0" anchor="t">
            <a:spAutoFit/>
          </a:bodyPr>
          <a:lstStyle/>
          <a:p>
            <a:pPr algn="l"/>
            <a:r>
              <a:rPr sz="1300" b="0" i="0">
                <a:solidFill>
                  <a:srgbClr val="475569"/>
                </a:solidFill>
                <a:latin typeface="Segoe UI"/>
              </a:rPr>
              <a:t>Recibe el mensaje; link público con Tailscale Funnel</a:t>
            </a:r>
          </a:p>
        </p:txBody>
      </p:sp>
      <p:sp>
        <p:nvSpPr>
          <p:cNvPr id="12" name="Oval 11"/>
          <p:cNvSpPr/>
          <p:nvPr/>
        </p:nvSpPr>
        <p:spPr>
          <a:xfrm>
            <a:off x="548640" y="3557016"/>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3</a:t>
            </a:r>
          </a:p>
        </p:txBody>
      </p:sp>
      <p:sp>
        <p:nvSpPr>
          <p:cNvPr id="13" name="TextBox 12"/>
          <p:cNvSpPr txBox="1"/>
          <p:nvPr/>
        </p:nvSpPr>
        <p:spPr>
          <a:xfrm>
            <a:off x="1280160" y="3483864"/>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ChatbotService</a:t>
            </a:r>
          </a:p>
        </p:txBody>
      </p:sp>
      <p:sp>
        <p:nvSpPr>
          <p:cNvPr id="14" name="TextBox 13"/>
          <p:cNvSpPr txBox="1"/>
          <p:nvPr/>
        </p:nvSpPr>
        <p:spPr>
          <a:xfrm>
            <a:off x="1280160" y="3849624"/>
            <a:ext cx="4754880" cy="411480"/>
          </a:xfrm>
          <a:prstGeom prst="rect">
            <a:avLst/>
          </a:prstGeom>
          <a:noFill/>
        </p:spPr>
        <p:txBody>
          <a:bodyPr wrap="square" lIns="0" rIns="0" tIns="0" bIns="0" anchor="t">
            <a:spAutoFit/>
          </a:bodyPr>
          <a:lstStyle/>
          <a:p>
            <a:pPr algn="l"/>
            <a:r>
              <a:rPr sz="1300" b="0" i="0">
                <a:solidFill>
                  <a:srgbClr val="475569"/>
                </a:solidFill>
                <a:latin typeface="Segoe UI"/>
              </a:rPr>
              <a:t>Memoria de la sesión y registro JSONL</a:t>
            </a:r>
          </a:p>
        </p:txBody>
      </p:sp>
      <p:sp>
        <p:nvSpPr>
          <p:cNvPr id="15" name="Oval 14"/>
          <p:cNvSpPr/>
          <p:nvPr/>
        </p:nvSpPr>
        <p:spPr>
          <a:xfrm>
            <a:off x="548640" y="4453128"/>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4</a:t>
            </a:r>
          </a:p>
        </p:txBody>
      </p:sp>
      <p:sp>
        <p:nvSpPr>
          <p:cNvPr id="16" name="TextBox 15"/>
          <p:cNvSpPr txBox="1"/>
          <p:nvPr/>
        </p:nvSpPr>
        <p:spPr>
          <a:xfrm>
            <a:off x="1280160" y="4379976"/>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Embedding</a:t>
            </a:r>
          </a:p>
        </p:txBody>
      </p:sp>
      <p:sp>
        <p:nvSpPr>
          <p:cNvPr id="17" name="TextBox 16"/>
          <p:cNvSpPr txBox="1"/>
          <p:nvPr/>
        </p:nvSpPr>
        <p:spPr>
          <a:xfrm>
            <a:off x="1280160" y="4745736"/>
            <a:ext cx="4754880" cy="411480"/>
          </a:xfrm>
          <a:prstGeom prst="rect">
            <a:avLst/>
          </a:prstGeom>
          <a:noFill/>
        </p:spPr>
        <p:txBody>
          <a:bodyPr wrap="square" lIns="0" rIns="0" tIns="0" bIns="0" anchor="t">
            <a:spAutoFit/>
          </a:bodyPr>
          <a:lstStyle/>
          <a:p>
            <a:pPr algn="l"/>
            <a:r>
              <a:rPr sz="1300" b="0" i="0">
                <a:solidFill>
                  <a:srgbClr val="475569"/>
                </a:solidFill>
                <a:latin typeface="Segoe UI"/>
              </a:rPr>
              <a:t>qwen3-embedding:4b en CPU, con instrucción</a:t>
            </a:r>
          </a:p>
        </p:txBody>
      </p:sp>
      <p:sp>
        <p:nvSpPr>
          <p:cNvPr id="18" name="Oval 17"/>
          <p:cNvSpPr/>
          <p:nvPr/>
        </p:nvSpPr>
        <p:spPr>
          <a:xfrm>
            <a:off x="548640" y="5349240"/>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5</a:t>
            </a:r>
          </a:p>
        </p:txBody>
      </p:sp>
      <p:sp>
        <p:nvSpPr>
          <p:cNvPr id="19" name="TextBox 18"/>
          <p:cNvSpPr txBox="1"/>
          <p:nvPr/>
        </p:nvSpPr>
        <p:spPr>
          <a:xfrm>
            <a:off x="1280160" y="5276088"/>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Búsqueda FAISS</a:t>
            </a:r>
          </a:p>
        </p:txBody>
      </p:sp>
      <p:sp>
        <p:nvSpPr>
          <p:cNvPr id="20" name="TextBox 19"/>
          <p:cNvSpPr txBox="1"/>
          <p:nvPr/>
        </p:nvSpPr>
        <p:spPr>
          <a:xfrm>
            <a:off x="1280160" y="5641848"/>
            <a:ext cx="4754880" cy="411480"/>
          </a:xfrm>
          <a:prstGeom prst="rect">
            <a:avLst/>
          </a:prstGeom>
          <a:noFill/>
        </p:spPr>
        <p:txBody>
          <a:bodyPr wrap="square" lIns="0" rIns="0" tIns="0" bIns="0" anchor="t">
            <a:spAutoFit/>
          </a:bodyPr>
          <a:lstStyle/>
          <a:p>
            <a:pPr algn="l"/>
            <a:r>
              <a:rPr sz="1300" b="0" i="0">
                <a:solidFill>
                  <a:srgbClr val="475569"/>
                </a:solidFill>
                <a:latin typeface="Segoe UI"/>
              </a:rPr>
              <a:t>Similitud coseno, umbral 0.53 y margen 0.10</a:t>
            </a:r>
          </a:p>
        </p:txBody>
      </p:sp>
      <p:sp>
        <p:nvSpPr>
          <p:cNvPr id="21" name="Oval 20"/>
          <p:cNvSpPr/>
          <p:nvPr/>
        </p:nvSpPr>
        <p:spPr>
          <a:xfrm>
            <a:off x="6263640" y="1764792"/>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6</a:t>
            </a:r>
          </a:p>
        </p:txBody>
      </p:sp>
      <p:sp>
        <p:nvSpPr>
          <p:cNvPr id="22" name="TextBox 21"/>
          <p:cNvSpPr txBox="1"/>
          <p:nvPr/>
        </p:nvSpPr>
        <p:spPr>
          <a:xfrm>
            <a:off x="6995159" y="1691640"/>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Augmentation</a:t>
            </a:r>
          </a:p>
        </p:txBody>
      </p:sp>
      <p:sp>
        <p:nvSpPr>
          <p:cNvPr id="23" name="TextBox 22"/>
          <p:cNvSpPr txBox="1"/>
          <p:nvPr/>
        </p:nvSpPr>
        <p:spPr>
          <a:xfrm>
            <a:off x="6995159" y="2057400"/>
            <a:ext cx="4754880" cy="411480"/>
          </a:xfrm>
          <a:prstGeom prst="rect">
            <a:avLst/>
          </a:prstGeom>
          <a:noFill/>
        </p:spPr>
        <p:txBody>
          <a:bodyPr wrap="square" lIns="0" rIns="0" tIns="0" bIns="0" anchor="t">
            <a:spAutoFit/>
          </a:bodyPr>
          <a:lstStyle/>
          <a:p>
            <a:pPr algn="l"/>
            <a:r>
              <a:rPr sz="1300" b="0" i="0">
                <a:solidFill>
                  <a:srgbClr val="475569"/>
                </a:solidFill>
                <a:latin typeface="Segoe UI"/>
              </a:rPr>
              <a:t>Ficha rápida + chunk más parecido, máx. 3 bases</a:t>
            </a:r>
          </a:p>
        </p:txBody>
      </p:sp>
      <p:sp>
        <p:nvSpPr>
          <p:cNvPr id="24" name="Oval 23"/>
          <p:cNvSpPr/>
          <p:nvPr/>
        </p:nvSpPr>
        <p:spPr>
          <a:xfrm>
            <a:off x="6263640" y="2660904"/>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7</a:t>
            </a:r>
          </a:p>
        </p:txBody>
      </p:sp>
      <p:sp>
        <p:nvSpPr>
          <p:cNvPr id="25" name="TextBox 24"/>
          <p:cNvSpPr txBox="1"/>
          <p:nvPr/>
        </p:nvSpPr>
        <p:spPr>
          <a:xfrm>
            <a:off x="6995159" y="2587752"/>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System prompt</a:t>
            </a:r>
          </a:p>
        </p:txBody>
      </p:sp>
      <p:sp>
        <p:nvSpPr>
          <p:cNvPr id="26" name="TextBox 25"/>
          <p:cNvSpPr txBox="1"/>
          <p:nvPr/>
        </p:nvSpPr>
        <p:spPr>
          <a:xfrm>
            <a:off x="6995159" y="2953512"/>
            <a:ext cx="4754880" cy="411480"/>
          </a:xfrm>
          <a:prstGeom prst="rect">
            <a:avLst/>
          </a:prstGeom>
          <a:noFill/>
        </p:spPr>
        <p:txBody>
          <a:bodyPr wrap="square" lIns="0" rIns="0" tIns="0" bIns="0" anchor="t">
            <a:spAutoFit/>
          </a:bodyPr>
          <a:lstStyle/>
          <a:p>
            <a:pPr algn="l"/>
            <a:r>
              <a:rPr sz="1300" b="0" i="0">
                <a:solidFill>
                  <a:srgbClr val="475569"/>
                </a:solidFill>
                <a:latin typeface="Segoe UI"/>
              </a:rPr>
              <a:t>Rol, catálogo, reglas, fichas e historial</a:t>
            </a:r>
          </a:p>
        </p:txBody>
      </p:sp>
      <p:sp>
        <p:nvSpPr>
          <p:cNvPr id="27" name="Oval 26"/>
          <p:cNvSpPr/>
          <p:nvPr/>
        </p:nvSpPr>
        <p:spPr>
          <a:xfrm>
            <a:off x="6263640" y="3557016"/>
            <a:ext cx="502920" cy="5029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8</a:t>
            </a:r>
          </a:p>
        </p:txBody>
      </p:sp>
      <p:sp>
        <p:nvSpPr>
          <p:cNvPr id="28" name="TextBox 27"/>
          <p:cNvSpPr txBox="1"/>
          <p:nvPr/>
        </p:nvSpPr>
        <p:spPr>
          <a:xfrm>
            <a:off x="6995159" y="3483864"/>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Qwen3.5-4B fine-tuned</a:t>
            </a:r>
          </a:p>
        </p:txBody>
      </p:sp>
      <p:sp>
        <p:nvSpPr>
          <p:cNvPr id="29" name="TextBox 28"/>
          <p:cNvSpPr txBox="1"/>
          <p:nvPr/>
        </p:nvSpPr>
        <p:spPr>
          <a:xfrm>
            <a:off x="6995159" y="3849624"/>
            <a:ext cx="4754880" cy="411480"/>
          </a:xfrm>
          <a:prstGeom prst="rect">
            <a:avLst/>
          </a:prstGeom>
          <a:noFill/>
        </p:spPr>
        <p:txBody>
          <a:bodyPr wrap="square" lIns="0" rIns="0" tIns="0" bIns="0" anchor="t">
            <a:spAutoFit/>
          </a:bodyPr>
          <a:lstStyle/>
          <a:p>
            <a:pPr algn="l"/>
            <a:r>
              <a:rPr sz="1300" b="0" i="0">
                <a:solidFill>
                  <a:srgbClr val="475569"/>
                </a:solidFill>
                <a:latin typeface="Segoe UI"/>
              </a:rPr>
              <a:t>Genera la respuesta en modo no thinking</a:t>
            </a:r>
          </a:p>
        </p:txBody>
      </p:sp>
      <p:sp>
        <p:nvSpPr>
          <p:cNvPr id="30" name="Oval 29"/>
          <p:cNvSpPr/>
          <p:nvPr/>
        </p:nvSpPr>
        <p:spPr>
          <a:xfrm>
            <a:off x="6263640" y="4453128"/>
            <a:ext cx="502920" cy="502920"/>
          </a:xfrm>
          <a:prstGeom prst="ellipse">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Semibold"/>
              </a:rPr>
              <a:t>9</a:t>
            </a:r>
          </a:p>
        </p:txBody>
      </p:sp>
      <p:sp>
        <p:nvSpPr>
          <p:cNvPr id="31" name="TextBox 30"/>
          <p:cNvSpPr txBox="1"/>
          <p:nvPr/>
        </p:nvSpPr>
        <p:spPr>
          <a:xfrm>
            <a:off x="6995159" y="4379976"/>
            <a:ext cx="4754880" cy="365760"/>
          </a:xfrm>
          <a:prstGeom prst="rect">
            <a:avLst/>
          </a:prstGeom>
          <a:noFill/>
        </p:spPr>
        <p:txBody>
          <a:bodyPr wrap="square" lIns="0" rIns="0" tIns="0" bIns="0" anchor="t">
            <a:spAutoFit/>
          </a:bodyPr>
          <a:lstStyle/>
          <a:p>
            <a:pPr algn="l"/>
            <a:r>
              <a:rPr sz="1600" b="0" i="0">
                <a:solidFill>
                  <a:srgbClr val="0B1F3A"/>
                </a:solidFill>
                <a:latin typeface="Segoe UI Semibold"/>
              </a:rPr>
              <a:t>Respuesta + acceso</a:t>
            </a:r>
          </a:p>
        </p:txBody>
      </p:sp>
      <p:sp>
        <p:nvSpPr>
          <p:cNvPr id="32" name="TextBox 31"/>
          <p:cNvSpPr txBox="1"/>
          <p:nvPr/>
        </p:nvSpPr>
        <p:spPr>
          <a:xfrm>
            <a:off x="6995159" y="4745736"/>
            <a:ext cx="4754880" cy="411480"/>
          </a:xfrm>
          <a:prstGeom prst="rect">
            <a:avLst/>
          </a:prstGeom>
          <a:noFill/>
        </p:spPr>
        <p:txBody>
          <a:bodyPr wrap="square" lIns="0" rIns="0" tIns="0" bIns="0" anchor="t">
            <a:spAutoFit/>
          </a:bodyPr>
          <a:lstStyle/>
          <a:p>
            <a:pPr algn="l"/>
            <a:r>
              <a:rPr sz="1300" b="0" i="0">
                <a:solidFill>
                  <a:srgbClr val="475569"/>
                </a:solidFill>
                <a:latin typeface="Segoe UI"/>
              </a:rPr>
              <a:t>Texto del LLM y links de Dropbox de la metadata</a:t>
            </a:r>
          </a:p>
        </p:txBody>
      </p:sp>
      <p:sp>
        <p:nvSpPr>
          <p:cNvPr id="33" name="Rounded Rectangle 32"/>
          <p:cNvSpPr/>
          <p:nvPr/>
        </p:nvSpPr>
        <p:spPr>
          <a:xfrm>
            <a:off x="6263640" y="5303520"/>
            <a:ext cx="5349240" cy="822960"/>
          </a:xfrm>
          <a:prstGeom prst="roundRect">
            <a:avLst>
              <a:gd name="adj" fmla="val 6000"/>
            </a:avLst>
          </a:prstGeom>
          <a:solidFill>
            <a:srgbClr val="E6F6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537960" y="5303520"/>
            <a:ext cx="4937760" cy="822960"/>
          </a:xfrm>
          <a:prstGeom prst="rect">
            <a:avLst/>
          </a:prstGeom>
          <a:noFill/>
        </p:spPr>
        <p:txBody>
          <a:bodyPr wrap="square" lIns="0" rIns="0" tIns="0" bIns="0" anchor="ctr">
            <a:spAutoFit/>
          </a:bodyPr>
          <a:lstStyle/>
          <a:p>
            <a:pPr algn="l"/>
            <a:r>
              <a:rPr sz="1300" b="0" i="0">
                <a:solidFill>
                  <a:srgbClr val="1E293B"/>
                </a:solidFill>
                <a:latin typeface="Segoe UI"/>
              </a:rPr>
              <a:t>Sin fichas sobre el umbral: sin contexto y sin links. El asistente pide más detalle o declina con cortesía.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pic>
        <p:nvPicPr>
          <p:cNvPr id="2" name="Picture 1" descr="fondo_portada.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148840"/>
            <a:ext cx="2743200" cy="914400"/>
          </a:xfrm>
          <a:prstGeom prst="rect">
            <a:avLst/>
          </a:prstGeom>
          <a:noFill/>
        </p:spPr>
        <p:txBody>
          <a:bodyPr wrap="square" lIns="0" rIns="0" tIns="0" bIns="0" anchor="t">
            <a:spAutoFit/>
          </a:bodyPr>
          <a:lstStyle/>
          <a:p>
            <a:pPr algn="l"/>
            <a:r>
              <a:rPr sz="6000" b="0" i="0">
                <a:solidFill>
                  <a:srgbClr val="F59E0B"/>
                </a:solidFill>
                <a:latin typeface="Segoe UI Semibold"/>
              </a:rPr>
              <a:t>05</a:t>
            </a:r>
          </a:p>
        </p:txBody>
      </p:sp>
      <p:sp>
        <p:nvSpPr>
          <p:cNvPr id="4" name="TextBox 3"/>
          <p:cNvSpPr txBox="1"/>
          <p:nvPr/>
        </p:nvSpPr>
        <p:spPr>
          <a:xfrm>
            <a:off x="822960" y="3063240"/>
            <a:ext cx="5760720" cy="914400"/>
          </a:xfrm>
          <a:prstGeom prst="rect">
            <a:avLst/>
          </a:prstGeom>
          <a:noFill/>
        </p:spPr>
        <p:txBody>
          <a:bodyPr wrap="square" lIns="0" rIns="0" tIns="0" bIns="0" anchor="t">
            <a:spAutoFit/>
          </a:bodyPr>
          <a:lstStyle/>
          <a:p>
            <a:pPr algn="l"/>
            <a:r>
              <a:rPr sz="4000" b="0" i="0">
                <a:solidFill>
                  <a:srgbClr val="FFFFFF"/>
                </a:solidFill>
                <a:latin typeface="Segoe UI Semibold"/>
              </a:rPr>
              <a:t>Calidad del modelo</a:t>
            </a:r>
          </a:p>
        </p:txBody>
      </p:sp>
      <p:sp>
        <p:nvSpPr>
          <p:cNvPr id="5" name="TextBox 4"/>
          <p:cNvSpPr txBox="1"/>
          <p:nvPr/>
        </p:nvSpPr>
        <p:spPr>
          <a:xfrm>
            <a:off x="822960" y="3977639"/>
            <a:ext cx="5120640" cy="914400"/>
          </a:xfrm>
          <a:prstGeom prst="rect">
            <a:avLst/>
          </a:prstGeom>
          <a:noFill/>
        </p:spPr>
        <p:txBody>
          <a:bodyPr wrap="square" lIns="0" rIns="0" tIns="0" bIns="0" anchor="t">
            <a:spAutoFit/>
          </a:bodyPr>
          <a:lstStyle/>
          <a:p>
            <a:pPr algn="l"/>
            <a:r>
              <a:rPr sz="1800" b="0" i="0">
                <a:solidFill>
                  <a:srgbClr val="CBD5E1"/>
                </a:solidFill>
                <a:latin typeface="Segoe UI"/>
              </a:rPr>
              <a:t>Cómo evitamos que el asistente memorice respuestas o invente datos</a:t>
            </a:r>
          </a:p>
        </p:txBody>
      </p:sp>
      <p:sp>
        <p:nvSpPr>
          <p:cNvPr id="6" name="TextBox 5"/>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CBD5E1"/>
                </a:solidFill>
                <a:latin typeface="Segoe UI"/>
              </a:rPr>
              <a:t>Kalish Manta Analytics  ·  Roberto</a:t>
            </a:r>
          </a:p>
        </p:txBody>
      </p:sp>
      <p:sp>
        <p:nvSpPr>
          <p:cNvPr id="7" name="TextBox 6"/>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CBD5E1"/>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05 · PROBLEMA DETECTADO</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Diagnóstico: el modelo memorizaba en lugar de leer</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22</a:t>
            </a:r>
          </a:p>
        </p:txBody>
      </p:sp>
      <p:sp>
        <p:nvSpPr>
          <p:cNvPr id="6" name="Rounded Rectangle 5"/>
          <p:cNvSpPr/>
          <p:nvPr/>
        </p:nvSpPr>
        <p:spPr>
          <a:xfrm>
            <a:off x="548640" y="1737360"/>
            <a:ext cx="544068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920240"/>
            <a:ext cx="2377440" cy="1554480"/>
          </a:xfrm>
          <a:prstGeom prst="rect">
            <a:avLst/>
          </a:prstGeom>
          <a:noFill/>
        </p:spPr>
        <p:txBody>
          <a:bodyPr wrap="square" lIns="0" rIns="0" tIns="0" bIns="0" anchor="ctr">
            <a:spAutoFit/>
          </a:bodyPr>
          <a:lstStyle/>
          <a:p>
            <a:pPr algn="l"/>
            <a:r>
              <a:rPr sz="4000" b="0" i="0">
                <a:solidFill>
                  <a:srgbClr val="F59E0B"/>
                </a:solidFill>
                <a:latin typeface="Segoe UI Semibold"/>
              </a:rPr>
              <a:t>33%</a:t>
            </a:r>
          </a:p>
        </p:txBody>
      </p:sp>
      <p:sp>
        <p:nvSpPr>
          <p:cNvPr id="8" name="TextBox 7"/>
          <p:cNvSpPr txBox="1"/>
          <p:nvPr/>
        </p:nvSpPr>
        <p:spPr>
          <a:xfrm>
            <a:off x="3291840" y="1920240"/>
            <a:ext cx="2514600" cy="1554480"/>
          </a:xfrm>
          <a:prstGeom prst="rect">
            <a:avLst/>
          </a:prstGeom>
          <a:noFill/>
        </p:spPr>
        <p:txBody>
          <a:bodyPr wrap="square" lIns="0" rIns="0" tIns="0" bIns="0" anchor="ctr">
            <a:spAutoFit/>
          </a:bodyPr>
          <a:lstStyle/>
          <a:p>
            <a:pPr algn="l"/>
            <a:r>
              <a:rPr sz="1400" b="0" i="0">
                <a:solidFill>
                  <a:srgbClr val="1E293B"/>
                </a:solidFill>
                <a:latin typeface="Segoe UI"/>
              </a:rPr>
              <a:t>de las respuestas de entrenamiento escribían links por su cuenta</a:t>
            </a:r>
          </a:p>
        </p:txBody>
      </p:sp>
      <p:sp>
        <p:nvSpPr>
          <p:cNvPr id="9" name="Rounded Rectangle 8"/>
          <p:cNvSpPr/>
          <p:nvPr/>
        </p:nvSpPr>
        <p:spPr>
          <a:xfrm>
            <a:off x="6172200" y="1737360"/>
            <a:ext cx="544068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92240" y="1920240"/>
            <a:ext cx="2377440" cy="1554480"/>
          </a:xfrm>
          <a:prstGeom prst="rect">
            <a:avLst/>
          </a:prstGeom>
          <a:noFill/>
        </p:spPr>
        <p:txBody>
          <a:bodyPr wrap="square" lIns="0" rIns="0" tIns="0" bIns="0" anchor="ctr">
            <a:spAutoFit/>
          </a:bodyPr>
          <a:lstStyle/>
          <a:p>
            <a:pPr algn="l"/>
            <a:r>
              <a:rPr sz="4000" b="0" i="0">
                <a:solidFill>
                  <a:srgbClr val="F59E0B"/>
                </a:solidFill>
                <a:latin typeface="Segoe UI Semibold"/>
              </a:rPr>
              <a:t>0 / 267</a:t>
            </a:r>
          </a:p>
        </p:txBody>
      </p:sp>
      <p:sp>
        <p:nvSpPr>
          <p:cNvPr id="11" name="TextBox 10"/>
          <p:cNvSpPr txBox="1"/>
          <p:nvPr/>
        </p:nvSpPr>
        <p:spPr>
          <a:xfrm>
            <a:off x="8915400" y="1920240"/>
            <a:ext cx="2514600" cy="1554480"/>
          </a:xfrm>
          <a:prstGeom prst="rect">
            <a:avLst/>
          </a:prstGeom>
          <a:noFill/>
        </p:spPr>
        <p:txBody>
          <a:bodyPr wrap="square" lIns="0" rIns="0" tIns="0" bIns="0" anchor="ctr">
            <a:spAutoFit/>
          </a:bodyPr>
          <a:lstStyle/>
          <a:p>
            <a:pPr algn="l"/>
            <a:r>
              <a:rPr sz="1400" b="0" i="0">
                <a:solidFill>
                  <a:srgbClr val="1E293B"/>
                </a:solidFill>
                <a:latin typeface="Segoe UI"/>
              </a:rPr>
              <a:t>conversaciones con el contexto del RAG: respondía de memoria</a:t>
            </a:r>
          </a:p>
        </p:txBody>
      </p:sp>
      <p:sp>
        <p:nvSpPr>
          <p:cNvPr id="12" name="Rounded Rectangle 11"/>
          <p:cNvSpPr/>
          <p:nvPr/>
        </p:nvSpPr>
        <p:spPr>
          <a:xfrm>
            <a:off x="548640" y="3931920"/>
            <a:ext cx="544068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68680" y="4114800"/>
            <a:ext cx="2377440" cy="1554480"/>
          </a:xfrm>
          <a:prstGeom prst="rect">
            <a:avLst/>
          </a:prstGeom>
          <a:noFill/>
        </p:spPr>
        <p:txBody>
          <a:bodyPr wrap="square" lIns="0" rIns="0" tIns="0" bIns="0" anchor="ctr">
            <a:spAutoFit/>
          </a:bodyPr>
          <a:lstStyle/>
          <a:p>
            <a:pPr algn="l"/>
            <a:r>
              <a:rPr sz="4000" b="0" i="0">
                <a:solidFill>
                  <a:srgbClr val="F59E0B"/>
                </a:solidFill>
                <a:latin typeface="Segoe UI Semibold"/>
              </a:rPr>
              <a:t>64</a:t>
            </a:r>
          </a:p>
        </p:txBody>
      </p:sp>
      <p:sp>
        <p:nvSpPr>
          <p:cNvPr id="14" name="TextBox 13"/>
          <p:cNvSpPr txBox="1"/>
          <p:nvPr/>
        </p:nvSpPr>
        <p:spPr>
          <a:xfrm>
            <a:off x="3291840" y="4114800"/>
            <a:ext cx="2514600" cy="1554480"/>
          </a:xfrm>
          <a:prstGeom prst="rect">
            <a:avLst/>
          </a:prstGeom>
          <a:noFill/>
        </p:spPr>
        <p:txBody>
          <a:bodyPr wrap="square" lIns="0" rIns="0" tIns="0" bIns="0" anchor="ctr">
            <a:spAutoFit/>
          </a:bodyPr>
          <a:lstStyle/>
          <a:p>
            <a:pPr algn="l"/>
            <a:r>
              <a:rPr sz="1400" b="0" i="0">
                <a:solidFill>
                  <a:srgbClr val="1E293B"/>
                </a:solidFill>
                <a:latin typeface="Segoe UI"/>
              </a:rPr>
              <a:t>respuestas empezaban igual (“¡Hola”): forma memorizada</a:t>
            </a:r>
          </a:p>
        </p:txBody>
      </p:sp>
      <p:sp>
        <p:nvSpPr>
          <p:cNvPr id="15" name="Rounded Rectangle 14"/>
          <p:cNvSpPr/>
          <p:nvPr/>
        </p:nvSpPr>
        <p:spPr>
          <a:xfrm>
            <a:off x="6172200" y="3931920"/>
            <a:ext cx="5440680" cy="196596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6492240" y="4114800"/>
            <a:ext cx="2377440" cy="1554480"/>
          </a:xfrm>
          <a:prstGeom prst="rect">
            <a:avLst/>
          </a:prstGeom>
          <a:noFill/>
        </p:spPr>
        <p:txBody>
          <a:bodyPr wrap="square" lIns="0" rIns="0" tIns="0" bIns="0" anchor="ctr">
            <a:spAutoFit/>
          </a:bodyPr>
          <a:lstStyle/>
          <a:p>
            <a:pPr algn="l"/>
            <a:r>
              <a:rPr sz="4000" b="0" i="0">
                <a:solidFill>
                  <a:srgbClr val="F59E0B"/>
                </a:solidFill>
                <a:latin typeface="Segoe UI Semibold"/>
              </a:rPr>
              <a:t>≈ 0.5</a:t>
            </a:r>
          </a:p>
        </p:txBody>
      </p:sp>
      <p:sp>
        <p:nvSpPr>
          <p:cNvPr id="17" name="TextBox 16"/>
          <p:cNvSpPr txBox="1"/>
          <p:nvPr/>
        </p:nvSpPr>
        <p:spPr>
          <a:xfrm>
            <a:off x="8915400" y="4114800"/>
            <a:ext cx="2514600" cy="1554480"/>
          </a:xfrm>
          <a:prstGeom prst="rect">
            <a:avLst/>
          </a:prstGeom>
          <a:noFill/>
        </p:spPr>
        <p:txBody>
          <a:bodyPr wrap="square" lIns="0" rIns="0" tIns="0" bIns="0" anchor="ctr">
            <a:spAutoFit/>
          </a:bodyPr>
          <a:lstStyle/>
          <a:p>
            <a:pPr algn="l"/>
            <a:r>
              <a:rPr sz="1400" b="0" i="0">
                <a:solidFill>
                  <a:srgbClr val="1E293B"/>
                </a:solidFill>
                <a:latin typeface="Segoe UI"/>
              </a:rPr>
              <a:t>score de “Hola !!”: superaba el umbral y mostraba un link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05 · SOLUCIÓN</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Ajustes para que el modelo lea en lugar de memorizar</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23</a:t>
            </a:r>
          </a:p>
        </p:txBody>
      </p:sp>
      <p:sp>
        <p:nvSpPr>
          <p:cNvPr id="6" name="Rounded Rectangle 5"/>
          <p:cNvSpPr/>
          <p:nvPr/>
        </p:nvSpPr>
        <p:spPr>
          <a:xfrm>
            <a:off x="548640" y="1737360"/>
            <a:ext cx="3520440" cy="20116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22959" y="2011679"/>
            <a:ext cx="530352" cy="530352"/>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documento.png"/>
          <p:cNvPicPr>
            <a:picLocks noChangeAspect="1"/>
          </p:cNvPicPr>
          <p:nvPr/>
        </p:nvPicPr>
        <p:blipFill>
          <a:blip r:embed="rId3"/>
          <a:stretch>
            <a:fillRect/>
          </a:stretch>
        </p:blipFill>
        <p:spPr>
          <a:xfrm>
            <a:off x="929030" y="2117750"/>
            <a:ext cx="318211" cy="318211"/>
          </a:xfrm>
          <a:prstGeom prst="rect">
            <a:avLst/>
          </a:prstGeom>
        </p:spPr>
      </p:pic>
      <p:sp>
        <p:nvSpPr>
          <p:cNvPr id="9" name="TextBox 8"/>
          <p:cNvSpPr txBox="1"/>
          <p:nvPr/>
        </p:nvSpPr>
        <p:spPr>
          <a:xfrm>
            <a:off x="822959" y="2651760"/>
            <a:ext cx="3017520" cy="365760"/>
          </a:xfrm>
          <a:prstGeom prst="rect">
            <a:avLst/>
          </a:prstGeom>
          <a:noFill/>
        </p:spPr>
        <p:txBody>
          <a:bodyPr wrap="square" lIns="0" rIns="0" tIns="0" bIns="0" anchor="t">
            <a:spAutoFit/>
          </a:bodyPr>
          <a:lstStyle/>
          <a:p>
            <a:pPr algn="l"/>
            <a:r>
              <a:rPr sz="1600" b="0" i="0">
                <a:solidFill>
                  <a:srgbClr val="0B1F3A"/>
                </a:solidFill>
                <a:latin typeface="Segoe UI Semibold"/>
              </a:rPr>
              <a:t>Formato de producción</a:t>
            </a:r>
          </a:p>
        </p:txBody>
      </p:sp>
      <p:sp>
        <p:nvSpPr>
          <p:cNvPr id="10" name="TextBox 9"/>
          <p:cNvSpPr txBox="1"/>
          <p:nvPr/>
        </p:nvSpPr>
        <p:spPr>
          <a:xfrm>
            <a:off x="822959" y="3035808"/>
            <a:ext cx="3017520" cy="685800"/>
          </a:xfrm>
          <a:prstGeom prst="rect">
            <a:avLst/>
          </a:prstGeom>
          <a:noFill/>
        </p:spPr>
        <p:txBody>
          <a:bodyPr wrap="square" lIns="0" rIns="0" tIns="0" bIns="0" anchor="t">
            <a:spAutoFit/>
          </a:bodyPr>
          <a:lstStyle/>
          <a:p>
            <a:pPr algn="l"/>
            <a:r>
              <a:rPr sz="1250" b="0" i="0">
                <a:solidFill>
                  <a:srgbClr val="475569"/>
                </a:solidFill>
                <a:latin typeface="Segoe UI"/>
              </a:rPr>
              <a:t>El entrenamiento usa el mismo system prompt que la web, con las fichas recuperadas por el RAG real.</a:t>
            </a:r>
          </a:p>
        </p:txBody>
      </p:sp>
      <p:sp>
        <p:nvSpPr>
          <p:cNvPr id="11" name="Rounded Rectangle 10"/>
          <p:cNvSpPr/>
          <p:nvPr/>
        </p:nvSpPr>
        <p:spPr>
          <a:xfrm>
            <a:off x="4297679" y="1737360"/>
            <a:ext cx="3520440" cy="20116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4571999" y="2011679"/>
            <a:ext cx="530352" cy="530352"/>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pagina.png"/>
          <p:cNvPicPr>
            <a:picLocks noChangeAspect="1"/>
          </p:cNvPicPr>
          <p:nvPr/>
        </p:nvPicPr>
        <p:blipFill>
          <a:blip r:embed="rId4"/>
          <a:stretch>
            <a:fillRect/>
          </a:stretch>
        </p:blipFill>
        <p:spPr>
          <a:xfrm>
            <a:off x="4678070" y="2117750"/>
            <a:ext cx="318211" cy="318211"/>
          </a:xfrm>
          <a:prstGeom prst="rect">
            <a:avLst/>
          </a:prstGeom>
        </p:spPr>
      </p:pic>
      <p:sp>
        <p:nvSpPr>
          <p:cNvPr id="14" name="TextBox 13"/>
          <p:cNvSpPr txBox="1"/>
          <p:nvPr/>
        </p:nvSpPr>
        <p:spPr>
          <a:xfrm>
            <a:off x="4571999" y="2651760"/>
            <a:ext cx="3017520" cy="365760"/>
          </a:xfrm>
          <a:prstGeom prst="rect">
            <a:avLst/>
          </a:prstGeom>
          <a:noFill/>
        </p:spPr>
        <p:txBody>
          <a:bodyPr wrap="square" lIns="0" rIns="0" tIns="0" bIns="0" anchor="t">
            <a:spAutoFit/>
          </a:bodyPr>
          <a:lstStyle/>
          <a:p>
            <a:pPr algn="l"/>
            <a:r>
              <a:rPr sz="1600" b="0" i="0">
                <a:solidFill>
                  <a:srgbClr val="0B1F3A"/>
                </a:solidFill>
                <a:latin typeface="Segoe UI Semibold"/>
              </a:rPr>
              <a:t>300 conversaciones nuevas</a:t>
            </a:r>
          </a:p>
        </p:txBody>
      </p:sp>
      <p:sp>
        <p:nvSpPr>
          <p:cNvPr id="15" name="TextBox 14"/>
          <p:cNvSpPr txBox="1"/>
          <p:nvPr/>
        </p:nvSpPr>
        <p:spPr>
          <a:xfrm>
            <a:off x="4571999" y="3035808"/>
            <a:ext cx="3017520" cy="685800"/>
          </a:xfrm>
          <a:prstGeom prst="rect">
            <a:avLst/>
          </a:prstGeom>
          <a:noFill/>
        </p:spPr>
        <p:txBody>
          <a:bodyPr wrap="square" lIns="0" rIns="0" tIns="0" bIns="0" anchor="t">
            <a:spAutoFit/>
          </a:bodyPr>
          <a:lstStyle/>
          <a:p>
            <a:pPr algn="l"/>
            <a:r>
              <a:rPr sz="1250" b="0" i="0">
                <a:solidFill>
                  <a:srgbClr val="475569"/>
                </a:solidFill>
                <a:latin typeface="Segoe UI"/>
              </a:rPr>
              <a:t>Escritas desde las 15 fichas PDF; cada dato se verifica contra el contexto.</a:t>
            </a:r>
          </a:p>
        </p:txBody>
      </p:sp>
      <p:sp>
        <p:nvSpPr>
          <p:cNvPr id="16" name="Rounded Rectangle 15"/>
          <p:cNvSpPr/>
          <p:nvPr/>
        </p:nvSpPr>
        <p:spPr>
          <a:xfrm>
            <a:off x="8046719" y="1737360"/>
            <a:ext cx="3520440" cy="20116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321040" y="2011679"/>
            <a:ext cx="530352" cy="530352"/>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link.png"/>
          <p:cNvPicPr>
            <a:picLocks noChangeAspect="1"/>
          </p:cNvPicPr>
          <p:nvPr/>
        </p:nvPicPr>
        <p:blipFill>
          <a:blip r:embed="rId5"/>
          <a:stretch>
            <a:fillRect/>
          </a:stretch>
        </p:blipFill>
        <p:spPr>
          <a:xfrm>
            <a:off x="8427110" y="2117750"/>
            <a:ext cx="318211" cy="318211"/>
          </a:xfrm>
          <a:prstGeom prst="rect">
            <a:avLst/>
          </a:prstGeom>
        </p:spPr>
      </p:pic>
      <p:sp>
        <p:nvSpPr>
          <p:cNvPr id="19" name="TextBox 18"/>
          <p:cNvSpPr txBox="1"/>
          <p:nvPr/>
        </p:nvSpPr>
        <p:spPr>
          <a:xfrm>
            <a:off x="8321040" y="2651760"/>
            <a:ext cx="3017520" cy="365760"/>
          </a:xfrm>
          <a:prstGeom prst="rect">
            <a:avLst/>
          </a:prstGeom>
          <a:noFill/>
        </p:spPr>
        <p:txBody>
          <a:bodyPr wrap="square" lIns="0" rIns="0" tIns="0" bIns="0" anchor="t">
            <a:spAutoFit/>
          </a:bodyPr>
          <a:lstStyle/>
          <a:p>
            <a:pPr algn="l"/>
            <a:r>
              <a:rPr sz="1600" b="0" i="0">
                <a:solidFill>
                  <a:srgbClr val="0B1F3A"/>
                </a:solidFill>
                <a:latin typeface="Segoe UI Semibold"/>
              </a:rPr>
              <a:t>Links fuera del modelo</a:t>
            </a:r>
          </a:p>
        </p:txBody>
      </p:sp>
      <p:sp>
        <p:nvSpPr>
          <p:cNvPr id="20" name="TextBox 19"/>
          <p:cNvSpPr txBox="1"/>
          <p:nvPr/>
        </p:nvSpPr>
        <p:spPr>
          <a:xfrm>
            <a:off x="8321040" y="3035808"/>
            <a:ext cx="3017520" cy="685800"/>
          </a:xfrm>
          <a:prstGeom prst="rect">
            <a:avLst/>
          </a:prstGeom>
          <a:noFill/>
        </p:spPr>
        <p:txBody>
          <a:bodyPr wrap="square" lIns="0" rIns="0" tIns="0" bIns="0" anchor="t">
            <a:spAutoFit/>
          </a:bodyPr>
          <a:lstStyle/>
          <a:p>
            <a:pPr algn="l"/>
            <a:r>
              <a:rPr sz="1250" b="0" i="0">
                <a:solidFill>
                  <a:srgbClr val="475569"/>
                </a:solidFill>
                <a:latin typeface="Segoe UI"/>
              </a:rPr>
              <a:t>Se quitaron del dataset y el código los agrega desde la metadata.</a:t>
            </a:r>
          </a:p>
        </p:txBody>
      </p:sp>
      <p:sp>
        <p:nvSpPr>
          <p:cNvPr id="21" name="Rounded Rectangle 20"/>
          <p:cNvSpPr/>
          <p:nvPr/>
        </p:nvSpPr>
        <p:spPr>
          <a:xfrm>
            <a:off x="548640" y="3977639"/>
            <a:ext cx="3520440" cy="20116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22959" y="4251959"/>
            <a:ext cx="530352" cy="530352"/>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estrella.png"/>
          <p:cNvPicPr>
            <a:picLocks noChangeAspect="1"/>
          </p:cNvPicPr>
          <p:nvPr/>
        </p:nvPicPr>
        <p:blipFill>
          <a:blip r:embed="rId6"/>
          <a:stretch>
            <a:fillRect/>
          </a:stretch>
        </p:blipFill>
        <p:spPr>
          <a:xfrm>
            <a:off x="929030" y="4358030"/>
            <a:ext cx="318211" cy="318211"/>
          </a:xfrm>
          <a:prstGeom prst="rect">
            <a:avLst/>
          </a:prstGeom>
        </p:spPr>
      </p:pic>
      <p:sp>
        <p:nvSpPr>
          <p:cNvPr id="24" name="TextBox 23"/>
          <p:cNvSpPr txBox="1"/>
          <p:nvPr/>
        </p:nvSpPr>
        <p:spPr>
          <a:xfrm>
            <a:off x="822959" y="4892040"/>
            <a:ext cx="3017520" cy="365760"/>
          </a:xfrm>
          <a:prstGeom prst="rect">
            <a:avLst/>
          </a:prstGeom>
          <a:noFill/>
        </p:spPr>
        <p:txBody>
          <a:bodyPr wrap="square" lIns="0" rIns="0" tIns="0" bIns="0" anchor="t">
            <a:spAutoFit/>
          </a:bodyPr>
          <a:lstStyle/>
          <a:p>
            <a:pPr algn="l"/>
            <a:r>
              <a:rPr sz="1600" b="0" i="0">
                <a:solidFill>
                  <a:srgbClr val="0B1F3A"/>
                </a:solidFill>
                <a:latin typeface="Segoe UI Semibold"/>
              </a:rPr>
              <a:t>Variedad de respuestas</a:t>
            </a:r>
          </a:p>
        </p:txBody>
      </p:sp>
      <p:sp>
        <p:nvSpPr>
          <p:cNvPr id="25" name="TextBox 24"/>
          <p:cNvSpPr txBox="1"/>
          <p:nvPr/>
        </p:nvSpPr>
        <p:spPr>
          <a:xfrm>
            <a:off x="822959" y="5276088"/>
            <a:ext cx="3017520" cy="685800"/>
          </a:xfrm>
          <a:prstGeom prst="rect">
            <a:avLst/>
          </a:prstGeom>
          <a:noFill/>
        </p:spPr>
        <p:txBody>
          <a:bodyPr wrap="square" lIns="0" rIns="0" tIns="0" bIns="0" anchor="t">
            <a:spAutoFit/>
          </a:bodyPr>
          <a:lstStyle/>
          <a:p>
            <a:pPr algn="l"/>
            <a:r>
              <a:rPr sz="1250" b="0" i="0">
                <a:solidFill>
                  <a:srgbClr val="475569"/>
                </a:solidFill>
                <a:latin typeface="Segoe UI"/>
              </a:rPr>
              <a:t>Aperturas, longitudes y estructuras distintas para no memorizar una forma.</a:t>
            </a:r>
          </a:p>
        </p:txBody>
      </p:sp>
      <p:sp>
        <p:nvSpPr>
          <p:cNvPr id="26" name="Rounded Rectangle 25"/>
          <p:cNvSpPr/>
          <p:nvPr/>
        </p:nvSpPr>
        <p:spPr>
          <a:xfrm>
            <a:off x="4297679" y="3977639"/>
            <a:ext cx="3520440" cy="20116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unded Rectangle 26"/>
          <p:cNvSpPr/>
          <p:nvPr/>
        </p:nvSpPr>
        <p:spPr>
          <a:xfrm>
            <a:off x="4571999" y="4251959"/>
            <a:ext cx="530352" cy="530352"/>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Picture 27" descr="buscar.png"/>
          <p:cNvPicPr>
            <a:picLocks noChangeAspect="1"/>
          </p:cNvPicPr>
          <p:nvPr/>
        </p:nvPicPr>
        <p:blipFill>
          <a:blip r:embed="rId7"/>
          <a:stretch>
            <a:fillRect/>
          </a:stretch>
        </p:blipFill>
        <p:spPr>
          <a:xfrm>
            <a:off x="4678070" y="4358030"/>
            <a:ext cx="318211" cy="318211"/>
          </a:xfrm>
          <a:prstGeom prst="rect">
            <a:avLst/>
          </a:prstGeom>
        </p:spPr>
      </p:pic>
      <p:sp>
        <p:nvSpPr>
          <p:cNvPr id="29" name="TextBox 28"/>
          <p:cNvSpPr txBox="1"/>
          <p:nvPr/>
        </p:nvSpPr>
        <p:spPr>
          <a:xfrm>
            <a:off x="4571999" y="4892040"/>
            <a:ext cx="3017520" cy="365760"/>
          </a:xfrm>
          <a:prstGeom prst="rect">
            <a:avLst/>
          </a:prstGeom>
          <a:noFill/>
        </p:spPr>
        <p:txBody>
          <a:bodyPr wrap="square" lIns="0" rIns="0" tIns="0" bIns="0" anchor="t">
            <a:spAutoFit/>
          </a:bodyPr>
          <a:lstStyle/>
          <a:p>
            <a:pPr algn="l"/>
            <a:r>
              <a:rPr sz="1600" b="0" i="0">
                <a:solidFill>
                  <a:srgbClr val="0B1F3A"/>
                </a:solidFill>
                <a:latin typeface="Segoe UI Semibold"/>
              </a:rPr>
              <a:t>Recuperación más precisa</a:t>
            </a:r>
          </a:p>
        </p:txBody>
      </p:sp>
      <p:sp>
        <p:nvSpPr>
          <p:cNvPr id="30" name="TextBox 29"/>
          <p:cNvSpPr txBox="1"/>
          <p:nvPr/>
        </p:nvSpPr>
        <p:spPr>
          <a:xfrm>
            <a:off x="4571999" y="5276088"/>
            <a:ext cx="3017520" cy="685800"/>
          </a:xfrm>
          <a:prstGeom prst="rect">
            <a:avLst/>
          </a:prstGeom>
          <a:noFill/>
        </p:spPr>
        <p:txBody>
          <a:bodyPr wrap="square" lIns="0" rIns="0" tIns="0" bIns="0" anchor="t">
            <a:spAutoFit/>
          </a:bodyPr>
          <a:lstStyle/>
          <a:p>
            <a:pPr algn="l"/>
            <a:r>
              <a:rPr sz="1250" b="0" i="0">
                <a:solidFill>
                  <a:srgbClr val="475569"/>
                </a:solidFill>
                <a:latin typeface="Segoe UI"/>
              </a:rPr>
              <a:t>Texto original, instrucción en la consulta, umbral 0.53 y margen 0.10.</a:t>
            </a:r>
          </a:p>
        </p:txBody>
      </p:sp>
      <p:sp>
        <p:nvSpPr>
          <p:cNvPr id="31" name="Rounded Rectangle 30"/>
          <p:cNvSpPr/>
          <p:nvPr/>
        </p:nvSpPr>
        <p:spPr>
          <a:xfrm>
            <a:off x="8046719" y="3977639"/>
            <a:ext cx="3520440" cy="20116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ounded Rectangle 31"/>
          <p:cNvSpPr/>
          <p:nvPr/>
        </p:nvSpPr>
        <p:spPr>
          <a:xfrm>
            <a:off x="8321040" y="4251959"/>
            <a:ext cx="530352" cy="530352"/>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chat.png"/>
          <p:cNvPicPr>
            <a:picLocks noChangeAspect="1"/>
          </p:cNvPicPr>
          <p:nvPr/>
        </p:nvPicPr>
        <p:blipFill>
          <a:blip r:embed="rId8"/>
          <a:stretch>
            <a:fillRect/>
          </a:stretch>
        </p:blipFill>
        <p:spPr>
          <a:xfrm>
            <a:off x="8427110" y="4358030"/>
            <a:ext cx="318211" cy="318211"/>
          </a:xfrm>
          <a:prstGeom prst="rect">
            <a:avLst/>
          </a:prstGeom>
        </p:spPr>
      </p:pic>
      <p:sp>
        <p:nvSpPr>
          <p:cNvPr id="34" name="TextBox 33"/>
          <p:cNvSpPr txBox="1"/>
          <p:nvPr/>
        </p:nvSpPr>
        <p:spPr>
          <a:xfrm>
            <a:off x="8321040" y="4892040"/>
            <a:ext cx="3017520" cy="365760"/>
          </a:xfrm>
          <a:prstGeom prst="rect">
            <a:avLst/>
          </a:prstGeom>
          <a:noFill/>
        </p:spPr>
        <p:txBody>
          <a:bodyPr wrap="square" lIns="0" rIns="0" tIns="0" bIns="0" anchor="t">
            <a:spAutoFit/>
          </a:bodyPr>
          <a:lstStyle/>
          <a:p>
            <a:pPr algn="l"/>
            <a:r>
              <a:rPr sz="1600" b="0" i="0">
                <a:solidFill>
                  <a:srgbClr val="0B1F3A"/>
                </a:solidFill>
                <a:latin typeface="Segoe UI Semibold"/>
              </a:rPr>
              <a:t>Saber cuándo no responder</a:t>
            </a:r>
          </a:p>
        </p:txBody>
      </p:sp>
      <p:sp>
        <p:nvSpPr>
          <p:cNvPr id="35" name="TextBox 34"/>
          <p:cNvSpPr txBox="1"/>
          <p:nvPr/>
        </p:nvSpPr>
        <p:spPr>
          <a:xfrm>
            <a:off x="8321040" y="5276088"/>
            <a:ext cx="3017520" cy="685800"/>
          </a:xfrm>
          <a:prstGeom prst="rect">
            <a:avLst/>
          </a:prstGeom>
          <a:noFill/>
        </p:spPr>
        <p:txBody>
          <a:bodyPr wrap="square" lIns="0" rIns="0" tIns="0" bIns="0" anchor="t">
            <a:spAutoFit/>
          </a:bodyPr>
          <a:lstStyle/>
          <a:p>
            <a:pPr algn="l"/>
            <a:r>
              <a:rPr sz="1250" b="0" i="0">
                <a:solidFill>
                  <a:srgbClr val="475569"/>
                </a:solidFill>
                <a:latin typeface="Segoe UI"/>
              </a:rPr>
              <a:t>123 ejemplos sin fichas: saludos, temas ajenos y catálogo, sin links.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05 · DATOS DE ENTRENAMIENTO</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Cómo se construye el historial de chat para el fine-tuning</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24</a:t>
            </a:r>
          </a:p>
        </p:txBody>
      </p:sp>
      <p:sp>
        <p:nvSpPr>
          <p:cNvPr id="6" name="Rounded Rectangle 5"/>
          <p:cNvSpPr/>
          <p:nvPr/>
        </p:nvSpPr>
        <p:spPr>
          <a:xfrm>
            <a:off x="548640" y="1737360"/>
            <a:ext cx="2514600"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822959" y="19659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pagina.png"/>
          <p:cNvPicPr>
            <a:picLocks noChangeAspect="1"/>
          </p:cNvPicPr>
          <p:nvPr/>
        </p:nvPicPr>
        <p:blipFill>
          <a:blip r:embed="rId3"/>
          <a:stretch>
            <a:fillRect/>
          </a:stretch>
        </p:blipFill>
        <p:spPr>
          <a:xfrm>
            <a:off x="932688" y="2075688"/>
            <a:ext cx="329184" cy="329184"/>
          </a:xfrm>
          <a:prstGeom prst="rect">
            <a:avLst/>
          </a:prstGeom>
        </p:spPr>
      </p:pic>
      <p:sp>
        <p:nvSpPr>
          <p:cNvPr id="9" name="TextBox 8"/>
          <p:cNvSpPr txBox="1"/>
          <p:nvPr/>
        </p:nvSpPr>
        <p:spPr>
          <a:xfrm>
            <a:off x="822959" y="2697480"/>
            <a:ext cx="2057400" cy="365760"/>
          </a:xfrm>
          <a:prstGeom prst="rect">
            <a:avLst/>
          </a:prstGeom>
          <a:noFill/>
        </p:spPr>
        <p:txBody>
          <a:bodyPr wrap="square" lIns="0" rIns="0" tIns="0" bIns="0" anchor="t">
            <a:spAutoFit/>
          </a:bodyPr>
          <a:lstStyle/>
          <a:p>
            <a:pPr algn="l"/>
            <a:r>
              <a:rPr sz="1600" b="0" i="0">
                <a:solidFill>
                  <a:srgbClr val="0B1F3A"/>
                </a:solidFill>
                <a:latin typeface="Segoe UI Semibold"/>
              </a:rPr>
              <a:t>Escritura</a:t>
            </a:r>
          </a:p>
        </p:txBody>
      </p:sp>
      <p:sp>
        <p:nvSpPr>
          <p:cNvPr id="10" name="TextBox 9"/>
          <p:cNvSpPr txBox="1"/>
          <p:nvPr/>
        </p:nvSpPr>
        <p:spPr>
          <a:xfrm>
            <a:off x="822959" y="3090672"/>
            <a:ext cx="2057400" cy="731520"/>
          </a:xfrm>
          <a:prstGeom prst="rect">
            <a:avLst/>
          </a:prstGeom>
          <a:noFill/>
        </p:spPr>
        <p:txBody>
          <a:bodyPr wrap="square" lIns="0" rIns="0" tIns="0" bIns="0" anchor="t">
            <a:spAutoFit/>
          </a:bodyPr>
          <a:lstStyle/>
          <a:p>
            <a:pPr algn="l"/>
            <a:r>
              <a:rPr sz="1250" b="0" i="0">
                <a:solidFill>
                  <a:srgbClr val="475569"/>
                </a:solidFill>
                <a:latin typeface="Segoe UI"/>
              </a:rPr>
              <a:t>conversaciones_rag.md, basadas en las fichas PDF</a:t>
            </a:r>
          </a:p>
        </p:txBody>
      </p:sp>
      <p:cxnSp>
        <p:nvCxnSpPr>
          <p:cNvPr id="11" name="Connector 10"/>
          <p:cNvCxnSpPr/>
          <p:nvPr/>
        </p:nvCxnSpPr>
        <p:spPr>
          <a:xfrm>
            <a:off x="3090672" y="2807208"/>
            <a:ext cx="265176"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83280" y="1737360"/>
            <a:ext cx="2514600"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3657600" y="19659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Picture 13" descr="procesar.png"/>
          <p:cNvPicPr>
            <a:picLocks noChangeAspect="1"/>
          </p:cNvPicPr>
          <p:nvPr/>
        </p:nvPicPr>
        <p:blipFill>
          <a:blip r:embed="rId4"/>
          <a:stretch>
            <a:fillRect/>
          </a:stretch>
        </p:blipFill>
        <p:spPr>
          <a:xfrm>
            <a:off x="3767328" y="2075688"/>
            <a:ext cx="329184" cy="329184"/>
          </a:xfrm>
          <a:prstGeom prst="rect">
            <a:avLst/>
          </a:prstGeom>
        </p:spPr>
      </p:pic>
      <p:sp>
        <p:nvSpPr>
          <p:cNvPr id="15" name="TextBox 14"/>
          <p:cNvSpPr txBox="1"/>
          <p:nvPr/>
        </p:nvSpPr>
        <p:spPr>
          <a:xfrm>
            <a:off x="3657600" y="2697480"/>
            <a:ext cx="2057400" cy="365760"/>
          </a:xfrm>
          <a:prstGeom prst="rect">
            <a:avLst/>
          </a:prstGeom>
          <a:noFill/>
        </p:spPr>
        <p:txBody>
          <a:bodyPr wrap="square" lIns="0" rIns="0" tIns="0" bIns="0" anchor="t">
            <a:spAutoFit/>
          </a:bodyPr>
          <a:lstStyle/>
          <a:p>
            <a:pPr algn="l"/>
            <a:r>
              <a:rPr sz="1600" b="0" i="0">
                <a:solidFill>
                  <a:srgbClr val="0B1F3A"/>
                </a:solidFill>
                <a:latin typeface="Segoe UI Semibold"/>
              </a:rPr>
              <a:t>RAG real</a:t>
            </a:r>
          </a:p>
        </p:txBody>
      </p:sp>
      <p:sp>
        <p:nvSpPr>
          <p:cNvPr id="16" name="TextBox 15"/>
          <p:cNvSpPr txBox="1"/>
          <p:nvPr/>
        </p:nvSpPr>
        <p:spPr>
          <a:xfrm>
            <a:off x="3657600" y="3090672"/>
            <a:ext cx="2057400" cy="731520"/>
          </a:xfrm>
          <a:prstGeom prst="rect">
            <a:avLst/>
          </a:prstGeom>
          <a:noFill/>
        </p:spPr>
        <p:txBody>
          <a:bodyPr wrap="square" lIns="0" rIns="0" tIns="0" bIns="0" anchor="t">
            <a:spAutoFit/>
          </a:bodyPr>
          <a:lstStyle/>
          <a:p>
            <a:pPr algn="l"/>
            <a:r>
              <a:rPr sz="1250" b="0" i="0">
                <a:solidFill>
                  <a:srgbClr val="475569"/>
                </a:solidFill>
                <a:latin typeface="Segoe UI"/>
              </a:rPr>
              <a:t>Recupera fichas y arma el system prompt de producción</a:t>
            </a:r>
          </a:p>
        </p:txBody>
      </p:sp>
      <p:cxnSp>
        <p:nvCxnSpPr>
          <p:cNvPr id="17" name="Connector 16"/>
          <p:cNvCxnSpPr/>
          <p:nvPr/>
        </p:nvCxnSpPr>
        <p:spPr>
          <a:xfrm>
            <a:off x="5925312" y="2807208"/>
            <a:ext cx="265176"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17920" y="1737360"/>
            <a:ext cx="2514600"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492240" y="19659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lista.png"/>
          <p:cNvPicPr>
            <a:picLocks noChangeAspect="1"/>
          </p:cNvPicPr>
          <p:nvPr/>
        </p:nvPicPr>
        <p:blipFill>
          <a:blip r:embed="rId5"/>
          <a:stretch>
            <a:fillRect/>
          </a:stretch>
        </p:blipFill>
        <p:spPr>
          <a:xfrm>
            <a:off x="6601968" y="2075688"/>
            <a:ext cx="329184" cy="329184"/>
          </a:xfrm>
          <a:prstGeom prst="rect">
            <a:avLst/>
          </a:prstGeom>
        </p:spPr>
      </p:pic>
      <p:sp>
        <p:nvSpPr>
          <p:cNvPr id="21" name="TextBox 20"/>
          <p:cNvSpPr txBox="1"/>
          <p:nvPr/>
        </p:nvSpPr>
        <p:spPr>
          <a:xfrm>
            <a:off x="6492240" y="2697480"/>
            <a:ext cx="2057400" cy="365760"/>
          </a:xfrm>
          <a:prstGeom prst="rect">
            <a:avLst/>
          </a:prstGeom>
          <a:noFill/>
        </p:spPr>
        <p:txBody>
          <a:bodyPr wrap="square" lIns="0" rIns="0" tIns="0" bIns="0" anchor="t">
            <a:spAutoFit/>
          </a:bodyPr>
          <a:lstStyle/>
          <a:p>
            <a:pPr algn="l"/>
            <a:r>
              <a:rPr sz="1600" b="0" i="0">
                <a:solidFill>
                  <a:srgbClr val="0B1F3A"/>
                </a:solidFill>
                <a:latin typeface="Segoe UI Semibold"/>
              </a:rPr>
              <a:t>4 verificaciones</a:t>
            </a:r>
          </a:p>
        </p:txBody>
      </p:sp>
      <p:sp>
        <p:nvSpPr>
          <p:cNvPr id="22" name="TextBox 21"/>
          <p:cNvSpPr txBox="1"/>
          <p:nvPr/>
        </p:nvSpPr>
        <p:spPr>
          <a:xfrm>
            <a:off x="6492240" y="3090672"/>
            <a:ext cx="2057400" cy="731520"/>
          </a:xfrm>
          <a:prstGeom prst="rect">
            <a:avLst/>
          </a:prstGeom>
          <a:noFill/>
        </p:spPr>
        <p:txBody>
          <a:bodyPr wrap="square" lIns="0" rIns="0" tIns="0" bIns="0" anchor="t">
            <a:spAutoFit/>
          </a:bodyPr>
          <a:lstStyle/>
          <a:p>
            <a:pPr algn="l"/>
            <a:r>
              <a:rPr sz="1250" b="0" i="0">
                <a:solidFill>
                  <a:srgbClr val="475569"/>
                </a:solidFill>
                <a:latin typeface="Segoe UI"/>
              </a:rPr>
              <a:t>Recuperación, datos en las fichas, sin links, largo</a:t>
            </a:r>
          </a:p>
        </p:txBody>
      </p:sp>
      <p:cxnSp>
        <p:nvCxnSpPr>
          <p:cNvPr id="23" name="Connector 22"/>
          <p:cNvCxnSpPr/>
          <p:nvPr/>
        </p:nvCxnSpPr>
        <p:spPr>
          <a:xfrm>
            <a:off x="8759952" y="2807208"/>
            <a:ext cx="265176" cy="0"/>
          </a:xfrm>
          <a:prstGeom prst="line">
            <a:avLst/>
          </a:prstGeom>
          <a:ln w="28575">
            <a:solidFill>
              <a:srgbClr val="0E9F8E"/>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52560" y="1737360"/>
            <a:ext cx="2514600" cy="2148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9326880" y="19659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Picture 25" descr="libros.png"/>
          <p:cNvPicPr>
            <a:picLocks noChangeAspect="1"/>
          </p:cNvPicPr>
          <p:nvPr/>
        </p:nvPicPr>
        <p:blipFill>
          <a:blip r:embed="rId6"/>
          <a:stretch>
            <a:fillRect/>
          </a:stretch>
        </p:blipFill>
        <p:spPr>
          <a:xfrm>
            <a:off x="9436608" y="2075688"/>
            <a:ext cx="329184" cy="329184"/>
          </a:xfrm>
          <a:prstGeom prst="rect">
            <a:avLst/>
          </a:prstGeom>
        </p:spPr>
      </p:pic>
      <p:sp>
        <p:nvSpPr>
          <p:cNvPr id="27" name="TextBox 26"/>
          <p:cNvSpPr txBox="1"/>
          <p:nvPr/>
        </p:nvSpPr>
        <p:spPr>
          <a:xfrm>
            <a:off x="9326880" y="2697480"/>
            <a:ext cx="2057400" cy="365760"/>
          </a:xfrm>
          <a:prstGeom prst="rect">
            <a:avLst/>
          </a:prstGeom>
          <a:noFill/>
        </p:spPr>
        <p:txBody>
          <a:bodyPr wrap="square" lIns="0" rIns="0" tIns="0" bIns="0" anchor="t">
            <a:spAutoFit/>
          </a:bodyPr>
          <a:lstStyle/>
          <a:p>
            <a:pPr algn="l"/>
            <a:r>
              <a:rPr sz="1600" b="0" i="0">
                <a:solidFill>
                  <a:srgbClr val="0B1F3A"/>
                </a:solidFill>
                <a:latin typeface="Segoe UI Semibold"/>
              </a:rPr>
              <a:t>Dataset final</a:t>
            </a:r>
          </a:p>
        </p:txBody>
      </p:sp>
      <p:sp>
        <p:nvSpPr>
          <p:cNvPr id="28" name="TextBox 27"/>
          <p:cNvSpPr txBox="1"/>
          <p:nvPr/>
        </p:nvSpPr>
        <p:spPr>
          <a:xfrm>
            <a:off x="9326880" y="3090672"/>
            <a:ext cx="2057400" cy="731520"/>
          </a:xfrm>
          <a:prstGeom prst="rect">
            <a:avLst/>
          </a:prstGeom>
          <a:noFill/>
        </p:spPr>
        <p:txBody>
          <a:bodyPr wrap="square" lIns="0" rIns="0" tIns="0" bIns="0" anchor="t">
            <a:spAutoFit/>
          </a:bodyPr>
          <a:lstStyle/>
          <a:p>
            <a:pPr algn="l"/>
            <a:r>
              <a:rPr sz="1250" b="0" i="0">
                <a:solidFill>
                  <a:srgbClr val="475569"/>
                </a:solidFill>
                <a:latin typeface="Segoe UI"/>
              </a:rPr>
              <a:t>567 conversaciones en dataset_EconData.jsonl</a:t>
            </a:r>
          </a:p>
        </p:txBody>
      </p:sp>
      <p:sp>
        <p:nvSpPr>
          <p:cNvPr id="29" name="Rounded Rectangle 28"/>
          <p:cNvSpPr/>
          <p:nvPr/>
        </p:nvSpPr>
        <p:spPr>
          <a:xfrm>
            <a:off x="548640" y="4160520"/>
            <a:ext cx="11064240" cy="1965960"/>
          </a:xfrm>
          <a:prstGeom prst="roundRect">
            <a:avLst>
              <a:gd name="adj" fmla="val 6000"/>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68680" y="4343400"/>
            <a:ext cx="5486400" cy="365760"/>
          </a:xfrm>
          <a:prstGeom prst="rect">
            <a:avLst/>
          </a:prstGeom>
          <a:noFill/>
        </p:spPr>
        <p:txBody>
          <a:bodyPr wrap="square" lIns="0" rIns="0" tIns="0" bIns="0" anchor="t">
            <a:spAutoFit/>
          </a:bodyPr>
          <a:lstStyle/>
          <a:p>
            <a:pPr algn="l"/>
            <a:r>
              <a:rPr sz="1700" b="0" i="0">
                <a:solidFill>
                  <a:srgbClr val="FFFFFF"/>
                </a:solidFill>
                <a:latin typeface="Segoe UI Semibold"/>
              </a:rPr>
              <a:t>Las 4 verificaciones automáticas</a:t>
            </a:r>
          </a:p>
        </p:txBody>
      </p:sp>
      <p:sp>
        <p:nvSpPr>
          <p:cNvPr id="31" name="Rounded Rectangle 30"/>
          <p:cNvSpPr/>
          <p:nvPr/>
        </p:nvSpPr>
        <p:spPr>
          <a:xfrm>
            <a:off x="868680" y="4892040"/>
            <a:ext cx="411480" cy="4114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Picture 31" descr="check.png"/>
          <p:cNvPicPr>
            <a:picLocks noChangeAspect="1"/>
          </p:cNvPicPr>
          <p:nvPr/>
        </p:nvPicPr>
        <p:blipFill>
          <a:blip r:embed="rId7"/>
          <a:stretch>
            <a:fillRect/>
          </a:stretch>
        </p:blipFill>
        <p:spPr>
          <a:xfrm>
            <a:off x="950976" y="4974336"/>
            <a:ext cx="246888" cy="246888"/>
          </a:xfrm>
          <a:prstGeom prst="rect">
            <a:avLst/>
          </a:prstGeom>
        </p:spPr>
      </p:pic>
      <p:sp>
        <p:nvSpPr>
          <p:cNvPr id="33" name="TextBox 32"/>
          <p:cNvSpPr txBox="1"/>
          <p:nvPr/>
        </p:nvSpPr>
        <p:spPr>
          <a:xfrm>
            <a:off x="1417319" y="4846320"/>
            <a:ext cx="2057400" cy="320040"/>
          </a:xfrm>
          <a:prstGeom prst="rect">
            <a:avLst/>
          </a:prstGeom>
          <a:noFill/>
        </p:spPr>
        <p:txBody>
          <a:bodyPr wrap="square" lIns="0" rIns="0" tIns="0" bIns="0" anchor="t">
            <a:spAutoFit/>
          </a:bodyPr>
          <a:lstStyle/>
          <a:p>
            <a:pPr algn="l"/>
            <a:r>
              <a:rPr sz="1400" b="0" i="0">
                <a:solidFill>
                  <a:srgbClr val="FFFFFF"/>
                </a:solidFill>
                <a:latin typeface="Segoe UI Semibold"/>
              </a:rPr>
              <a:t>Recuperación</a:t>
            </a:r>
          </a:p>
        </p:txBody>
      </p:sp>
      <p:sp>
        <p:nvSpPr>
          <p:cNvPr id="34" name="TextBox 33"/>
          <p:cNvSpPr txBox="1"/>
          <p:nvPr/>
        </p:nvSpPr>
        <p:spPr>
          <a:xfrm>
            <a:off x="1417319" y="5166360"/>
            <a:ext cx="2057400" cy="777240"/>
          </a:xfrm>
          <a:prstGeom prst="rect">
            <a:avLst/>
          </a:prstGeom>
          <a:noFill/>
        </p:spPr>
        <p:txBody>
          <a:bodyPr wrap="square" lIns="0" rIns="0" tIns="0" bIns="0" anchor="t">
            <a:spAutoFit/>
          </a:bodyPr>
          <a:lstStyle/>
          <a:p>
            <a:pPr algn="l"/>
            <a:r>
              <a:rPr sz="1200" b="0" i="0">
                <a:solidFill>
                  <a:srgbClr val="CBD5E1"/>
                </a:solidFill>
                <a:latin typeface="Segoe UI"/>
              </a:rPr>
              <a:t>las bases esperadas, o ninguna en saludos</a:t>
            </a:r>
          </a:p>
        </p:txBody>
      </p:sp>
      <p:sp>
        <p:nvSpPr>
          <p:cNvPr id="35" name="Rounded Rectangle 34"/>
          <p:cNvSpPr/>
          <p:nvPr/>
        </p:nvSpPr>
        <p:spPr>
          <a:xfrm>
            <a:off x="3566160" y="4892040"/>
            <a:ext cx="411480" cy="4114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6" name="Picture 35" descr="check.png"/>
          <p:cNvPicPr>
            <a:picLocks noChangeAspect="1"/>
          </p:cNvPicPr>
          <p:nvPr/>
        </p:nvPicPr>
        <p:blipFill>
          <a:blip r:embed="rId7"/>
          <a:stretch>
            <a:fillRect/>
          </a:stretch>
        </p:blipFill>
        <p:spPr>
          <a:xfrm>
            <a:off x="3648456" y="4974336"/>
            <a:ext cx="246888" cy="246888"/>
          </a:xfrm>
          <a:prstGeom prst="rect">
            <a:avLst/>
          </a:prstGeom>
        </p:spPr>
      </p:pic>
      <p:sp>
        <p:nvSpPr>
          <p:cNvPr id="37" name="TextBox 36"/>
          <p:cNvSpPr txBox="1"/>
          <p:nvPr/>
        </p:nvSpPr>
        <p:spPr>
          <a:xfrm>
            <a:off x="4114800" y="4846320"/>
            <a:ext cx="2057400" cy="320040"/>
          </a:xfrm>
          <a:prstGeom prst="rect">
            <a:avLst/>
          </a:prstGeom>
          <a:noFill/>
        </p:spPr>
        <p:txBody>
          <a:bodyPr wrap="square" lIns="0" rIns="0" tIns="0" bIns="0" anchor="t">
            <a:spAutoFit/>
          </a:bodyPr>
          <a:lstStyle/>
          <a:p>
            <a:pPr algn="l"/>
            <a:r>
              <a:rPr sz="1400" b="0" i="0">
                <a:solidFill>
                  <a:srgbClr val="FFFFFF"/>
                </a:solidFill>
                <a:latin typeface="Segoe UI Semibold"/>
              </a:rPr>
              <a:t>Grounding</a:t>
            </a:r>
          </a:p>
        </p:txBody>
      </p:sp>
      <p:sp>
        <p:nvSpPr>
          <p:cNvPr id="38" name="TextBox 37"/>
          <p:cNvSpPr txBox="1"/>
          <p:nvPr/>
        </p:nvSpPr>
        <p:spPr>
          <a:xfrm>
            <a:off x="4114800" y="5166360"/>
            <a:ext cx="2057400" cy="777240"/>
          </a:xfrm>
          <a:prstGeom prst="rect">
            <a:avLst/>
          </a:prstGeom>
          <a:noFill/>
        </p:spPr>
        <p:txBody>
          <a:bodyPr wrap="square" lIns="0" rIns="0" tIns="0" bIns="0" anchor="t">
            <a:spAutoFit/>
          </a:bodyPr>
          <a:lstStyle/>
          <a:p>
            <a:pPr algn="l"/>
            <a:r>
              <a:rPr sz="1200" b="0" i="0">
                <a:solidFill>
                  <a:srgbClr val="CBD5E1"/>
                </a:solidFill>
                <a:latin typeface="Segoe UI"/>
              </a:rPr>
              <a:t>cada número, sigla y variable está en las fichas</a:t>
            </a:r>
          </a:p>
        </p:txBody>
      </p:sp>
      <p:sp>
        <p:nvSpPr>
          <p:cNvPr id="39" name="Rounded Rectangle 38"/>
          <p:cNvSpPr/>
          <p:nvPr/>
        </p:nvSpPr>
        <p:spPr>
          <a:xfrm>
            <a:off x="6263640" y="4892040"/>
            <a:ext cx="411480" cy="4114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0" name="Picture 39" descr="check.png"/>
          <p:cNvPicPr>
            <a:picLocks noChangeAspect="1"/>
          </p:cNvPicPr>
          <p:nvPr/>
        </p:nvPicPr>
        <p:blipFill>
          <a:blip r:embed="rId7"/>
          <a:stretch>
            <a:fillRect/>
          </a:stretch>
        </p:blipFill>
        <p:spPr>
          <a:xfrm>
            <a:off x="6345936" y="4974336"/>
            <a:ext cx="246888" cy="246888"/>
          </a:xfrm>
          <a:prstGeom prst="rect">
            <a:avLst/>
          </a:prstGeom>
        </p:spPr>
      </p:pic>
      <p:sp>
        <p:nvSpPr>
          <p:cNvPr id="41" name="TextBox 40"/>
          <p:cNvSpPr txBox="1"/>
          <p:nvPr/>
        </p:nvSpPr>
        <p:spPr>
          <a:xfrm>
            <a:off x="6812280" y="4846320"/>
            <a:ext cx="2057400" cy="320040"/>
          </a:xfrm>
          <a:prstGeom prst="rect">
            <a:avLst/>
          </a:prstGeom>
          <a:noFill/>
        </p:spPr>
        <p:txBody>
          <a:bodyPr wrap="square" lIns="0" rIns="0" tIns="0" bIns="0" anchor="t">
            <a:spAutoFit/>
          </a:bodyPr>
          <a:lstStyle/>
          <a:p>
            <a:pPr algn="l"/>
            <a:r>
              <a:rPr sz="1400" b="0" i="0">
                <a:solidFill>
                  <a:srgbClr val="FFFFFF"/>
                </a:solidFill>
                <a:latin typeface="Segoe UI Semibold"/>
              </a:rPr>
              <a:t>Sin links</a:t>
            </a:r>
          </a:p>
        </p:txBody>
      </p:sp>
      <p:sp>
        <p:nvSpPr>
          <p:cNvPr id="42" name="TextBox 41"/>
          <p:cNvSpPr txBox="1"/>
          <p:nvPr/>
        </p:nvSpPr>
        <p:spPr>
          <a:xfrm>
            <a:off x="6812280" y="5166360"/>
            <a:ext cx="2057400" cy="777240"/>
          </a:xfrm>
          <a:prstGeom prst="rect">
            <a:avLst/>
          </a:prstGeom>
          <a:noFill/>
        </p:spPr>
        <p:txBody>
          <a:bodyPr wrap="square" lIns="0" rIns="0" tIns="0" bIns="0" anchor="t">
            <a:spAutoFit/>
          </a:bodyPr>
          <a:lstStyle/>
          <a:p>
            <a:pPr algn="l"/>
            <a:r>
              <a:rPr sz="1200" b="0" i="0">
                <a:solidFill>
                  <a:srgbClr val="CBD5E1"/>
                </a:solidFill>
                <a:latin typeface="Segoe UI"/>
              </a:rPr>
              <a:t>el asistente nunca escribe URLs</a:t>
            </a:r>
          </a:p>
        </p:txBody>
      </p:sp>
      <p:sp>
        <p:nvSpPr>
          <p:cNvPr id="43" name="Rounded Rectangle 42"/>
          <p:cNvSpPr/>
          <p:nvPr/>
        </p:nvSpPr>
        <p:spPr>
          <a:xfrm>
            <a:off x="8961120" y="4892040"/>
            <a:ext cx="411480" cy="41148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Picture 43" descr="check.png"/>
          <p:cNvPicPr>
            <a:picLocks noChangeAspect="1"/>
          </p:cNvPicPr>
          <p:nvPr/>
        </p:nvPicPr>
        <p:blipFill>
          <a:blip r:embed="rId7"/>
          <a:stretch>
            <a:fillRect/>
          </a:stretch>
        </p:blipFill>
        <p:spPr>
          <a:xfrm>
            <a:off x="9043416" y="4974336"/>
            <a:ext cx="246888" cy="246888"/>
          </a:xfrm>
          <a:prstGeom prst="rect">
            <a:avLst/>
          </a:prstGeom>
        </p:spPr>
      </p:pic>
      <p:sp>
        <p:nvSpPr>
          <p:cNvPr id="45" name="TextBox 44"/>
          <p:cNvSpPr txBox="1"/>
          <p:nvPr/>
        </p:nvSpPr>
        <p:spPr>
          <a:xfrm>
            <a:off x="9509760" y="4846320"/>
            <a:ext cx="2057400" cy="320040"/>
          </a:xfrm>
          <a:prstGeom prst="rect">
            <a:avLst/>
          </a:prstGeom>
          <a:noFill/>
        </p:spPr>
        <p:txBody>
          <a:bodyPr wrap="square" lIns="0" rIns="0" tIns="0" bIns="0" anchor="t">
            <a:spAutoFit/>
          </a:bodyPr>
          <a:lstStyle/>
          <a:p>
            <a:pPr algn="l"/>
            <a:r>
              <a:rPr sz="1400" b="0" i="0">
                <a:solidFill>
                  <a:srgbClr val="FFFFFF"/>
                </a:solidFill>
                <a:latin typeface="Segoe UI Semibold"/>
              </a:rPr>
              <a:t>Largo</a:t>
            </a:r>
          </a:p>
        </p:txBody>
      </p:sp>
      <p:sp>
        <p:nvSpPr>
          <p:cNvPr id="46" name="TextBox 45"/>
          <p:cNvSpPr txBox="1"/>
          <p:nvPr/>
        </p:nvSpPr>
        <p:spPr>
          <a:xfrm>
            <a:off x="9509760" y="5166360"/>
            <a:ext cx="2057400" cy="777240"/>
          </a:xfrm>
          <a:prstGeom prst="rect">
            <a:avLst/>
          </a:prstGeom>
          <a:noFill/>
        </p:spPr>
        <p:txBody>
          <a:bodyPr wrap="square" lIns="0" rIns="0" tIns="0" bIns="0" anchor="t">
            <a:spAutoFit/>
          </a:bodyPr>
          <a:lstStyle/>
          <a:p>
            <a:pPr algn="l"/>
            <a:r>
              <a:rPr sz="1200" b="0" i="0">
                <a:solidFill>
                  <a:srgbClr val="CBD5E1"/>
                </a:solidFill>
                <a:latin typeface="Segoe UI"/>
              </a:rPr>
              <a:t>cabe en 2560 tokens de entrenamiento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05 · DATASET</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Composición del dataset: 567 conversaciones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25</a:t>
            </a:r>
          </a:p>
        </p:txBody>
      </p:sp>
      <p:graphicFrame>
        <p:nvGraphicFramePr>
          <p:cNvPr id="6" name="Chart 5"/>
          <p:cNvGraphicFramePr>
            <a:graphicFrameLocks noGrp="1"/>
          </p:cNvGraphicFramePr>
          <p:nvPr/>
        </p:nvGraphicFramePr>
        <p:xfrm>
          <a:off x="548640" y="1645920"/>
          <a:ext cx="6766560" cy="4572000"/>
        </p:xfrm>
        <a:graphic>
          <a:graphicData uri="http://schemas.openxmlformats.org/drawingml/2006/chart">
            <c:chart xmlns:c="http://schemas.openxmlformats.org/drawingml/2006/chart" r:id="rId3"/>
          </a:graphicData>
        </a:graphic>
      </p:graphicFrame>
      <p:sp>
        <p:nvSpPr>
          <p:cNvPr id="7" name="Rounded Rectangle 6"/>
          <p:cNvSpPr/>
          <p:nvPr/>
        </p:nvSpPr>
        <p:spPr>
          <a:xfrm>
            <a:off x="7680960" y="1691640"/>
            <a:ext cx="3931920" cy="9601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909560" y="1691640"/>
            <a:ext cx="1280160" cy="960120"/>
          </a:xfrm>
          <a:prstGeom prst="rect">
            <a:avLst/>
          </a:prstGeom>
          <a:noFill/>
        </p:spPr>
        <p:txBody>
          <a:bodyPr wrap="square" lIns="0" rIns="0" tIns="0" bIns="0" anchor="ctr">
            <a:spAutoFit/>
          </a:bodyPr>
          <a:lstStyle/>
          <a:p>
            <a:pPr algn="l"/>
            <a:r>
              <a:rPr sz="3000" b="0" i="0">
                <a:solidFill>
                  <a:srgbClr val="0E9F8E"/>
                </a:solidFill>
                <a:latin typeface="Segoe UI Semibold"/>
              </a:rPr>
              <a:t>567</a:t>
            </a:r>
          </a:p>
        </p:txBody>
      </p:sp>
      <p:sp>
        <p:nvSpPr>
          <p:cNvPr id="9" name="TextBox 8"/>
          <p:cNvSpPr txBox="1"/>
          <p:nvPr/>
        </p:nvSpPr>
        <p:spPr>
          <a:xfrm>
            <a:off x="9189720" y="1691640"/>
            <a:ext cx="2286000" cy="960120"/>
          </a:xfrm>
          <a:prstGeom prst="rect">
            <a:avLst/>
          </a:prstGeom>
          <a:noFill/>
        </p:spPr>
        <p:txBody>
          <a:bodyPr wrap="square" lIns="0" rIns="0" tIns="0" bIns="0" anchor="ctr">
            <a:spAutoFit/>
          </a:bodyPr>
          <a:lstStyle/>
          <a:p>
            <a:pPr algn="l"/>
            <a:r>
              <a:rPr sz="1300" b="0" i="0">
                <a:solidFill>
                  <a:srgbClr val="1E293B"/>
                </a:solidFill>
                <a:latin typeface="Segoe UI"/>
              </a:rPr>
              <a:t>conversaciones en total</a:t>
            </a:r>
          </a:p>
        </p:txBody>
      </p:sp>
      <p:sp>
        <p:nvSpPr>
          <p:cNvPr id="10" name="Rounded Rectangle 9"/>
          <p:cNvSpPr/>
          <p:nvPr/>
        </p:nvSpPr>
        <p:spPr>
          <a:xfrm>
            <a:off x="7680960" y="2807208"/>
            <a:ext cx="3931920" cy="9601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909560" y="2807208"/>
            <a:ext cx="1280160" cy="960120"/>
          </a:xfrm>
          <a:prstGeom prst="rect">
            <a:avLst/>
          </a:prstGeom>
          <a:noFill/>
        </p:spPr>
        <p:txBody>
          <a:bodyPr wrap="square" lIns="0" rIns="0" tIns="0" bIns="0" anchor="ctr">
            <a:spAutoFit/>
          </a:bodyPr>
          <a:lstStyle/>
          <a:p>
            <a:pPr algn="l"/>
            <a:r>
              <a:rPr sz="3000" b="0" i="0">
                <a:solidFill>
                  <a:srgbClr val="0E9F8E"/>
                </a:solidFill>
                <a:latin typeface="Segoe UI Semibold"/>
              </a:rPr>
              <a:t>300</a:t>
            </a:r>
          </a:p>
        </p:txBody>
      </p:sp>
      <p:sp>
        <p:nvSpPr>
          <p:cNvPr id="12" name="TextBox 11"/>
          <p:cNvSpPr txBox="1"/>
          <p:nvPr/>
        </p:nvSpPr>
        <p:spPr>
          <a:xfrm>
            <a:off x="9189720" y="2807208"/>
            <a:ext cx="2286000" cy="960120"/>
          </a:xfrm>
          <a:prstGeom prst="rect">
            <a:avLst/>
          </a:prstGeom>
          <a:noFill/>
        </p:spPr>
        <p:txBody>
          <a:bodyPr wrap="square" lIns="0" rIns="0" tIns="0" bIns="0" anchor="ctr">
            <a:spAutoFit/>
          </a:bodyPr>
          <a:lstStyle/>
          <a:p>
            <a:pPr algn="l"/>
            <a:r>
              <a:rPr sz="1300" b="0" i="0">
                <a:solidFill>
                  <a:srgbClr val="1E293B"/>
                </a:solidFill>
                <a:latin typeface="Segoe UI"/>
              </a:rPr>
              <a:t>nuevas en formato RAG</a:t>
            </a:r>
          </a:p>
        </p:txBody>
      </p:sp>
      <p:sp>
        <p:nvSpPr>
          <p:cNvPr id="13" name="Rounded Rectangle 12"/>
          <p:cNvSpPr/>
          <p:nvPr/>
        </p:nvSpPr>
        <p:spPr>
          <a:xfrm>
            <a:off x="7680960" y="3922776"/>
            <a:ext cx="3931920" cy="9601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909560" y="3922776"/>
            <a:ext cx="1280160" cy="960120"/>
          </a:xfrm>
          <a:prstGeom prst="rect">
            <a:avLst/>
          </a:prstGeom>
          <a:noFill/>
        </p:spPr>
        <p:txBody>
          <a:bodyPr wrap="square" lIns="0" rIns="0" tIns="0" bIns="0" anchor="ctr">
            <a:spAutoFit/>
          </a:bodyPr>
          <a:lstStyle/>
          <a:p>
            <a:pPr algn="l"/>
            <a:r>
              <a:rPr sz="3000" b="0" i="0">
                <a:solidFill>
                  <a:srgbClr val="F59E0B"/>
                </a:solidFill>
                <a:latin typeface="Segoe UI Semibold"/>
              </a:rPr>
              <a:t>123</a:t>
            </a:r>
          </a:p>
        </p:txBody>
      </p:sp>
      <p:sp>
        <p:nvSpPr>
          <p:cNvPr id="15" name="TextBox 14"/>
          <p:cNvSpPr txBox="1"/>
          <p:nvPr/>
        </p:nvSpPr>
        <p:spPr>
          <a:xfrm>
            <a:off x="9189720" y="3922776"/>
            <a:ext cx="2286000" cy="960120"/>
          </a:xfrm>
          <a:prstGeom prst="rect">
            <a:avLst/>
          </a:prstGeom>
          <a:noFill/>
        </p:spPr>
        <p:txBody>
          <a:bodyPr wrap="square" lIns="0" rIns="0" tIns="0" bIns="0" anchor="ctr">
            <a:spAutoFit/>
          </a:bodyPr>
          <a:lstStyle/>
          <a:p>
            <a:pPr algn="l"/>
            <a:r>
              <a:rPr sz="1300" b="0" i="0">
                <a:solidFill>
                  <a:srgbClr val="1E293B"/>
                </a:solidFill>
                <a:latin typeface="Segoe UI"/>
              </a:rPr>
              <a:t>sin fichas: responden sin links</a:t>
            </a:r>
          </a:p>
        </p:txBody>
      </p:sp>
      <p:sp>
        <p:nvSpPr>
          <p:cNvPr id="16" name="Rounded Rectangle 15"/>
          <p:cNvSpPr/>
          <p:nvPr/>
        </p:nvSpPr>
        <p:spPr>
          <a:xfrm>
            <a:off x="7680960" y="5038344"/>
            <a:ext cx="3931920" cy="96012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909560" y="5038344"/>
            <a:ext cx="1280160" cy="960120"/>
          </a:xfrm>
          <a:prstGeom prst="rect">
            <a:avLst/>
          </a:prstGeom>
          <a:noFill/>
        </p:spPr>
        <p:txBody>
          <a:bodyPr wrap="square" lIns="0" rIns="0" tIns="0" bIns="0" anchor="ctr">
            <a:spAutoFit/>
          </a:bodyPr>
          <a:lstStyle/>
          <a:p>
            <a:pPr algn="l"/>
            <a:r>
              <a:rPr sz="3000" b="0" i="0">
                <a:solidFill>
                  <a:srgbClr val="F59E0B"/>
                </a:solidFill>
                <a:latin typeface="Segoe UI Semibold"/>
              </a:rPr>
              <a:t>0</a:t>
            </a:r>
          </a:p>
        </p:txBody>
      </p:sp>
      <p:sp>
        <p:nvSpPr>
          <p:cNvPr id="18" name="TextBox 17"/>
          <p:cNvSpPr txBox="1"/>
          <p:nvPr/>
        </p:nvSpPr>
        <p:spPr>
          <a:xfrm>
            <a:off x="9189720" y="5038344"/>
            <a:ext cx="2286000" cy="960120"/>
          </a:xfrm>
          <a:prstGeom prst="rect">
            <a:avLst/>
          </a:prstGeom>
          <a:noFill/>
        </p:spPr>
        <p:txBody>
          <a:bodyPr wrap="square" lIns="0" rIns="0" tIns="0" bIns="0" anchor="ctr">
            <a:spAutoFit/>
          </a:bodyPr>
          <a:lstStyle/>
          <a:p>
            <a:pPr algn="l"/>
            <a:r>
              <a:rPr sz="1300" b="0" i="0">
                <a:solidFill>
                  <a:srgbClr val="1E293B"/>
                </a:solidFill>
                <a:latin typeface="Segoe UI"/>
              </a:rPr>
              <a:t>respuestas con links o datos inventados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06 · DESPLIEGUE</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Todo corre en local: privacidad y costo cero de API</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26</a:t>
            </a:r>
          </a:p>
        </p:txBody>
      </p:sp>
      <p:sp>
        <p:nvSpPr>
          <p:cNvPr id="6" name="Rounded Rectangle 5"/>
          <p:cNvSpPr/>
          <p:nvPr/>
        </p:nvSpPr>
        <p:spPr>
          <a:xfrm>
            <a:off x="548640" y="1691640"/>
            <a:ext cx="6035040" cy="4434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68680" y="1874519"/>
            <a:ext cx="5486400" cy="365760"/>
          </a:xfrm>
          <a:prstGeom prst="rect">
            <a:avLst/>
          </a:prstGeom>
          <a:noFill/>
        </p:spPr>
        <p:txBody>
          <a:bodyPr wrap="square" lIns="0" rIns="0" tIns="0" bIns="0" anchor="t">
            <a:spAutoFit/>
          </a:bodyPr>
          <a:lstStyle/>
          <a:p>
            <a:pPr algn="l"/>
            <a:r>
              <a:rPr sz="1700" b="0" i="0">
                <a:solidFill>
                  <a:srgbClr val="0B1F3A"/>
                </a:solidFill>
                <a:latin typeface="Segoe UI Semibold"/>
              </a:rPr>
              <a:t>Una laptop, todo el sistema</a:t>
            </a:r>
          </a:p>
        </p:txBody>
      </p:sp>
      <p:sp>
        <p:nvSpPr>
          <p:cNvPr id="8" name="Rounded Rectangle 7"/>
          <p:cNvSpPr/>
          <p:nvPr/>
        </p:nvSpPr>
        <p:spPr>
          <a:xfrm>
            <a:off x="868680" y="24231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monitor.png"/>
          <p:cNvPicPr>
            <a:picLocks noChangeAspect="1"/>
          </p:cNvPicPr>
          <p:nvPr/>
        </p:nvPicPr>
        <p:blipFill>
          <a:blip r:embed="rId3"/>
          <a:stretch>
            <a:fillRect/>
          </a:stretch>
        </p:blipFill>
        <p:spPr>
          <a:xfrm>
            <a:off x="978407" y="2532888"/>
            <a:ext cx="329184" cy="329184"/>
          </a:xfrm>
          <a:prstGeom prst="rect">
            <a:avLst/>
          </a:prstGeom>
        </p:spPr>
      </p:pic>
      <p:sp>
        <p:nvSpPr>
          <p:cNvPr id="10" name="TextBox 9"/>
          <p:cNvSpPr txBox="1"/>
          <p:nvPr/>
        </p:nvSpPr>
        <p:spPr>
          <a:xfrm>
            <a:off x="1645920" y="2404872"/>
            <a:ext cx="4754880" cy="365760"/>
          </a:xfrm>
          <a:prstGeom prst="rect">
            <a:avLst/>
          </a:prstGeom>
          <a:noFill/>
        </p:spPr>
        <p:txBody>
          <a:bodyPr wrap="square" lIns="0" rIns="0" tIns="0" bIns="0" anchor="t">
            <a:spAutoFit/>
          </a:bodyPr>
          <a:lstStyle/>
          <a:p>
            <a:pPr algn="l"/>
            <a:r>
              <a:rPr sz="1500" b="0" i="0">
                <a:solidFill>
                  <a:srgbClr val="0B1F3A"/>
                </a:solidFill>
                <a:latin typeface="Segoe UI Semibold"/>
              </a:rPr>
              <a:t>Web en Streamlit</a:t>
            </a:r>
          </a:p>
        </p:txBody>
      </p:sp>
      <p:sp>
        <p:nvSpPr>
          <p:cNvPr id="11" name="TextBox 10"/>
          <p:cNvSpPr txBox="1"/>
          <p:nvPr/>
        </p:nvSpPr>
        <p:spPr>
          <a:xfrm>
            <a:off x="1645920" y="2743200"/>
            <a:ext cx="4754880" cy="365760"/>
          </a:xfrm>
          <a:prstGeom prst="rect">
            <a:avLst/>
          </a:prstGeom>
          <a:noFill/>
        </p:spPr>
        <p:txBody>
          <a:bodyPr wrap="square" lIns="0" rIns="0" tIns="0" bIns="0" anchor="t">
            <a:spAutoFit/>
          </a:bodyPr>
          <a:lstStyle/>
          <a:p>
            <a:pPr algn="l"/>
            <a:r>
              <a:rPr sz="1250" b="0" i="0">
                <a:solidFill>
                  <a:srgbClr val="475569"/>
                </a:solidFill>
                <a:latin typeface="Segoe UI"/>
              </a:rPr>
              <a:t>streamlit run app.py · puerto 8501</a:t>
            </a:r>
          </a:p>
        </p:txBody>
      </p:sp>
      <p:sp>
        <p:nvSpPr>
          <p:cNvPr id="12" name="Rounded Rectangle 11"/>
          <p:cNvSpPr/>
          <p:nvPr/>
        </p:nvSpPr>
        <p:spPr>
          <a:xfrm>
            <a:off x="868680" y="33375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rayo.png"/>
          <p:cNvPicPr>
            <a:picLocks noChangeAspect="1"/>
          </p:cNvPicPr>
          <p:nvPr/>
        </p:nvPicPr>
        <p:blipFill>
          <a:blip r:embed="rId4"/>
          <a:stretch>
            <a:fillRect/>
          </a:stretch>
        </p:blipFill>
        <p:spPr>
          <a:xfrm>
            <a:off x="978407" y="3447288"/>
            <a:ext cx="329184" cy="329184"/>
          </a:xfrm>
          <a:prstGeom prst="rect">
            <a:avLst/>
          </a:prstGeom>
        </p:spPr>
      </p:pic>
      <p:sp>
        <p:nvSpPr>
          <p:cNvPr id="14" name="TextBox 13"/>
          <p:cNvSpPr txBox="1"/>
          <p:nvPr/>
        </p:nvSpPr>
        <p:spPr>
          <a:xfrm>
            <a:off x="1645920" y="3319272"/>
            <a:ext cx="4754880" cy="365760"/>
          </a:xfrm>
          <a:prstGeom prst="rect">
            <a:avLst/>
          </a:prstGeom>
          <a:noFill/>
        </p:spPr>
        <p:txBody>
          <a:bodyPr wrap="square" lIns="0" rIns="0" tIns="0" bIns="0" anchor="t">
            <a:spAutoFit/>
          </a:bodyPr>
          <a:lstStyle/>
          <a:p>
            <a:pPr algn="l"/>
            <a:r>
              <a:rPr sz="1500" b="0" i="0">
                <a:solidFill>
                  <a:srgbClr val="0B1F3A"/>
                </a:solidFill>
                <a:latin typeface="Segoe UI Semibold"/>
              </a:rPr>
              <a:t>Ollama</a:t>
            </a:r>
          </a:p>
        </p:txBody>
      </p:sp>
      <p:sp>
        <p:nvSpPr>
          <p:cNvPr id="15" name="TextBox 14"/>
          <p:cNvSpPr txBox="1"/>
          <p:nvPr/>
        </p:nvSpPr>
        <p:spPr>
          <a:xfrm>
            <a:off x="1645920" y="3657600"/>
            <a:ext cx="4754880" cy="365760"/>
          </a:xfrm>
          <a:prstGeom prst="rect">
            <a:avLst/>
          </a:prstGeom>
          <a:noFill/>
        </p:spPr>
        <p:txBody>
          <a:bodyPr wrap="square" lIns="0" rIns="0" tIns="0" bIns="0" anchor="t">
            <a:spAutoFit/>
          </a:bodyPr>
          <a:lstStyle/>
          <a:p>
            <a:pPr algn="l"/>
            <a:r>
              <a:rPr sz="1250" b="0" i="0">
                <a:solidFill>
                  <a:srgbClr val="475569"/>
                </a:solidFill>
                <a:latin typeface="Segoe UI"/>
              </a:rPr>
              <a:t>qwen3-embedding:4b en CPU</a:t>
            </a:r>
          </a:p>
        </p:txBody>
      </p:sp>
      <p:sp>
        <p:nvSpPr>
          <p:cNvPr id="16" name="Rounded Rectangle 15"/>
          <p:cNvSpPr/>
          <p:nvPr/>
        </p:nvSpPr>
        <p:spPr>
          <a:xfrm>
            <a:off x="868680" y="42519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libros.png"/>
          <p:cNvPicPr>
            <a:picLocks noChangeAspect="1"/>
          </p:cNvPicPr>
          <p:nvPr/>
        </p:nvPicPr>
        <p:blipFill>
          <a:blip r:embed="rId5"/>
          <a:stretch>
            <a:fillRect/>
          </a:stretch>
        </p:blipFill>
        <p:spPr>
          <a:xfrm>
            <a:off x="978407" y="4361688"/>
            <a:ext cx="329184" cy="329184"/>
          </a:xfrm>
          <a:prstGeom prst="rect">
            <a:avLst/>
          </a:prstGeom>
        </p:spPr>
      </p:pic>
      <p:sp>
        <p:nvSpPr>
          <p:cNvPr id="18" name="TextBox 17"/>
          <p:cNvSpPr txBox="1"/>
          <p:nvPr/>
        </p:nvSpPr>
        <p:spPr>
          <a:xfrm>
            <a:off x="1645920" y="4233672"/>
            <a:ext cx="4754880" cy="365760"/>
          </a:xfrm>
          <a:prstGeom prst="rect">
            <a:avLst/>
          </a:prstGeom>
          <a:noFill/>
        </p:spPr>
        <p:txBody>
          <a:bodyPr wrap="square" lIns="0" rIns="0" tIns="0" bIns="0" anchor="t">
            <a:spAutoFit/>
          </a:bodyPr>
          <a:lstStyle/>
          <a:p>
            <a:pPr algn="l"/>
            <a:r>
              <a:rPr sz="1500" b="0" i="0">
                <a:solidFill>
                  <a:srgbClr val="0B1F3A"/>
                </a:solidFill>
                <a:latin typeface="Segoe UI Semibold"/>
              </a:rPr>
              <a:t>FAISS en disco</a:t>
            </a:r>
          </a:p>
        </p:txBody>
      </p:sp>
      <p:sp>
        <p:nvSpPr>
          <p:cNvPr id="19" name="TextBox 18"/>
          <p:cNvSpPr txBox="1"/>
          <p:nvPr/>
        </p:nvSpPr>
        <p:spPr>
          <a:xfrm>
            <a:off x="1645920" y="4572000"/>
            <a:ext cx="4754880" cy="365760"/>
          </a:xfrm>
          <a:prstGeom prst="rect">
            <a:avLst/>
          </a:prstGeom>
          <a:noFill/>
        </p:spPr>
        <p:txBody>
          <a:bodyPr wrap="square" lIns="0" rIns="0" tIns="0" bIns="0" anchor="t">
            <a:spAutoFit/>
          </a:bodyPr>
          <a:lstStyle/>
          <a:p>
            <a:pPr algn="l"/>
            <a:r>
              <a:rPr sz="1250" b="0" i="0">
                <a:solidFill>
                  <a:srgbClr val="475569"/>
                </a:solidFill>
                <a:latin typeface="Segoe UI"/>
              </a:rPr>
              <a:t>data/vectorstore/faiss_index</a:t>
            </a:r>
          </a:p>
        </p:txBody>
      </p:sp>
      <p:sp>
        <p:nvSpPr>
          <p:cNvPr id="20" name="Rounded Rectangle 19"/>
          <p:cNvSpPr/>
          <p:nvPr/>
        </p:nvSpPr>
        <p:spPr>
          <a:xfrm>
            <a:off x="868680" y="5166360"/>
            <a:ext cx="548640" cy="54864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chip.png"/>
          <p:cNvPicPr>
            <a:picLocks noChangeAspect="1"/>
          </p:cNvPicPr>
          <p:nvPr/>
        </p:nvPicPr>
        <p:blipFill>
          <a:blip r:embed="rId6"/>
          <a:stretch>
            <a:fillRect/>
          </a:stretch>
        </p:blipFill>
        <p:spPr>
          <a:xfrm>
            <a:off x="978407" y="5276088"/>
            <a:ext cx="329184" cy="329184"/>
          </a:xfrm>
          <a:prstGeom prst="rect">
            <a:avLst/>
          </a:prstGeom>
        </p:spPr>
      </p:pic>
      <p:sp>
        <p:nvSpPr>
          <p:cNvPr id="22" name="TextBox 21"/>
          <p:cNvSpPr txBox="1"/>
          <p:nvPr/>
        </p:nvSpPr>
        <p:spPr>
          <a:xfrm>
            <a:off x="1645920" y="5148072"/>
            <a:ext cx="4754880" cy="365760"/>
          </a:xfrm>
          <a:prstGeom prst="rect">
            <a:avLst/>
          </a:prstGeom>
          <a:noFill/>
        </p:spPr>
        <p:txBody>
          <a:bodyPr wrap="square" lIns="0" rIns="0" tIns="0" bIns="0" anchor="t">
            <a:spAutoFit/>
          </a:bodyPr>
          <a:lstStyle/>
          <a:p>
            <a:pPr algn="l"/>
            <a:r>
              <a:rPr sz="1500" b="0" i="0">
                <a:solidFill>
                  <a:srgbClr val="0B1F3A"/>
                </a:solidFill>
                <a:latin typeface="Segoe UI Semibold"/>
              </a:rPr>
              <a:t>LLM en la GPU</a:t>
            </a:r>
          </a:p>
        </p:txBody>
      </p:sp>
      <p:sp>
        <p:nvSpPr>
          <p:cNvPr id="23" name="TextBox 22"/>
          <p:cNvSpPr txBox="1"/>
          <p:nvPr/>
        </p:nvSpPr>
        <p:spPr>
          <a:xfrm>
            <a:off x="1645920" y="5486400"/>
            <a:ext cx="4754880" cy="365760"/>
          </a:xfrm>
          <a:prstGeom prst="rect">
            <a:avLst/>
          </a:prstGeom>
          <a:noFill/>
        </p:spPr>
        <p:txBody>
          <a:bodyPr wrap="square" lIns="0" rIns="0" tIns="0" bIns="0" anchor="t">
            <a:spAutoFit/>
          </a:bodyPr>
          <a:lstStyle/>
          <a:p>
            <a:pPr algn="l"/>
            <a:r>
              <a:rPr sz="1250" b="0" i="0">
                <a:solidFill>
                  <a:srgbClr val="475569"/>
                </a:solidFill>
                <a:latin typeface="Segoe UI"/>
              </a:rPr>
              <a:t>Qwen3.5-4B fine-tuned en 4 bits</a:t>
            </a:r>
          </a:p>
        </p:txBody>
      </p:sp>
      <p:sp>
        <p:nvSpPr>
          <p:cNvPr id="24" name="Rounded Rectangle 23"/>
          <p:cNvSpPr/>
          <p:nvPr/>
        </p:nvSpPr>
        <p:spPr>
          <a:xfrm>
            <a:off x="6903720" y="1764792"/>
            <a:ext cx="502920" cy="502920"/>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candado.png"/>
          <p:cNvPicPr>
            <a:picLocks noChangeAspect="1"/>
          </p:cNvPicPr>
          <p:nvPr/>
        </p:nvPicPr>
        <p:blipFill>
          <a:blip r:embed="rId7"/>
          <a:stretch>
            <a:fillRect/>
          </a:stretch>
        </p:blipFill>
        <p:spPr>
          <a:xfrm>
            <a:off x="7004304" y="1865376"/>
            <a:ext cx="301752" cy="301752"/>
          </a:xfrm>
          <a:prstGeom prst="rect">
            <a:avLst/>
          </a:prstGeom>
        </p:spPr>
      </p:pic>
      <p:sp>
        <p:nvSpPr>
          <p:cNvPr id="26" name="TextBox 25"/>
          <p:cNvSpPr txBox="1"/>
          <p:nvPr/>
        </p:nvSpPr>
        <p:spPr>
          <a:xfrm>
            <a:off x="7635240" y="1691640"/>
            <a:ext cx="3977639" cy="365760"/>
          </a:xfrm>
          <a:prstGeom prst="rect">
            <a:avLst/>
          </a:prstGeom>
          <a:noFill/>
        </p:spPr>
        <p:txBody>
          <a:bodyPr wrap="square" lIns="0" rIns="0" tIns="0" bIns="0" anchor="t">
            <a:spAutoFit/>
          </a:bodyPr>
          <a:lstStyle/>
          <a:p>
            <a:pPr algn="l"/>
            <a:r>
              <a:rPr sz="1600" b="0" i="0">
                <a:solidFill>
                  <a:srgbClr val="0B1F3A"/>
                </a:solidFill>
                <a:latin typeface="Segoe UI Semibold"/>
              </a:rPr>
              <a:t>Privacidad</a:t>
            </a:r>
          </a:p>
        </p:txBody>
      </p:sp>
      <p:sp>
        <p:nvSpPr>
          <p:cNvPr id="27" name="TextBox 26"/>
          <p:cNvSpPr txBox="1"/>
          <p:nvPr/>
        </p:nvSpPr>
        <p:spPr>
          <a:xfrm>
            <a:off x="7635240" y="2075688"/>
            <a:ext cx="3977639" cy="640080"/>
          </a:xfrm>
          <a:prstGeom prst="rect">
            <a:avLst/>
          </a:prstGeom>
          <a:noFill/>
        </p:spPr>
        <p:txBody>
          <a:bodyPr wrap="square" lIns="0" rIns="0" tIns="0" bIns="0" anchor="t">
            <a:spAutoFit/>
          </a:bodyPr>
          <a:lstStyle/>
          <a:p>
            <a:pPr algn="l"/>
            <a:r>
              <a:rPr sz="1300" b="0" i="0">
                <a:solidFill>
                  <a:srgbClr val="475569"/>
                </a:solidFill>
                <a:latin typeface="Segoe UI"/>
              </a:rPr>
              <a:t>Las consultas y los datos no salen del equipo.</a:t>
            </a:r>
          </a:p>
        </p:txBody>
      </p:sp>
      <p:sp>
        <p:nvSpPr>
          <p:cNvPr id="28" name="Rounded Rectangle 27"/>
          <p:cNvSpPr/>
          <p:nvPr/>
        </p:nvSpPr>
        <p:spPr>
          <a:xfrm>
            <a:off x="6903720" y="2880360"/>
            <a:ext cx="502920" cy="502920"/>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velocidad.png"/>
          <p:cNvPicPr>
            <a:picLocks noChangeAspect="1"/>
          </p:cNvPicPr>
          <p:nvPr/>
        </p:nvPicPr>
        <p:blipFill>
          <a:blip r:embed="rId8"/>
          <a:stretch>
            <a:fillRect/>
          </a:stretch>
        </p:blipFill>
        <p:spPr>
          <a:xfrm>
            <a:off x="7004304" y="2980944"/>
            <a:ext cx="301752" cy="301752"/>
          </a:xfrm>
          <a:prstGeom prst="rect">
            <a:avLst/>
          </a:prstGeom>
        </p:spPr>
      </p:pic>
      <p:sp>
        <p:nvSpPr>
          <p:cNvPr id="30" name="TextBox 29"/>
          <p:cNvSpPr txBox="1"/>
          <p:nvPr/>
        </p:nvSpPr>
        <p:spPr>
          <a:xfrm>
            <a:off x="7635240" y="2807208"/>
            <a:ext cx="3977639" cy="365760"/>
          </a:xfrm>
          <a:prstGeom prst="rect">
            <a:avLst/>
          </a:prstGeom>
          <a:noFill/>
        </p:spPr>
        <p:txBody>
          <a:bodyPr wrap="square" lIns="0" rIns="0" tIns="0" bIns="0" anchor="t">
            <a:spAutoFit/>
          </a:bodyPr>
          <a:lstStyle/>
          <a:p>
            <a:pPr algn="l"/>
            <a:r>
              <a:rPr sz="1600" b="0" i="0">
                <a:solidFill>
                  <a:srgbClr val="0B1F3A"/>
                </a:solidFill>
                <a:latin typeface="Segoe UI Semibold"/>
              </a:rPr>
              <a:t>Costo cero de API</a:t>
            </a:r>
          </a:p>
        </p:txBody>
      </p:sp>
      <p:sp>
        <p:nvSpPr>
          <p:cNvPr id="31" name="TextBox 30"/>
          <p:cNvSpPr txBox="1"/>
          <p:nvPr/>
        </p:nvSpPr>
        <p:spPr>
          <a:xfrm>
            <a:off x="7635240" y="3191256"/>
            <a:ext cx="3977639" cy="640080"/>
          </a:xfrm>
          <a:prstGeom prst="rect">
            <a:avLst/>
          </a:prstGeom>
          <a:noFill/>
        </p:spPr>
        <p:txBody>
          <a:bodyPr wrap="square" lIns="0" rIns="0" tIns="0" bIns="0" anchor="t">
            <a:spAutoFit/>
          </a:bodyPr>
          <a:lstStyle/>
          <a:p>
            <a:pPr algn="l"/>
            <a:r>
              <a:rPr sz="1300" b="0" i="0">
                <a:solidFill>
                  <a:srgbClr val="475569"/>
                </a:solidFill>
                <a:latin typeface="Segoe UI"/>
              </a:rPr>
              <a:t>Modelos abiertos; sin pago por token.</a:t>
            </a:r>
          </a:p>
        </p:txBody>
      </p:sp>
      <p:sp>
        <p:nvSpPr>
          <p:cNvPr id="32" name="Rounded Rectangle 31"/>
          <p:cNvSpPr/>
          <p:nvPr/>
        </p:nvSpPr>
        <p:spPr>
          <a:xfrm>
            <a:off x="6903720" y="3995928"/>
            <a:ext cx="502920" cy="502920"/>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globo.png"/>
          <p:cNvPicPr>
            <a:picLocks noChangeAspect="1"/>
          </p:cNvPicPr>
          <p:nvPr/>
        </p:nvPicPr>
        <p:blipFill>
          <a:blip r:embed="rId9"/>
          <a:stretch>
            <a:fillRect/>
          </a:stretch>
        </p:blipFill>
        <p:spPr>
          <a:xfrm>
            <a:off x="7004304" y="4096512"/>
            <a:ext cx="301752" cy="301752"/>
          </a:xfrm>
          <a:prstGeom prst="rect">
            <a:avLst/>
          </a:prstGeom>
        </p:spPr>
      </p:pic>
      <p:sp>
        <p:nvSpPr>
          <p:cNvPr id="34" name="TextBox 33"/>
          <p:cNvSpPr txBox="1"/>
          <p:nvPr/>
        </p:nvSpPr>
        <p:spPr>
          <a:xfrm>
            <a:off x="7635240" y="3922776"/>
            <a:ext cx="3977639" cy="365760"/>
          </a:xfrm>
          <a:prstGeom prst="rect">
            <a:avLst/>
          </a:prstGeom>
          <a:noFill/>
        </p:spPr>
        <p:txBody>
          <a:bodyPr wrap="square" lIns="0" rIns="0" tIns="0" bIns="0" anchor="t">
            <a:spAutoFit/>
          </a:bodyPr>
          <a:lstStyle/>
          <a:p>
            <a:pPr algn="l"/>
            <a:r>
              <a:rPr sz="1600" b="0" i="0">
                <a:solidFill>
                  <a:srgbClr val="0B1F3A"/>
                </a:solidFill>
                <a:latin typeface="Segoe UI Semibold"/>
              </a:rPr>
              <a:t>Acceso público seguro</a:t>
            </a:r>
          </a:p>
        </p:txBody>
      </p:sp>
      <p:sp>
        <p:nvSpPr>
          <p:cNvPr id="35" name="TextBox 34"/>
          <p:cNvSpPr txBox="1"/>
          <p:nvPr/>
        </p:nvSpPr>
        <p:spPr>
          <a:xfrm>
            <a:off x="7635240" y="4306824"/>
            <a:ext cx="3977639" cy="640080"/>
          </a:xfrm>
          <a:prstGeom prst="rect">
            <a:avLst/>
          </a:prstGeom>
          <a:noFill/>
        </p:spPr>
        <p:txBody>
          <a:bodyPr wrap="square" lIns="0" rIns="0" tIns="0" bIns="0" anchor="t">
            <a:spAutoFit/>
          </a:bodyPr>
          <a:lstStyle/>
          <a:p>
            <a:pPr algn="l"/>
            <a:r>
              <a:rPr sz="1300" b="0" i="0">
                <a:solidFill>
                  <a:srgbClr val="475569"/>
                </a:solidFill>
                <a:latin typeface="Segoe UI"/>
              </a:rPr>
              <a:t>Tailscale Funnel: HTTPS y URL fija.</a:t>
            </a:r>
          </a:p>
        </p:txBody>
      </p:sp>
      <p:sp>
        <p:nvSpPr>
          <p:cNvPr id="36" name="Rounded Rectangle 35"/>
          <p:cNvSpPr/>
          <p:nvPr/>
        </p:nvSpPr>
        <p:spPr>
          <a:xfrm>
            <a:off x="6903720" y="5111496"/>
            <a:ext cx="502920" cy="502920"/>
          </a:xfrm>
          <a:prstGeom prst="roundRect">
            <a:avLst>
              <a:gd name="adj" fmla="val 22000"/>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historial.png"/>
          <p:cNvPicPr>
            <a:picLocks noChangeAspect="1"/>
          </p:cNvPicPr>
          <p:nvPr/>
        </p:nvPicPr>
        <p:blipFill>
          <a:blip r:embed="rId10"/>
          <a:stretch>
            <a:fillRect/>
          </a:stretch>
        </p:blipFill>
        <p:spPr>
          <a:xfrm>
            <a:off x="7004304" y="5212080"/>
            <a:ext cx="301752" cy="301752"/>
          </a:xfrm>
          <a:prstGeom prst="rect">
            <a:avLst/>
          </a:prstGeom>
        </p:spPr>
      </p:pic>
      <p:sp>
        <p:nvSpPr>
          <p:cNvPr id="38" name="TextBox 37"/>
          <p:cNvSpPr txBox="1"/>
          <p:nvPr/>
        </p:nvSpPr>
        <p:spPr>
          <a:xfrm>
            <a:off x="7635240" y="5038344"/>
            <a:ext cx="3977639" cy="365760"/>
          </a:xfrm>
          <a:prstGeom prst="rect">
            <a:avLst/>
          </a:prstGeom>
          <a:noFill/>
        </p:spPr>
        <p:txBody>
          <a:bodyPr wrap="square" lIns="0" rIns="0" tIns="0" bIns="0" anchor="t">
            <a:spAutoFit/>
          </a:bodyPr>
          <a:lstStyle/>
          <a:p>
            <a:pPr algn="l"/>
            <a:r>
              <a:rPr sz="1600" b="0" i="0">
                <a:solidFill>
                  <a:srgbClr val="0B1F3A"/>
                </a:solidFill>
                <a:latin typeface="Segoe UI Semibold"/>
              </a:rPr>
              <a:t>Registro de uso</a:t>
            </a:r>
          </a:p>
        </p:txBody>
      </p:sp>
      <p:sp>
        <p:nvSpPr>
          <p:cNvPr id="39" name="TextBox 38"/>
          <p:cNvSpPr txBox="1"/>
          <p:nvPr/>
        </p:nvSpPr>
        <p:spPr>
          <a:xfrm>
            <a:off x="7635240" y="5422392"/>
            <a:ext cx="3977639" cy="640080"/>
          </a:xfrm>
          <a:prstGeom prst="rect">
            <a:avLst/>
          </a:prstGeom>
          <a:noFill/>
        </p:spPr>
        <p:txBody>
          <a:bodyPr wrap="square" lIns="0" rIns="0" tIns="0" bIns="0" anchor="t">
            <a:spAutoFit/>
          </a:bodyPr>
          <a:lstStyle/>
          <a:p>
            <a:pPr algn="l"/>
            <a:r>
              <a:rPr sz="1300" b="0" i="0">
                <a:solidFill>
                  <a:srgbClr val="475569"/>
                </a:solidFill>
                <a:latin typeface="Segoe UI"/>
              </a:rPr>
              <a:t>Cada interacción queda en JSON Lines.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F3A"/>
        </a:solidFill>
        <a:effectLst/>
      </p:bgPr>
    </p:bg>
    <p:spTree>
      <p:nvGrpSpPr>
        <p:cNvPr id="1" name=""/>
        <p:cNvGrpSpPr/>
        <p:nvPr/>
      </p:nvGrpSpPr>
      <p:grpSpPr/>
      <p:pic>
        <p:nvPicPr>
          <p:cNvPr id="2" name="Picture 1" descr="fondo_portada.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148840"/>
            <a:ext cx="2743200" cy="914400"/>
          </a:xfrm>
          <a:prstGeom prst="rect">
            <a:avLst/>
          </a:prstGeom>
          <a:noFill/>
        </p:spPr>
        <p:txBody>
          <a:bodyPr wrap="square" lIns="0" rIns="0" tIns="0" bIns="0" anchor="t">
            <a:spAutoFit/>
          </a:bodyPr>
          <a:lstStyle/>
          <a:p>
            <a:pPr algn="l"/>
            <a:r>
              <a:rPr sz="6000" b="0" i="0">
                <a:solidFill>
                  <a:srgbClr val="F59E0B"/>
                </a:solidFill>
                <a:latin typeface="Segoe UI Semibold"/>
              </a:rPr>
              <a:t>07</a:t>
            </a:r>
          </a:p>
        </p:txBody>
      </p:sp>
      <p:sp>
        <p:nvSpPr>
          <p:cNvPr id="4" name="TextBox 3"/>
          <p:cNvSpPr txBox="1"/>
          <p:nvPr/>
        </p:nvSpPr>
        <p:spPr>
          <a:xfrm>
            <a:off x="822960" y="3063240"/>
            <a:ext cx="5760720" cy="914400"/>
          </a:xfrm>
          <a:prstGeom prst="rect">
            <a:avLst/>
          </a:prstGeom>
          <a:noFill/>
        </p:spPr>
        <p:txBody>
          <a:bodyPr wrap="square" lIns="0" rIns="0" tIns="0" bIns="0" anchor="t">
            <a:spAutoFit/>
          </a:bodyPr>
          <a:lstStyle/>
          <a:p>
            <a:pPr algn="l"/>
            <a:r>
              <a:rPr sz="4000" b="0" i="0">
                <a:solidFill>
                  <a:srgbClr val="FFFFFF"/>
                </a:solidFill>
                <a:latin typeface="Segoe UI Semibold"/>
              </a:rPr>
              <a:t>Demo</a:t>
            </a:r>
          </a:p>
        </p:txBody>
      </p:sp>
      <p:sp>
        <p:nvSpPr>
          <p:cNvPr id="5" name="TextBox 4"/>
          <p:cNvSpPr txBox="1"/>
          <p:nvPr/>
        </p:nvSpPr>
        <p:spPr>
          <a:xfrm>
            <a:off x="822960" y="3977639"/>
            <a:ext cx="5120640" cy="914400"/>
          </a:xfrm>
          <a:prstGeom prst="rect">
            <a:avLst/>
          </a:prstGeom>
          <a:noFill/>
        </p:spPr>
        <p:txBody>
          <a:bodyPr wrap="square" lIns="0" rIns="0" tIns="0" bIns="0" anchor="t">
            <a:spAutoFit/>
          </a:bodyPr>
          <a:lstStyle/>
          <a:p>
            <a:pPr algn="l"/>
            <a:r>
              <a:rPr sz="1800" b="0" i="0">
                <a:solidFill>
                  <a:srgbClr val="CBD5E1"/>
                </a:solidFill>
                <a:latin typeface="Segoe UI"/>
              </a:rPr>
              <a:t>El asistente en acción</a:t>
            </a:r>
          </a:p>
        </p:txBody>
      </p:sp>
      <p:sp>
        <p:nvSpPr>
          <p:cNvPr id="6" name="TextBox 5"/>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CBD5E1"/>
                </a:solidFill>
                <a:latin typeface="Segoe UI"/>
              </a:rPr>
              <a:t>Kalish Manta Analytics  ·  Roberto</a:t>
            </a:r>
          </a:p>
        </p:txBody>
      </p:sp>
      <p:sp>
        <p:nvSpPr>
          <p:cNvPr id="7" name="TextBox 6"/>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CBD5E1"/>
                </a:solidFill>
                <a:latin typeface="Segoe U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07 · DEMO</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La web de Kalish Manta Analytics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28</a:t>
            </a:r>
          </a:p>
        </p:txBody>
      </p:sp>
      <p:sp>
        <p:nvSpPr>
          <p:cNvPr id="6" name="Rounded Rectangle 5"/>
          <p:cNvSpPr/>
          <p:nvPr/>
        </p:nvSpPr>
        <p:spPr>
          <a:xfrm>
            <a:off x="548640" y="1691640"/>
            <a:ext cx="7589520" cy="4434840"/>
          </a:xfrm>
          <a:prstGeom prst="roundRect">
            <a:avLst>
              <a:gd name="adj" fmla="val 6000"/>
            </a:avLst>
          </a:prstGeom>
          <a:solidFill>
            <a:srgbClr val="F4F7FB"/>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3931920" y="2971800"/>
            <a:ext cx="822960" cy="822960"/>
          </a:xfrm>
          <a:prstGeom prst="roundRect">
            <a:avLst>
              <a:gd name="adj" fmla="val 22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monitor_teal.png"/>
          <p:cNvPicPr>
            <a:picLocks noChangeAspect="1"/>
          </p:cNvPicPr>
          <p:nvPr/>
        </p:nvPicPr>
        <p:blipFill>
          <a:blip r:embed="rId3"/>
          <a:stretch>
            <a:fillRect/>
          </a:stretch>
        </p:blipFill>
        <p:spPr>
          <a:xfrm>
            <a:off x="4096511" y="3136392"/>
            <a:ext cx="493776" cy="493776"/>
          </a:xfrm>
          <a:prstGeom prst="rect">
            <a:avLst/>
          </a:prstGeom>
        </p:spPr>
      </p:pic>
      <p:sp>
        <p:nvSpPr>
          <p:cNvPr id="9" name="TextBox 8"/>
          <p:cNvSpPr txBox="1"/>
          <p:nvPr/>
        </p:nvSpPr>
        <p:spPr>
          <a:xfrm>
            <a:off x="548640" y="3931920"/>
            <a:ext cx="7589520" cy="731520"/>
          </a:xfrm>
          <a:prstGeom prst="rect">
            <a:avLst/>
          </a:prstGeom>
          <a:noFill/>
        </p:spPr>
        <p:txBody>
          <a:bodyPr wrap="square" lIns="0" rIns="0" tIns="0" bIns="0" anchor="t">
            <a:spAutoFit/>
          </a:bodyPr>
          <a:lstStyle/>
          <a:p>
            <a:pPr algn="ctr"/>
            <a:r>
              <a:rPr sz="1600" b="0" i="0">
                <a:solidFill>
                  <a:srgbClr val="475569"/>
                </a:solidFill>
                <a:latin typeface="Segoe UI"/>
              </a:rPr>
              <a:t>Insertar aquí la captura de la web</a:t>
            </a:r>
          </a:p>
        </p:txBody>
      </p:sp>
      <p:sp>
        <p:nvSpPr>
          <p:cNvPr id="10" name="TextBox 9"/>
          <p:cNvSpPr txBox="1"/>
          <p:nvPr/>
        </p:nvSpPr>
        <p:spPr>
          <a:xfrm>
            <a:off x="8458200" y="1691640"/>
            <a:ext cx="3154680" cy="365760"/>
          </a:xfrm>
          <a:prstGeom prst="rect">
            <a:avLst/>
          </a:prstGeom>
          <a:noFill/>
        </p:spPr>
        <p:txBody>
          <a:bodyPr wrap="square" lIns="0" rIns="0" tIns="0" bIns="0" anchor="t">
            <a:spAutoFit/>
          </a:bodyPr>
          <a:lstStyle/>
          <a:p>
            <a:pPr algn="l"/>
            <a:r>
              <a:rPr sz="1700" b="0" i="0">
                <a:solidFill>
                  <a:srgbClr val="0B1F3A"/>
                </a:solidFill>
                <a:latin typeface="Segoe UI Semibold"/>
              </a:rPr>
              <a:t>Qué mostrar</a:t>
            </a:r>
          </a:p>
        </p:txBody>
      </p:sp>
      <p:sp>
        <p:nvSpPr>
          <p:cNvPr id="11" name="TextBox 10"/>
          <p:cNvSpPr txBox="1"/>
          <p:nvPr/>
        </p:nvSpPr>
        <p:spPr>
          <a:xfrm>
            <a:off x="8458200" y="2194560"/>
            <a:ext cx="3154680" cy="3931920"/>
          </a:xfrm>
          <a:prstGeom prst="rect">
            <a:avLst/>
          </a:prstGeom>
          <a:noFill/>
        </p:spPr>
        <p:txBody>
          <a:bodyPr wrap="square" lIns="0" rIns="0" tIns="0" bIns="0">
            <a:spAutoFit/>
          </a:bodyPr>
          <a:lstStyle/>
          <a:p>
            <a:pPr>
              <a:spcAft>
                <a:spcPts val="1000"/>
              </a:spcAft>
            </a:pPr>
            <a:r>
              <a:rPr sz="1400" b="1">
                <a:solidFill>
                  <a:srgbClr val="0E9F8E"/>
                </a:solidFill>
                <a:latin typeface="Segoe UI"/>
              </a:rPr>
              <a:t>•  </a:t>
            </a:r>
            <a:r>
              <a:rPr sz="1400">
                <a:solidFill>
                  <a:srgbClr val="1E293B"/>
                </a:solidFill>
                <a:latin typeface="Segoe UI"/>
              </a:rPr>
              <a:t>Consulta real con su respuesta y los links de acceso</a:t>
            </a:r>
          </a:p>
          <a:p>
            <a:pPr>
              <a:spcAft>
                <a:spcPts val="1000"/>
              </a:spcAft>
            </a:pPr>
            <a:r>
              <a:rPr sz="1400" b="1">
                <a:solidFill>
                  <a:srgbClr val="0E9F8E"/>
                </a:solidFill>
                <a:latin typeface="Segoe UI"/>
              </a:rPr>
              <a:t>•  </a:t>
            </a:r>
            <a:r>
              <a:rPr sz="1400">
                <a:solidFill>
                  <a:srgbClr val="1E293B"/>
                </a:solidFill>
                <a:latin typeface="Segoe UI"/>
              </a:rPr>
              <a:t>Saludo sin links</a:t>
            </a:r>
          </a:p>
          <a:p>
            <a:pPr>
              <a:spcAft>
                <a:spcPts val="1000"/>
              </a:spcAft>
            </a:pPr>
            <a:r>
              <a:rPr sz="1400" b="1">
                <a:solidFill>
                  <a:srgbClr val="0E9F8E"/>
                </a:solidFill>
                <a:latin typeface="Segoe UI"/>
              </a:rPr>
              <a:t>•  </a:t>
            </a:r>
            <a:r>
              <a:rPr sz="1400">
                <a:solidFill>
                  <a:srgbClr val="1E293B"/>
                </a:solidFill>
                <a:latin typeface="Segoe UI"/>
              </a:rPr>
              <a:t>Pestaña Catálogo con los títulos por tema</a:t>
            </a:r>
          </a:p>
          <a:p>
            <a:pPr>
              <a:spcAft>
                <a:spcPts val="1000"/>
              </a:spcAft>
            </a:pPr>
            <a:r>
              <a:rPr sz="1400" b="1">
                <a:solidFill>
                  <a:srgbClr val="0E9F8E"/>
                </a:solidFill>
                <a:latin typeface="Segoe UI"/>
              </a:rPr>
              <a:t>•  </a:t>
            </a:r>
            <a:r>
              <a:rPr sz="1400">
                <a:solidFill>
                  <a:srgbClr val="1E293B"/>
                </a:solidFill>
                <a:latin typeface="Segoe UI"/>
              </a:rPr>
              <a:t>Sliders: número de bases y similitud mínima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07 · ENLACES</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Repositorio y acceso a la web</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29</a:t>
            </a:r>
          </a:p>
        </p:txBody>
      </p:sp>
      <p:sp>
        <p:nvSpPr>
          <p:cNvPr id="6" name="Rounded Rectangle 5"/>
          <p:cNvSpPr/>
          <p:nvPr/>
        </p:nvSpPr>
        <p:spPr>
          <a:xfrm>
            <a:off x="548640" y="1691640"/>
            <a:ext cx="5440680" cy="4434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914400" y="2011680"/>
            <a:ext cx="685800" cy="68580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codigo.png"/>
          <p:cNvPicPr>
            <a:picLocks noChangeAspect="1"/>
          </p:cNvPicPr>
          <p:nvPr/>
        </p:nvPicPr>
        <p:blipFill>
          <a:blip r:embed="rId3"/>
          <a:stretch>
            <a:fillRect/>
          </a:stretch>
        </p:blipFill>
        <p:spPr>
          <a:xfrm>
            <a:off x="1051560" y="2148840"/>
            <a:ext cx="411479" cy="411479"/>
          </a:xfrm>
          <a:prstGeom prst="rect">
            <a:avLst/>
          </a:prstGeom>
        </p:spPr>
      </p:pic>
      <p:sp>
        <p:nvSpPr>
          <p:cNvPr id="9" name="TextBox 8"/>
          <p:cNvSpPr txBox="1"/>
          <p:nvPr/>
        </p:nvSpPr>
        <p:spPr>
          <a:xfrm>
            <a:off x="914400" y="2926080"/>
            <a:ext cx="4754880" cy="457200"/>
          </a:xfrm>
          <a:prstGeom prst="rect">
            <a:avLst/>
          </a:prstGeom>
          <a:noFill/>
        </p:spPr>
        <p:txBody>
          <a:bodyPr wrap="square" lIns="0" rIns="0" tIns="0" bIns="0" anchor="t">
            <a:spAutoFit/>
          </a:bodyPr>
          <a:lstStyle/>
          <a:p>
            <a:pPr algn="l"/>
            <a:r>
              <a:rPr sz="2000" b="0" i="0">
                <a:solidFill>
                  <a:srgbClr val="0B1F3A"/>
                </a:solidFill>
                <a:latin typeface="Segoe UI Semibold"/>
              </a:rPr>
              <a:t>Repositorio en GitHub</a:t>
            </a:r>
          </a:p>
        </p:txBody>
      </p:sp>
      <p:sp>
        <p:nvSpPr>
          <p:cNvPr id="10" name="TextBox 9"/>
          <p:cNvSpPr txBox="1"/>
          <p:nvPr/>
        </p:nvSpPr>
        <p:spPr>
          <a:xfrm>
            <a:off x="914400" y="3429000"/>
            <a:ext cx="4754880" cy="548640"/>
          </a:xfrm>
          <a:prstGeom prst="rect">
            <a:avLst/>
          </a:prstGeom>
          <a:noFill/>
        </p:spPr>
        <p:txBody>
          <a:bodyPr wrap="square" lIns="0" rIns="0" tIns="0" bIns="0" anchor="t">
            <a:spAutoFit/>
          </a:bodyPr>
          <a:lstStyle/>
          <a:p>
            <a:pPr algn="l"/>
            <a:r>
              <a:rPr sz="1400" b="0" i="0">
                <a:solidFill>
                  <a:srgbClr val="475569"/>
                </a:solidFill>
                <a:latin typeface="Segoe UI"/>
              </a:rPr>
              <a:t>Código, notebooks, datos de entrenamiento y documentación</a:t>
            </a:r>
          </a:p>
        </p:txBody>
      </p:sp>
      <p:sp>
        <p:nvSpPr>
          <p:cNvPr id="11" name="Rounded Rectangle 10"/>
          <p:cNvSpPr/>
          <p:nvPr/>
        </p:nvSpPr>
        <p:spPr>
          <a:xfrm>
            <a:off x="914400" y="4297680"/>
            <a:ext cx="4709160" cy="640080"/>
          </a:xfrm>
          <a:prstGeom prst="roundRect">
            <a:avLst>
              <a:gd name="adj" fmla="val 200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1143000" y="4297680"/>
            <a:ext cx="4297680" cy="640080"/>
          </a:xfrm>
          <a:prstGeom prst="rect">
            <a:avLst/>
          </a:prstGeom>
          <a:noFill/>
        </p:spPr>
        <p:txBody>
          <a:bodyPr wrap="square" lIns="0" rIns="0" tIns="0" bIns="0" anchor="ctr">
            <a:spAutoFit/>
          </a:bodyPr>
          <a:lstStyle/>
          <a:p>
            <a:pPr algn="l"/>
            <a:r>
              <a:rPr sz="1400" b="0" i="0">
                <a:solidFill>
                  <a:srgbClr val="0E9F8E"/>
                </a:solidFill>
                <a:latin typeface="Consolas"/>
              </a:rPr>
              <a:t>github.com/usuario/repositorio</a:t>
            </a:r>
          </a:p>
        </p:txBody>
      </p:sp>
      <p:sp>
        <p:nvSpPr>
          <p:cNvPr id="13" name="TextBox 12"/>
          <p:cNvSpPr txBox="1"/>
          <p:nvPr/>
        </p:nvSpPr>
        <p:spPr>
          <a:xfrm>
            <a:off x="914400" y="5120640"/>
            <a:ext cx="4754880" cy="457200"/>
          </a:xfrm>
          <a:prstGeom prst="rect">
            <a:avLst/>
          </a:prstGeom>
          <a:noFill/>
        </p:spPr>
        <p:txBody>
          <a:bodyPr wrap="square" lIns="0" rIns="0" tIns="0" bIns="0" anchor="t">
            <a:spAutoFit/>
          </a:bodyPr>
          <a:lstStyle/>
          <a:p>
            <a:pPr algn="l"/>
            <a:r>
              <a:rPr sz="1200" b="0" i="1">
                <a:solidFill>
                  <a:srgbClr val="475569"/>
                </a:solidFill>
                <a:latin typeface="Segoe UI"/>
              </a:rPr>
              <a:t>Reemplazar por el enlace real o un código QR</a:t>
            </a:r>
          </a:p>
        </p:txBody>
      </p:sp>
      <p:sp>
        <p:nvSpPr>
          <p:cNvPr id="14" name="Rounded Rectangle 13"/>
          <p:cNvSpPr/>
          <p:nvPr/>
        </p:nvSpPr>
        <p:spPr>
          <a:xfrm>
            <a:off x="6172200" y="1691640"/>
            <a:ext cx="5440680" cy="443484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unded Rectangle 14"/>
          <p:cNvSpPr/>
          <p:nvPr/>
        </p:nvSpPr>
        <p:spPr>
          <a:xfrm>
            <a:off x="6537960" y="2011680"/>
            <a:ext cx="685800" cy="68580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globo.png"/>
          <p:cNvPicPr>
            <a:picLocks noChangeAspect="1"/>
          </p:cNvPicPr>
          <p:nvPr/>
        </p:nvPicPr>
        <p:blipFill>
          <a:blip r:embed="rId4"/>
          <a:stretch>
            <a:fillRect/>
          </a:stretch>
        </p:blipFill>
        <p:spPr>
          <a:xfrm>
            <a:off x="6675120" y="2148840"/>
            <a:ext cx="411479" cy="411479"/>
          </a:xfrm>
          <a:prstGeom prst="rect">
            <a:avLst/>
          </a:prstGeom>
        </p:spPr>
      </p:pic>
      <p:sp>
        <p:nvSpPr>
          <p:cNvPr id="17" name="TextBox 16"/>
          <p:cNvSpPr txBox="1"/>
          <p:nvPr/>
        </p:nvSpPr>
        <p:spPr>
          <a:xfrm>
            <a:off x="6537960" y="2926080"/>
            <a:ext cx="4754880" cy="457200"/>
          </a:xfrm>
          <a:prstGeom prst="rect">
            <a:avLst/>
          </a:prstGeom>
          <a:noFill/>
        </p:spPr>
        <p:txBody>
          <a:bodyPr wrap="square" lIns="0" rIns="0" tIns="0" bIns="0" anchor="t">
            <a:spAutoFit/>
          </a:bodyPr>
          <a:lstStyle/>
          <a:p>
            <a:pPr algn="l"/>
            <a:r>
              <a:rPr sz="2000" b="0" i="0">
                <a:solidFill>
                  <a:srgbClr val="0B1F3A"/>
                </a:solidFill>
                <a:latin typeface="Segoe UI Semibold"/>
              </a:rPr>
              <a:t>Web del asistente</a:t>
            </a:r>
          </a:p>
        </p:txBody>
      </p:sp>
      <p:sp>
        <p:nvSpPr>
          <p:cNvPr id="18" name="TextBox 17"/>
          <p:cNvSpPr txBox="1"/>
          <p:nvPr/>
        </p:nvSpPr>
        <p:spPr>
          <a:xfrm>
            <a:off x="6537960" y="3429000"/>
            <a:ext cx="4754880" cy="548640"/>
          </a:xfrm>
          <a:prstGeom prst="rect">
            <a:avLst/>
          </a:prstGeom>
          <a:noFill/>
        </p:spPr>
        <p:txBody>
          <a:bodyPr wrap="square" lIns="0" rIns="0" tIns="0" bIns="0" anchor="t">
            <a:spAutoFit/>
          </a:bodyPr>
          <a:lstStyle/>
          <a:p>
            <a:pPr algn="l"/>
            <a:r>
              <a:rPr sz="1400" b="0" i="0">
                <a:solidFill>
                  <a:srgbClr val="475569"/>
                </a:solidFill>
                <a:latin typeface="Segoe UI"/>
              </a:rPr>
              <a:t>Disponible mientras la laptop está activa</a:t>
            </a:r>
          </a:p>
        </p:txBody>
      </p:sp>
      <p:sp>
        <p:nvSpPr>
          <p:cNvPr id="19" name="Rounded Rectangle 18"/>
          <p:cNvSpPr/>
          <p:nvPr/>
        </p:nvSpPr>
        <p:spPr>
          <a:xfrm>
            <a:off x="6537960" y="4297680"/>
            <a:ext cx="4709160" cy="640080"/>
          </a:xfrm>
          <a:prstGeom prst="roundRect">
            <a:avLst>
              <a:gd name="adj" fmla="val 20000"/>
            </a:avLst>
          </a:prstGeom>
          <a:solidFill>
            <a:srgbClr val="FFFFFF"/>
          </a:solidFill>
          <a:ln w="12700">
            <a:solidFill>
              <a:srgbClr val="D8E0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60" y="4297680"/>
            <a:ext cx="4297680" cy="640080"/>
          </a:xfrm>
          <a:prstGeom prst="rect">
            <a:avLst/>
          </a:prstGeom>
          <a:noFill/>
        </p:spPr>
        <p:txBody>
          <a:bodyPr wrap="square" lIns="0" rIns="0" tIns="0" bIns="0" anchor="ctr">
            <a:spAutoFit/>
          </a:bodyPr>
          <a:lstStyle/>
          <a:p>
            <a:pPr algn="l"/>
            <a:r>
              <a:rPr sz="1400" b="0" i="0">
                <a:solidFill>
                  <a:srgbClr val="0E9F8E"/>
                </a:solidFill>
                <a:latin typeface="Consolas"/>
              </a:rPr>
              <a:t>https://nombre-equipo.red.ts.net</a:t>
            </a:r>
          </a:p>
        </p:txBody>
      </p:sp>
      <p:sp>
        <p:nvSpPr>
          <p:cNvPr id="21" name="TextBox 20"/>
          <p:cNvSpPr txBox="1"/>
          <p:nvPr/>
        </p:nvSpPr>
        <p:spPr>
          <a:xfrm>
            <a:off x="6537960" y="5120640"/>
            <a:ext cx="4754880" cy="457200"/>
          </a:xfrm>
          <a:prstGeom prst="rect">
            <a:avLst/>
          </a:prstGeom>
          <a:noFill/>
        </p:spPr>
        <p:txBody>
          <a:bodyPr wrap="square" lIns="0" rIns="0" tIns="0" bIns="0" anchor="t">
            <a:spAutoFit/>
          </a:bodyPr>
          <a:lstStyle/>
          <a:p>
            <a:pPr algn="l"/>
            <a:r>
              <a:rPr sz="1200" b="0" i="1">
                <a:solidFill>
                  <a:srgbClr val="475569"/>
                </a:solidFill>
                <a:latin typeface="Segoe UI"/>
              </a:rPr>
              <a:t>Reemplazar por el enlace real o un código QR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8229600" cy="274320"/>
          </a:xfrm>
          <a:prstGeom prst="rect">
            <a:avLst/>
          </a:prstGeom>
          <a:noFill/>
        </p:spPr>
        <p:txBody>
          <a:bodyPr wrap="square" lIns="0" rIns="0" tIns="0" bIns="0" anchor="t">
            <a:spAutoFit/>
          </a:bodyPr>
          <a:lstStyle/>
          <a:p>
            <a:pPr algn="l"/>
            <a:r>
              <a:rPr sz="1200" b="1" i="0">
                <a:solidFill>
                  <a:srgbClr val="0E9F8E"/>
                </a:solidFill>
                <a:latin typeface="Segoe UI Semibold"/>
              </a:rPr>
              <a:t>08 · HOJA DE RUTA</a:t>
            </a:r>
          </a:p>
        </p:txBody>
      </p:sp>
      <p:sp>
        <p:nvSpPr>
          <p:cNvPr id="3" name="Titulo"/>
          <p:cNvSpPr txBox="1"/>
          <p:nvPr/>
        </p:nvSpPr>
        <p:spPr>
          <a:xfrm>
            <a:off x="548640" y="658368"/>
            <a:ext cx="11064240" cy="731520"/>
          </a:xfrm>
          <a:prstGeom prst="rect">
            <a:avLst/>
          </a:prstGeom>
          <a:noFill/>
        </p:spPr>
        <p:txBody>
          <a:bodyPr wrap="square" lIns="0" rIns="0" tIns="0" bIns="0" anchor="t">
            <a:spAutoFit/>
          </a:bodyPr>
          <a:lstStyle/>
          <a:p>
            <a:pPr algn="l"/>
            <a:r>
              <a:rPr sz="3000" b="0" i="0">
                <a:solidFill>
                  <a:srgbClr val="0B1F3A"/>
                </a:solidFill>
                <a:latin typeface="Segoe UI Semibold"/>
              </a:rPr>
              <a:t>Próximos pasos</a:t>
            </a:r>
          </a:p>
        </p:txBody>
      </p:sp>
      <p:sp>
        <p:nvSpPr>
          <p:cNvPr id="4" name="TextBox 3"/>
          <p:cNvSpPr txBox="1"/>
          <p:nvPr/>
        </p:nvSpPr>
        <p:spPr>
          <a:xfrm>
            <a:off x="548640" y="6419088"/>
            <a:ext cx="5486400" cy="274320"/>
          </a:xfrm>
          <a:prstGeom prst="rect">
            <a:avLst/>
          </a:prstGeom>
          <a:noFill/>
        </p:spPr>
        <p:txBody>
          <a:bodyPr wrap="square" lIns="0" rIns="0" tIns="0" bIns="0" anchor="t">
            <a:spAutoFit/>
          </a:bodyPr>
          <a:lstStyle/>
          <a:p>
            <a:pPr algn="l"/>
            <a:r>
              <a:rPr sz="1000" b="0" i="0">
                <a:solidFill>
                  <a:srgbClr val="475569"/>
                </a:solidFill>
                <a:latin typeface="Segoe UI"/>
              </a:rPr>
              <a:t>Kalish Manta Analytics  ·  Roberto</a:t>
            </a:r>
          </a:p>
        </p:txBody>
      </p:sp>
      <p:sp>
        <p:nvSpPr>
          <p:cNvPr id="5" name="TextBox 4"/>
          <p:cNvSpPr txBox="1"/>
          <p:nvPr/>
        </p:nvSpPr>
        <p:spPr>
          <a:xfrm>
            <a:off x="10725912" y="6419088"/>
            <a:ext cx="914400" cy="274320"/>
          </a:xfrm>
          <a:prstGeom prst="rect">
            <a:avLst/>
          </a:prstGeom>
          <a:noFill/>
        </p:spPr>
        <p:txBody>
          <a:bodyPr wrap="square" lIns="0" rIns="0" tIns="0" bIns="0" anchor="t">
            <a:spAutoFit/>
          </a:bodyPr>
          <a:lstStyle/>
          <a:p>
            <a:pPr algn="r"/>
            <a:r>
              <a:rPr sz="1000" b="0" i="0">
                <a:solidFill>
                  <a:srgbClr val="475569"/>
                </a:solidFill>
                <a:latin typeface="Segoe UI"/>
              </a:rPr>
              <a:t>30</a:t>
            </a:r>
          </a:p>
        </p:txBody>
      </p:sp>
      <p:sp>
        <p:nvSpPr>
          <p:cNvPr id="6" name="Rounded Rectangle 5"/>
          <p:cNvSpPr/>
          <p:nvPr/>
        </p:nvSpPr>
        <p:spPr>
          <a:xfrm>
            <a:off x="548640" y="1783080"/>
            <a:ext cx="2084831" cy="29260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20116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1</a:t>
            </a:r>
          </a:p>
        </p:txBody>
      </p:sp>
      <p:sp>
        <p:nvSpPr>
          <p:cNvPr id="8" name="Rounded Rectangle 7"/>
          <p:cNvSpPr/>
          <p:nvPr/>
        </p:nvSpPr>
        <p:spPr>
          <a:xfrm>
            <a:off x="1920240" y="1984248"/>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9" name="Picture 8" descr="diagnostico.png"/>
          <p:cNvPicPr>
            <a:picLocks noChangeAspect="1"/>
          </p:cNvPicPr>
          <p:nvPr/>
        </p:nvPicPr>
        <p:blipFill>
          <a:blip r:embed="rId3"/>
          <a:stretch>
            <a:fillRect/>
          </a:stretch>
        </p:blipFill>
        <p:spPr>
          <a:xfrm>
            <a:off x="2020824" y="2084831"/>
            <a:ext cx="301752" cy="301752"/>
          </a:xfrm>
          <a:prstGeom prst="rect">
            <a:avLst/>
          </a:prstGeom>
        </p:spPr>
      </p:pic>
      <p:sp>
        <p:nvSpPr>
          <p:cNvPr id="10" name="TextBox 9"/>
          <p:cNvSpPr txBox="1"/>
          <p:nvPr/>
        </p:nvSpPr>
        <p:spPr>
          <a:xfrm>
            <a:off x="777240" y="2743200"/>
            <a:ext cx="1737360" cy="457200"/>
          </a:xfrm>
          <a:prstGeom prst="rect">
            <a:avLst/>
          </a:prstGeom>
          <a:noFill/>
        </p:spPr>
        <p:txBody>
          <a:bodyPr wrap="square" lIns="0" rIns="0" tIns="0" bIns="0" anchor="t">
            <a:spAutoFit/>
          </a:bodyPr>
          <a:lstStyle/>
          <a:p>
            <a:pPr algn="l"/>
            <a:r>
              <a:rPr sz="1600" b="0" i="0">
                <a:solidFill>
                  <a:srgbClr val="0B1F3A"/>
                </a:solidFill>
                <a:latin typeface="Segoe UI Semibold"/>
              </a:rPr>
              <a:t>Medir</a:t>
            </a:r>
          </a:p>
        </p:txBody>
      </p:sp>
      <p:sp>
        <p:nvSpPr>
          <p:cNvPr id="11" name="TextBox 10"/>
          <p:cNvSpPr txBox="1"/>
          <p:nvPr/>
        </p:nvSpPr>
        <p:spPr>
          <a:xfrm>
            <a:off x="777240" y="3200400"/>
            <a:ext cx="1691640" cy="2103120"/>
          </a:xfrm>
          <a:prstGeom prst="rect">
            <a:avLst/>
          </a:prstGeom>
          <a:noFill/>
        </p:spPr>
        <p:txBody>
          <a:bodyPr wrap="square" lIns="0" rIns="0" tIns="0" bIns="0" anchor="t">
            <a:spAutoFit/>
          </a:bodyPr>
          <a:lstStyle/>
          <a:p>
            <a:pPr algn="l"/>
            <a:r>
              <a:rPr sz="1300" b="0" i="0">
                <a:solidFill>
                  <a:srgbClr val="475569"/>
                </a:solidFill>
                <a:latin typeface="Segoe UI"/>
              </a:rPr>
              <a:t>Set de 20 a 30 preguntas con su base esperada: hit rate y calidad de respuesta.</a:t>
            </a:r>
          </a:p>
        </p:txBody>
      </p:sp>
      <p:sp>
        <p:nvSpPr>
          <p:cNvPr id="12" name="Rounded Rectangle 11"/>
          <p:cNvSpPr/>
          <p:nvPr/>
        </p:nvSpPr>
        <p:spPr>
          <a:xfrm>
            <a:off x="2816352" y="1783080"/>
            <a:ext cx="2084831" cy="29260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3044952" y="20116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2</a:t>
            </a:r>
          </a:p>
        </p:txBody>
      </p:sp>
      <p:sp>
        <p:nvSpPr>
          <p:cNvPr id="14" name="Rounded Rectangle 13"/>
          <p:cNvSpPr/>
          <p:nvPr/>
        </p:nvSpPr>
        <p:spPr>
          <a:xfrm>
            <a:off x="4187952" y="1984248"/>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historial.png"/>
          <p:cNvPicPr>
            <a:picLocks noChangeAspect="1"/>
          </p:cNvPicPr>
          <p:nvPr/>
        </p:nvPicPr>
        <p:blipFill>
          <a:blip r:embed="rId4"/>
          <a:stretch>
            <a:fillRect/>
          </a:stretch>
        </p:blipFill>
        <p:spPr>
          <a:xfrm>
            <a:off x="4288536" y="2084831"/>
            <a:ext cx="301752" cy="301752"/>
          </a:xfrm>
          <a:prstGeom prst="rect">
            <a:avLst/>
          </a:prstGeom>
        </p:spPr>
      </p:pic>
      <p:sp>
        <p:nvSpPr>
          <p:cNvPr id="16" name="TextBox 15"/>
          <p:cNvSpPr txBox="1"/>
          <p:nvPr/>
        </p:nvSpPr>
        <p:spPr>
          <a:xfrm>
            <a:off x="3044952" y="2743200"/>
            <a:ext cx="1737360" cy="457200"/>
          </a:xfrm>
          <a:prstGeom prst="rect">
            <a:avLst/>
          </a:prstGeom>
          <a:noFill/>
        </p:spPr>
        <p:txBody>
          <a:bodyPr wrap="square" lIns="0" rIns="0" tIns="0" bIns="0" anchor="t">
            <a:spAutoFit/>
          </a:bodyPr>
          <a:lstStyle/>
          <a:p>
            <a:pPr algn="l"/>
            <a:r>
              <a:rPr sz="1600" b="0" i="0">
                <a:solidFill>
                  <a:srgbClr val="0B1F3A"/>
                </a:solidFill>
                <a:latin typeface="Segoe UI Semibold"/>
              </a:rPr>
              <a:t>Aprender del uso</a:t>
            </a:r>
          </a:p>
        </p:txBody>
      </p:sp>
      <p:sp>
        <p:nvSpPr>
          <p:cNvPr id="17" name="TextBox 16"/>
          <p:cNvSpPr txBox="1"/>
          <p:nvPr/>
        </p:nvSpPr>
        <p:spPr>
          <a:xfrm>
            <a:off x="3044952" y="3200400"/>
            <a:ext cx="1691640" cy="2103120"/>
          </a:xfrm>
          <a:prstGeom prst="rect">
            <a:avLst/>
          </a:prstGeom>
          <a:noFill/>
        </p:spPr>
        <p:txBody>
          <a:bodyPr wrap="square" lIns="0" rIns="0" tIns="0" bIns="0" anchor="t">
            <a:spAutoFit/>
          </a:bodyPr>
          <a:lstStyle/>
          <a:p>
            <a:pPr algn="l"/>
            <a:r>
              <a:rPr sz="1300" b="0" i="0">
                <a:solidFill>
                  <a:srgbClr val="475569"/>
                </a:solidFill>
                <a:latin typeface="Segoe UI"/>
              </a:rPr>
              <a:t>Analizar el registro de interacciones: preguntas frecuentes y errores.</a:t>
            </a:r>
          </a:p>
        </p:txBody>
      </p:sp>
      <p:sp>
        <p:nvSpPr>
          <p:cNvPr id="18" name="Rounded Rectangle 17"/>
          <p:cNvSpPr/>
          <p:nvPr/>
        </p:nvSpPr>
        <p:spPr>
          <a:xfrm>
            <a:off x="5084064" y="1783080"/>
            <a:ext cx="2084831" cy="29260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312664" y="20116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3</a:t>
            </a:r>
          </a:p>
        </p:txBody>
      </p:sp>
      <p:sp>
        <p:nvSpPr>
          <p:cNvPr id="20" name="Rounded Rectangle 19"/>
          <p:cNvSpPr/>
          <p:nvPr/>
        </p:nvSpPr>
        <p:spPr>
          <a:xfrm>
            <a:off x="6455664" y="1984248"/>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libros.png"/>
          <p:cNvPicPr>
            <a:picLocks noChangeAspect="1"/>
          </p:cNvPicPr>
          <p:nvPr/>
        </p:nvPicPr>
        <p:blipFill>
          <a:blip r:embed="rId5"/>
          <a:stretch>
            <a:fillRect/>
          </a:stretch>
        </p:blipFill>
        <p:spPr>
          <a:xfrm>
            <a:off x="6556248" y="2084831"/>
            <a:ext cx="301752" cy="301752"/>
          </a:xfrm>
          <a:prstGeom prst="rect">
            <a:avLst/>
          </a:prstGeom>
        </p:spPr>
      </p:pic>
      <p:sp>
        <p:nvSpPr>
          <p:cNvPr id="22" name="TextBox 21"/>
          <p:cNvSpPr txBox="1"/>
          <p:nvPr/>
        </p:nvSpPr>
        <p:spPr>
          <a:xfrm>
            <a:off x="5312664" y="2743200"/>
            <a:ext cx="1737360" cy="457200"/>
          </a:xfrm>
          <a:prstGeom prst="rect">
            <a:avLst/>
          </a:prstGeom>
          <a:noFill/>
        </p:spPr>
        <p:txBody>
          <a:bodyPr wrap="square" lIns="0" rIns="0" tIns="0" bIns="0" anchor="t">
            <a:spAutoFit/>
          </a:bodyPr>
          <a:lstStyle/>
          <a:p>
            <a:pPr algn="l"/>
            <a:r>
              <a:rPr sz="1600" b="0" i="0">
                <a:solidFill>
                  <a:srgbClr val="0B1F3A"/>
                </a:solidFill>
                <a:latin typeface="Segoe UI Semibold"/>
              </a:rPr>
              <a:t>Más bases</a:t>
            </a:r>
          </a:p>
        </p:txBody>
      </p:sp>
      <p:sp>
        <p:nvSpPr>
          <p:cNvPr id="23" name="TextBox 22"/>
          <p:cNvSpPr txBox="1"/>
          <p:nvPr/>
        </p:nvSpPr>
        <p:spPr>
          <a:xfrm>
            <a:off x="5312664" y="3200400"/>
            <a:ext cx="1691640" cy="2103120"/>
          </a:xfrm>
          <a:prstGeom prst="rect">
            <a:avLst/>
          </a:prstGeom>
          <a:noFill/>
        </p:spPr>
        <p:txBody>
          <a:bodyPr wrap="square" lIns="0" rIns="0" tIns="0" bIns="0" anchor="t">
            <a:spAutoFit/>
          </a:bodyPr>
          <a:lstStyle/>
          <a:p>
            <a:pPr algn="l"/>
            <a:r>
              <a:rPr sz="1300" b="0" i="0">
                <a:solidFill>
                  <a:srgbClr val="475569"/>
                </a:solidFill>
                <a:latin typeface="Segoe UI"/>
              </a:rPr>
              <a:t>Nuevas bases con su ficha PDF: basta con reindexar.</a:t>
            </a:r>
          </a:p>
        </p:txBody>
      </p:sp>
      <p:sp>
        <p:nvSpPr>
          <p:cNvPr id="24" name="Rounded Rectangle 23"/>
          <p:cNvSpPr/>
          <p:nvPr/>
        </p:nvSpPr>
        <p:spPr>
          <a:xfrm>
            <a:off x="7351775" y="1783080"/>
            <a:ext cx="2084831" cy="29260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7580375" y="20116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4</a:t>
            </a:r>
          </a:p>
        </p:txBody>
      </p:sp>
      <p:sp>
        <p:nvSpPr>
          <p:cNvPr id="26" name="Rounded Rectangle 25"/>
          <p:cNvSpPr/>
          <p:nvPr/>
        </p:nvSpPr>
        <p:spPr>
          <a:xfrm>
            <a:off x="8723376" y="1984248"/>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pagina.png"/>
          <p:cNvPicPr>
            <a:picLocks noChangeAspect="1"/>
          </p:cNvPicPr>
          <p:nvPr/>
        </p:nvPicPr>
        <p:blipFill>
          <a:blip r:embed="rId6"/>
          <a:stretch>
            <a:fillRect/>
          </a:stretch>
        </p:blipFill>
        <p:spPr>
          <a:xfrm>
            <a:off x="8823959" y="2084831"/>
            <a:ext cx="301752" cy="301752"/>
          </a:xfrm>
          <a:prstGeom prst="rect">
            <a:avLst/>
          </a:prstGeom>
        </p:spPr>
      </p:pic>
      <p:sp>
        <p:nvSpPr>
          <p:cNvPr id="28" name="TextBox 27"/>
          <p:cNvSpPr txBox="1"/>
          <p:nvPr/>
        </p:nvSpPr>
        <p:spPr>
          <a:xfrm>
            <a:off x="7580375" y="2743200"/>
            <a:ext cx="1737360" cy="457200"/>
          </a:xfrm>
          <a:prstGeom prst="rect">
            <a:avLst/>
          </a:prstGeom>
          <a:noFill/>
        </p:spPr>
        <p:txBody>
          <a:bodyPr wrap="square" lIns="0" rIns="0" tIns="0" bIns="0" anchor="t">
            <a:spAutoFit/>
          </a:bodyPr>
          <a:lstStyle/>
          <a:p>
            <a:pPr algn="l"/>
            <a:r>
              <a:rPr sz="1600" b="0" i="0">
                <a:solidFill>
                  <a:srgbClr val="0B1F3A"/>
                </a:solidFill>
                <a:latin typeface="Segoe UI Semibold"/>
              </a:rPr>
              <a:t>Más datos RAG</a:t>
            </a:r>
          </a:p>
        </p:txBody>
      </p:sp>
      <p:sp>
        <p:nvSpPr>
          <p:cNvPr id="29" name="TextBox 28"/>
          <p:cNvSpPr txBox="1"/>
          <p:nvPr/>
        </p:nvSpPr>
        <p:spPr>
          <a:xfrm>
            <a:off x="7580375" y="3200400"/>
            <a:ext cx="1691640" cy="2103120"/>
          </a:xfrm>
          <a:prstGeom prst="rect">
            <a:avLst/>
          </a:prstGeom>
          <a:noFill/>
        </p:spPr>
        <p:txBody>
          <a:bodyPr wrap="square" lIns="0" rIns="0" tIns="0" bIns="0" anchor="t">
            <a:spAutoFit/>
          </a:bodyPr>
          <a:lstStyle/>
          <a:p>
            <a:pPr algn="l"/>
            <a:r>
              <a:rPr sz="1300" b="0" i="0">
                <a:solidFill>
                  <a:srgbClr val="475569"/>
                </a:solidFill>
                <a:latin typeface="Segoe UI"/>
              </a:rPr>
              <a:t>Llevar las 267 conversaciones originales al formato RAG.</a:t>
            </a:r>
          </a:p>
        </p:txBody>
      </p:sp>
      <p:sp>
        <p:nvSpPr>
          <p:cNvPr id="30" name="Rounded Rectangle 29"/>
          <p:cNvSpPr/>
          <p:nvPr/>
        </p:nvSpPr>
        <p:spPr>
          <a:xfrm>
            <a:off x="9619488" y="1783080"/>
            <a:ext cx="2084831" cy="2926080"/>
          </a:xfrm>
          <a:prstGeom prst="roundRect">
            <a:avLst>
              <a:gd name="adj" fmla="val 6000"/>
            </a:avLst>
          </a:prstGeom>
          <a:solidFill>
            <a:srgbClr val="F4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9848088" y="2011680"/>
            <a:ext cx="457200" cy="4572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5</a:t>
            </a:r>
          </a:p>
        </p:txBody>
      </p:sp>
      <p:sp>
        <p:nvSpPr>
          <p:cNvPr id="32" name="Rounded Rectangle 31"/>
          <p:cNvSpPr/>
          <p:nvPr/>
        </p:nvSpPr>
        <p:spPr>
          <a:xfrm>
            <a:off x="10991088" y="1984248"/>
            <a:ext cx="502920" cy="502920"/>
          </a:xfrm>
          <a:prstGeom prst="roundRect">
            <a:avLst>
              <a:gd name="adj" fmla="val 22000"/>
            </a:avLst>
          </a:prstGeom>
          <a:solidFill>
            <a:srgbClr val="0E9F8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nube.png"/>
          <p:cNvPicPr>
            <a:picLocks noChangeAspect="1"/>
          </p:cNvPicPr>
          <p:nvPr/>
        </p:nvPicPr>
        <p:blipFill>
          <a:blip r:embed="rId7"/>
          <a:stretch>
            <a:fillRect/>
          </a:stretch>
        </p:blipFill>
        <p:spPr>
          <a:xfrm>
            <a:off x="11091672" y="2084831"/>
            <a:ext cx="301752" cy="301752"/>
          </a:xfrm>
          <a:prstGeom prst="rect">
            <a:avLst/>
          </a:prstGeom>
        </p:spPr>
      </p:pic>
      <p:sp>
        <p:nvSpPr>
          <p:cNvPr id="34" name="TextBox 33"/>
          <p:cNvSpPr txBox="1"/>
          <p:nvPr/>
        </p:nvSpPr>
        <p:spPr>
          <a:xfrm>
            <a:off x="9848088" y="2743200"/>
            <a:ext cx="1737360" cy="457200"/>
          </a:xfrm>
          <a:prstGeom prst="rect">
            <a:avLst/>
          </a:prstGeom>
          <a:noFill/>
        </p:spPr>
        <p:txBody>
          <a:bodyPr wrap="square" lIns="0" rIns="0" tIns="0" bIns="0" anchor="t">
            <a:spAutoFit/>
          </a:bodyPr>
          <a:lstStyle/>
          <a:p>
            <a:pPr algn="l"/>
            <a:r>
              <a:rPr sz="1600" b="0" i="0">
                <a:solidFill>
                  <a:srgbClr val="0B1F3A"/>
                </a:solidFill>
                <a:latin typeface="Segoe UI Semibold"/>
              </a:rPr>
              <a:t>Disponibilidad</a:t>
            </a:r>
          </a:p>
        </p:txBody>
      </p:sp>
      <p:sp>
        <p:nvSpPr>
          <p:cNvPr id="35" name="TextBox 34"/>
          <p:cNvSpPr txBox="1"/>
          <p:nvPr/>
        </p:nvSpPr>
        <p:spPr>
          <a:xfrm>
            <a:off x="9848088" y="3200400"/>
            <a:ext cx="1691640" cy="2103120"/>
          </a:xfrm>
          <a:prstGeom prst="rect">
            <a:avLst/>
          </a:prstGeom>
          <a:noFill/>
        </p:spPr>
        <p:txBody>
          <a:bodyPr wrap="square" lIns="0" rIns="0" tIns="0" bIns="0" anchor="t">
            <a:spAutoFit/>
          </a:bodyPr>
          <a:lstStyle/>
          <a:p>
            <a:pPr algn="l"/>
            <a:r>
              <a:rPr sz="1300" b="0" i="0">
                <a:solidFill>
                  <a:srgbClr val="475569"/>
                </a:solidFill>
                <a:latin typeface="Segoe UI"/>
              </a:rPr>
              <a:t>Servidor con GPU para que el chat esté siempre activo.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fondo_portada.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2103120"/>
            <a:ext cx="6400800" cy="1097280"/>
          </a:xfrm>
          <a:prstGeom prst="rect">
            <a:avLst/>
          </a:prstGeom>
          <a:noFill/>
        </p:spPr>
        <p:txBody>
          <a:bodyPr wrap="square" lIns="0" rIns="0" tIns="0" bIns="0" anchor="t">
            <a:spAutoFit/>
          </a:bodyPr>
          <a:lstStyle/>
          <a:p>
            <a:pPr algn="l"/>
            <a:r>
              <a:rPr sz="6000" b="0" i="0">
                <a:solidFill>
                  <a:srgbClr val="FFFFFF"/>
                </a:solidFill>
                <a:latin typeface="Segoe UI Semibold"/>
              </a:rPr>
              <a:t>Gracias</a:t>
            </a:r>
          </a:p>
        </p:txBody>
      </p:sp>
      <p:sp>
        <p:nvSpPr>
          <p:cNvPr id="4" name="TextBox 3"/>
          <p:cNvSpPr txBox="1"/>
          <p:nvPr/>
        </p:nvSpPr>
        <p:spPr>
          <a:xfrm>
            <a:off x="822960" y="3246120"/>
            <a:ext cx="6035040" cy="1097280"/>
          </a:xfrm>
          <a:prstGeom prst="rect">
            <a:avLst/>
          </a:prstGeom>
          <a:noFill/>
        </p:spPr>
        <p:txBody>
          <a:bodyPr wrap="square" lIns="0" rIns="0" tIns="0" bIns="0" anchor="t">
            <a:spAutoFit/>
          </a:bodyPr>
          <a:lstStyle/>
          <a:p>
            <a:pPr algn="l"/>
            <a:r>
              <a:rPr sz="2000" b="0" i="0">
                <a:solidFill>
                  <a:srgbClr val="CBD5E1"/>
                </a:solidFill>
                <a:latin typeface="Segoe UI"/>
              </a:rPr>
              <a:t>Kalish Manta Analytics: datos para investigar, a una conversación de distancia</a:t>
            </a:r>
          </a:p>
        </p:txBody>
      </p:sp>
      <p:sp>
        <p:nvSpPr>
          <p:cNvPr id="5" name="Rounded Rectangle 4"/>
          <p:cNvSpPr/>
          <p:nvPr/>
        </p:nvSpPr>
        <p:spPr>
          <a:xfrm>
            <a:off x="822960" y="4572000"/>
            <a:ext cx="4206240" cy="914400"/>
          </a:xfrm>
          <a:prstGeom prst="roundRect">
            <a:avLst>
              <a:gd name="adj" fmla="val 18000"/>
            </a:avLst>
          </a:prstGeom>
          <a:solidFill>
            <a:srgbClr val="14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51560" y="4663440"/>
            <a:ext cx="3840480" cy="365760"/>
          </a:xfrm>
          <a:prstGeom prst="rect">
            <a:avLst/>
          </a:prstGeom>
          <a:noFill/>
        </p:spPr>
        <p:txBody>
          <a:bodyPr wrap="square" lIns="0" rIns="0" tIns="0" bIns="0" anchor="t">
            <a:spAutoFit/>
          </a:bodyPr>
          <a:lstStyle/>
          <a:p>
            <a:pPr algn="l"/>
            <a:r>
              <a:rPr sz="2000" b="0" i="0">
                <a:solidFill>
                  <a:srgbClr val="FFFFFF"/>
                </a:solidFill>
                <a:latin typeface="Segoe UI Semibold"/>
              </a:rPr>
              <a:t>Roberto</a:t>
            </a:r>
          </a:p>
        </p:txBody>
      </p:sp>
      <p:sp>
        <p:nvSpPr>
          <p:cNvPr id="7" name="TextBox 6"/>
          <p:cNvSpPr txBox="1"/>
          <p:nvPr/>
        </p:nvSpPr>
        <p:spPr>
          <a:xfrm>
            <a:off x="1051560" y="5047488"/>
            <a:ext cx="3840480" cy="365760"/>
          </a:xfrm>
          <a:prstGeom prst="rect">
            <a:avLst/>
          </a:prstGeom>
          <a:noFill/>
        </p:spPr>
        <p:txBody>
          <a:bodyPr wrap="square" lIns="0" rIns="0" tIns="0" bIns="0" anchor="t">
            <a:spAutoFit/>
          </a:bodyPr>
          <a:lstStyle/>
          <a:p>
            <a:pPr algn="l"/>
            <a:r>
              <a:rPr sz="1300" b="0" i="1">
                <a:solidFill>
                  <a:srgbClr val="CBD5E1"/>
                </a:solidFill>
                <a:latin typeface="Segoe UI"/>
              </a:rPr>
              <a:t>Agregar correo o LinkedIn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